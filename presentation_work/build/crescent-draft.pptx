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b0dcffbb25d44ea" /><Relationship Type="http://schemas.openxmlformats.org/officeDocument/2006/relationships/extended-properties" Target="/docProps/app.xml" Id="Rad1f2c6f5782450b" /><Relationship Type="http://schemas.openxmlformats.org/officeDocument/2006/relationships/officeDocument" Target="/ppt/presentation.xml" Id="Rba4bd97e1c744cc9" /></Relationships>
</file>

<file path=ppt/presentation.xml><?xml version="1.0" encoding="utf-8"?>
<p:presentation xmlns:p="http://schemas.openxmlformats.org/presentationml/2006/main">
  <p:sldMasterIdLst>
    <p:sldMasterId xmlns:r="http://schemas.openxmlformats.org/officeDocument/2006/relationships" id="2147483648" r:id="Rfe3ad08bd50946b4"/>
  </p:sldMasterIdLst>
  <p:notesMasterIdLst>
    <p:notesMasterId xmlns:r="http://schemas.openxmlformats.org/officeDocument/2006/relationships" r:id="Re4a564ad4d644ce6"/>
  </p:notesMasterIdLst>
  <p:sldIdLst>
    <p:sldId xmlns:r="http://schemas.openxmlformats.org/officeDocument/2006/relationships" id="256" r:id="R4e2acd82f3cf401d"/>
    <p:sldId xmlns:r="http://schemas.openxmlformats.org/officeDocument/2006/relationships" id="257" r:id="R1cf423983ada4b3e"/>
    <p:sldId xmlns:r="http://schemas.openxmlformats.org/officeDocument/2006/relationships" id="258" r:id="Rffe2b23f71004972"/>
    <p:sldId xmlns:r="http://schemas.openxmlformats.org/officeDocument/2006/relationships" id="259" r:id="R1e65435a10b64e86"/>
    <p:sldId xmlns:r="http://schemas.openxmlformats.org/officeDocument/2006/relationships" id="260" r:id="R64f53d4e2c1a466a"/>
    <p:sldId xmlns:r="http://schemas.openxmlformats.org/officeDocument/2006/relationships" id="261" r:id="R7fcf60e68aab4613"/>
    <p:sldId xmlns:r="http://schemas.openxmlformats.org/officeDocument/2006/relationships" id="262" r:id="R76b711b2459c4b1d"/>
    <p:sldId xmlns:r="http://schemas.openxmlformats.org/officeDocument/2006/relationships" id="263" r:id="Rd6035927042346de"/>
    <p:sldId xmlns:r="http://schemas.openxmlformats.org/officeDocument/2006/relationships" id="264" r:id="Rba92b9b5dd174647"/>
    <p:sldId xmlns:r="http://schemas.openxmlformats.org/officeDocument/2006/relationships" id="265" r:id="R9dec27305b6b4e0c"/>
    <p:sldId xmlns:r="http://schemas.openxmlformats.org/officeDocument/2006/relationships" id="266" r:id="R910639d1f90d4abe"/>
    <p:sldId xmlns:r="http://schemas.openxmlformats.org/officeDocument/2006/relationships" id="267" r:id="R822847172ddf4d1d"/>
    <p:sldId xmlns:r="http://schemas.openxmlformats.org/officeDocument/2006/relationships" id="268" r:id="Rccd43e722ee04738"/>
    <p:sldId xmlns:r="http://schemas.openxmlformats.org/officeDocument/2006/relationships" id="269" r:id="R8396485b95c846c0"/>
    <p:sldId xmlns:r="http://schemas.openxmlformats.org/officeDocument/2006/relationships" id="270" r:id="R29a3d71204a1473e"/>
    <p:sldId xmlns:r="http://schemas.openxmlformats.org/officeDocument/2006/relationships" id="271" r:id="Re89ee9a970e94d4b"/>
    <p:sldId xmlns:r="http://schemas.openxmlformats.org/officeDocument/2006/relationships" id="272" r:id="R330761ecd4864f8f"/>
    <p:sldId xmlns:r="http://schemas.openxmlformats.org/officeDocument/2006/relationships" id="273" r:id="R3124e4eb0d4a435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1c0e9dd09f94305" /><Relationship Type="http://schemas.openxmlformats.org/officeDocument/2006/relationships/slideMaster" Target="/ppt/slideMasters/slideMaster1.xml" Id="Rfe3ad08bd50946b4" /><Relationship Type="http://schemas.openxmlformats.org/officeDocument/2006/relationships/notesMaster" Target="/ppt/notesMasters/notesMaster1.xml" Id="Re4a564ad4d644ce6" /><Relationship Type="http://schemas.openxmlformats.org/officeDocument/2006/relationships/presProps" Target="/ppt/presProps.xml" Id="Rd6d28eac44cd4c0f" /><Relationship Type="http://schemas.openxmlformats.org/officeDocument/2006/relationships/tableStyles" Target="/ppt/tableStyles.xml" Id="R64dd8c70c2ad449b" /><Relationship Type="http://schemas.openxmlformats.org/officeDocument/2006/relationships/slide" Target="/ppt/slides/slide1.xml" Id="R4e2acd82f3cf401d" /><Relationship Type="http://schemas.openxmlformats.org/officeDocument/2006/relationships/slide" Target="/ppt/slides/slide2.xml" Id="R1cf423983ada4b3e" /><Relationship Type="http://schemas.openxmlformats.org/officeDocument/2006/relationships/slide" Target="/ppt/slides/slide3.xml" Id="Rffe2b23f71004972" /><Relationship Type="http://schemas.openxmlformats.org/officeDocument/2006/relationships/slide" Target="/ppt/slides/slide4.xml" Id="R1e65435a10b64e86" /><Relationship Type="http://schemas.openxmlformats.org/officeDocument/2006/relationships/slide" Target="/ppt/slides/slide5.xml" Id="R64f53d4e2c1a466a" /><Relationship Type="http://schemas.openxmlformats.org/officeDocument/2006/relationships/slide" Target="/ppt/slides/slide6.xml" Id="R7fcf60e68aab4613" /><Relationship Type="http://schemas.openxmlformats.org/officeDocument/2006/relationships/slide" Target="/ppt/slides/slide7.xml" Id="R76b711b2459c4b1d" /><Relationship Type="http://schemas.openxmlformats.org/officeDocument/2006/relationships/slide" Target="/ppt/slides/slide8.xml" Id="Rd6035927042346de" /><Relationship Type="http://schemas.openxmlformats.org/officeDocument/2006/relationships/slide" Target="/ppt/slides/slide9.xml" Id="Rba92b9b5dd174647" /><Relationship Type="http://schemas.openxmlformats.org/officeDocument/2006/relationships/slide" Target="/ppt/slides/slide10.xml" Id="R9dec27305b6b4e0c" /><Relationship Type="http://schemas.openxmlformats.org/officeDocument/2006/relationships/slide" Target="/ppt/slides/slide11.xml" Id="R910639d1f90d4abe" /><Relationship Type="http://schemas.openxmlformats.org/officeDocument/2006/relationships/slide" Target="/ppt/slides/slide12.xml" Id="R822847172ddf4d1d" /><Relationship Type="http://schemas.openxmlformats.org/officeDocument/2006/relationships/slide" Target="/ppt/slides/slide13.xml" Id="Rccd43e722ee04738" /><Relationship Type="http://schemas.openxmlformats.org/officeDocument/2006/relationships/slide" Target="/ppt/slides/slide14.xml" Id="R8396485b95c846c0" /><Relationship Type="http://schemas.openxmlformats.org/officeDocument/2006/relationships/slide" Target="/ppt/slides/slide15.xml" Id="R29a3d71204a1473e" /><Relationship Type="http://schemas.openxmlformats.org/officeDocument/2006/relationships/slide" Target="/ppt/slides/slide16.xml" Id="Re89ee9a970e94d4b" /><Relationship Type="http://schemas.openxmlformats.org/officeDocument/2006/relationships/slide" Target="/ppt/slides/slide17.xml" Id="R330761ecd4864f8f" /><Relationship Type="http://schemas.openxmlformats.org/officeDocument/2006/relationships/slide" Target="/ppt/slides/slide18.xml" Id="R3124e4eb0d4a43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3b1bd5bd4c4b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2ce262b23b4613" /><Relationship Type="http://schemas.openxmlformats.org/officeDocument/2006/relationships/notesMaster" Target="/ppt/notesMasters/notesMaster1.xml" Id="Ra21d56bd12f84b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b736dc89604765" /><Relationship Type="http://schemas.openxmlformats.org/officeDocument/2006/relationships/notesMaster" Target="/ppt/notesMasters/notesMaster1.xml" Id="R82c824264962439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28f3b3f1614971" /><Relationship Type="http://schemas.openxmlformats.org/officeDocument/2006/relationships/notesMaster" Target="/ppt/notesMasters/notesMaster1.xml" Id="R8395b14bc4914f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549009a5e34cd7" /><Relationship Type="http://schemas.openxmlformats.org/officeDocument/2006/relationships/notesMaster" Target="/ppt/notesMasters/notesMaster1.xml" Id="R71bd7dc434c7400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4c1a9fda454bf4" /><Relationship Type="http://schemas.openxmlformats.org/officeDocument/2006/relationships/notesMaster" Target="/ppt/notesMasters/notesMaster1.xml" Id="R4094637a47474f3c" /></Relationships>
</file>

<file path=ppt/notesSlides/_rels/notesSlide6.xml.rels>&#65279;<?xml version="1.0" encoding="utf-8"?><Relationships xmlns="http://schemas.openxmlformats.org/package/2006/relationships"><Relationship Type="http://schemas.openxmlformats.org/officeDocument/2006/relationships/slide" Target="/ppt/slides/slide6.xml" Id="R62aff359ff3349f0" /><Relationship Type="http://schemas.openxmlformats.org/officeDocument/2006/relationships/notesMaster" Target="/ppt/notesMasters/notesMaster1.xml" Id="Rb9d4e2714fda4c10"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48044bb3bf4738" /><Relationship Type="http://schemas.openxmlformats.org/officeDocument/2006/relationships/notesMaster" Target="/ppt/notesMasters/notesMaster1.xml" Id="Rf50bdfd6c39b47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fa5f77ee81458a" /><Relationship Type="http://schemas.openxmlformats.org/officeDocument/2006/relationships/notesMaster" Target="/ppt/notesMasters/notesMaster1.xml" Id="R0db031bf0bb44d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c943397c06f6469c" /><Relationship Type="http://schemas.openxmlformats.org/officeDocument/2006/relationships/notesMaster" Target="/ppt/notesMasters/notesMaster1.xml" Id="R74df66f060504e0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d0e363947fa41a6" /><Relationship Type="http://schemas.openxmlformats.org/officeDocument/2006/relationships/notesMaster" Target="/ppt/notesMasters/notesMaster1.xml" Id="R62d15081ca8a49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ee428538cc24817" /><Relationship Type="http://schemas.openxmlformats.org/officeDocument/2006/relationships/notesMaster" Target="/ppt/notesMasters/notesMaster1.xml" Id="Re61944fa3286455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ce692e1cb234c54" /><Relationship Type="http://schemas.openxmlformats.org/officeDocument/2006/relationships/notesMaster" Target="/ppt/notesMasters/notesMaster1.xml" Id="R9a414230c98d4dd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cbaaa6b3db4692" /><Relationship Type="http://schemas.openxmlformats.org/officeDocument/2006/relationships/notesMaster" Target="/ppt/notesMasters/notesMaster1.xml" Id="Re7a51c362d35480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a7f4fa8b93549d2" /><Relationship Type="http://schemas.openxmlformats.org/officeDocument/2006/relationships/notesMaster" Target="/ppt/notesMasters/notesMaster1.xml" Id="Rc2256575b68a425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85587cfd3e54522" /><Relationship Type="http://schemas.openxmlformats.org/officeDocument/2006/relationships/notesMaster" Target="/ppt/notesMasters/notesMaster1.xml" Id="R25bdb600d12c40a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ebf48c33f75401a" /><Relationship Type="http://schemas.openxmlformats.org/officeDocument/2006/relationships/notesMaster" Target="/ppt/notesMasters/notesMaster1.xml" Id="R92800c381a254fc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3d8ef832fbd450c" /><Relationship Type="http://schemas.openxmlformats.org/officeDocument/2006/relationships/notesMaster" Target="/ppt/notesMasters/notesMaster1.xml" Id="R596557bf3b4143b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1b08af4c7134a6f" /><Relationship Type="http://schemas.openxmlformats.org/officeDocument/2006/relationships/notesMaster" Target="/ppt/notesMasters/notesMaster1.xml" Id="R374d11ce5b7946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25 saniyə. Salam. Biz Ali Nuri və Zülfüqar Həsənov şəhər mühitində səs-küyün ölçülməsi və zaman üzrə təhlili layihəsini təqdim edirik. Hazırkı işimiz bir nöqtədə işləyən real prototipə əsaslanır. Məqsəd gündüz, axşam və gecə səs-küyün nə qədər dəyişdiyini etibarlı məlumatla göstərməkdir. Xəritə üzərində çoxsaylı stansiyaların birləşdirilməsi layihənin növbəti inkişaf mərhələsidir. Mənbə: istifadəçinin təqdim etdiyi ilkin PPTX və BSPRJ layihə qeydləri (memory.md, progress.md). Foto və məktəb loqosu ilkin təqdimatdan götürülüb.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30 saniyə. Səs-küy gün ərzində dəyişir. Qısa bir ölçmə həmin məkanın bütün günü üçün nəticə vermir. Buna görə sistem ardıcıl ölçmələr toplamalı, onları günün hissələrinə ayırmalı və məlumatın nə qədər tam olduğunu göstərməlidir. Bu işdə Bakı şəhərində bir pilot müşahidə nöqtəsini araşdırırıq. Bütün şəhər üzrə nəticə çıxarmırıq və şəhərdə əvvəlki monitorinqin olmadığını iddia etmirik. Mənbə: istifadəçinin təqdim etdiyi ilkin PPTX və BSPRJ layihə qeydləri (memory.md, progress.md). Şəhər fotosu ilkin PPTX-dən götürülüb.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Cihazın faydası səsin bir anlıq səviyyəsini göstərməkdən daha genişdir. Məktəb və ya yaşayış ərazisi yanında günün hansı hissəsində və hansı müddətdə daha çox səs-küy olduğunu görmək mümkündür. Bu məlumat təkrar ölçmənin vaxtını seçməyə kömək edir. Sonrakı mərhələdə məsələn, yol hərəkətində və ya səs maneəsində dəyişiklikdən əvvəl və sonra eyni qaydada müşahidə aparmaq olar. Bunlar tətbiq ssenariləridir. Məktəbdə və müdaxilədən sonra faktiki sınaq hələ keçirilməyib. Mənbə: layihənin məqsədi və istifadəçinin təsdiqlədiyi gələcək tətbiq planı.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Mikrofonun xam siqnalına A-vəznləmə və qəbul edilmiş kalibrasiya ofseti tətbiq olunur. Sistem etibarlı nümunələr üzrə enerjini toplayır və on dəqiqəlik Leq hesablayır. DAY, EVE və NGT üçün nəticələr etibarlı ölçmə müddəti ilə çəkilən enerji ortasıdır. dB qiymətlərinin sadə ədədi ortası istifadə olunmur. Orta səviyyə ilə yanaşı, ən çox müşahidə olunan sinif və məlumat əhatəsi göstərilir. Mənbə: BSPRJ DB_CALIBRATION.md, DATA_DICTIONARY_RU.md və Google Sheets hesablamaları.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Bu, layihənin real yığılma fotosudur. Əsas ESP32 INMP441 rəqəmsal mikrofonunun I2S siqnalını oxuyur və səs statistikalarını hesablayır. OLED cari məlumatı göstərir. Ayrı ESP32-C3 nəzarətçisi INA3221 vasitəsilə enerji məlumatını izləyir və GPS koordinatını idarə edir. Kontrollerlər UART ilə məlumat mübadiləsi aparır. Quruluş hələ sınaq yığılmasıdır. Son montaj və ortaq enerji xəttinin uzunmüddətli yoxlanması qalır. Mənbə: istifadəçinin təqdim etdiyi ilkin PPTX və BSPRJ layihə qeydləri (memory.md, progress.md). Real yığılma fotosu: ilkin PPTX, image6.png. Əsas modulun modeli layihənin UART sxemində ESP32-WROOM-32U kimi göstərilir. C3 modeli HARDWARE.md ilə təsdiqlənir.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30 saniyə. Bu sxem bizim elektrik sxemləri qovluğundan götürülüb. ESP32-WROOM-32U və ESP32-C3 SuperMini arasında UART 3,3 V siqnalları və ümumi GND var. MAIN GPIO17 C3 GPIO20-yə, C3 GPIO21 isə MAIN GPIO16-ya qoşulur. Sxemdə hər siqnal xəttində 2,2 kΩ rezistor göstərilir. Hazırkı sistemdə ayrıca oyanma xətti də var: BS GPIO23 open-drain, C3 GPIO5 və 10 kΩ pull-up. Bu slayddakı tarixi sxem yalnız UART hissəsini göstərir. Mənbə: D:/ALLINNPRGDRV/PRJ/AI/electrical circuits/CONTROLLER_UART_TECHNICAL_V2.png; D:/DEV/INA3221-C3/HARDWARE.md. Sxem şərti elektrik təsviridir, yeni montaj göstərişi deyil.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İkinci sxem real enerji modullarının layihə netlistinə əsaslanır. Panelin enerjisi GPIO3 ilə idarə olunan açardan və INA3221-in Solar kanalından keçir. SS56 əks cərəyan yolunu məhdudlaşdıran hissədir. Battery və Load ayrıca kanallarda ölçülür. Batareya 12 V AGM kimi göstərilir, yük yolunda 12 V-dan 7 V-a DC-DC və MB102 modulu var. Elektrik sxeminin üzərində dəyişiklik aparılmayıb, yalnız təqdimat nüsxəsində bəzi rusca yazılar azərbaycancaya çevrilib. Mənbə: electrical circuits/INA3221_ACTUAL_WIRING_RESTORED.svg; D:/DEV/INA3221-C3/INA3221_ACTUAL_WIRING.net; HARDWARE.md. Quruluş ümumi avtonom sistemin yekun qəbulunu əvəz etmir.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Səs qiymətləndirməsini FNIRSI FDM01 ilə müqayisə etmişik. Bunun üçün A-vəznləmə və SLOW rejimində foto cütləri istifadə olunub. FNB58 isə enerji yolunda gərginlik, cərəyan və gücün müşahidəsi üçün istifadə olunan USB testerdir. Müxtəlif qoşulma nöqtələri nəticəyə təsir edə bildiyinə görə FNB58-i INA3221-in tam kalibrasiyası kimi təqdim etmirik. Tam gecə-gündüz müqayisə jurnalı ayrıca optional yoxlamadır. Günəş nəzarətçisi INA3221 göstəricilərindən istifadə edir, əsas səs kontrolleri isə fasiləsiz I2S ölçməsini davam etdirir. Mənbə: BSPRJ DB_CALIBRATION.md; D:/DEV/INA3221-C3/HARDWARE.md, FNB58 Load Test Wiring; həmin layihənin memory.md, FNB58 müqayisəsinin açıq sərhədləri.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Kalibrasiya ayrıca istinad ölçməsi ilə yoxlanıb. Əlli foto cütündən qırx beş sabit cüt üçün orta mütləq xəta 1,13 dB, sistematik fərq isə mənfi 0,06 dB olub. Ölçmələrin 84,4 faizi istinaddan iki dB daxilindədir. Bu nəticə yalnız 53,2–65,9 dB(A) yoxlanmış diapazonuna aiddir. Bu göstəriciləri sertifikatlaşdırılmış ölçmə dəqiqliyi kimi təqdim etmirik. Daha aşağı və yüksək səviyyələr əlavə yoxlama tələb edir. Modelin ofseti 114,2 dB-dir və qəbul edilmiş mikrofon konstruksiyası dəyişdirilmir. Mənbə: BSPRJ memory.md, 2026-09-13 qeydi; progress.md, Real dB calibration bölməsi.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Bu qrafik ilkin təqdimata daxil edilmiş Summary ekranından köçürülmüş üç dövrü göstərir. Altı oktyabrda gündüz 61,5, axşam 59,2, gecə 53,6 dB(A) olub. Əhatə uyğun olaraq 99,8, 99,7 və 99,7 faizdir. Gündüz və axşam üçün tipik sinif NORMAL, gecə üçün SILENT-dir. Bu nöqtədə həmin gün gündüzlə gecə arasında 7,9 dB fərq görünür. Bu bir günlük müşahidədir, bütün Bakı üçün nəticə deyil. Mənbə: ilkin PPTX, image22.jpg; summary_conclusions ekranı, 06-10-2026 sətirləri. Qrafik göstərilən yuvarlaq rəqəmlərdən yaradılıb. Lokal xam məlumatla müstəqil yenidən hesablama aparılmayıb.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Yuxarıda ilkin təqdimatdakı real Summary ekranıdır. Orta dB(A) ilə birlikdə tipik səviyyə, onun payı və məlumat əhatəsi görünür. PARTIAL tam müşahidə olunmamış dövrü ayırır. Aşağıdakı rəqəmlər ayrıca T11 sınağına aiddir: 312 pəncərənin hamısında dB(A), 99–100 faiz etibarlı audio və sıfır klip. T11 lokal CSV və Sheets qiymətlərinin uyğunluğunu təsdiqləyir. Bunu fasiləsiz avtonom iş sübutu kimi təqdim etmirik. Mənbə: ilkin PPTX, image22.jpg; BSPRJ memory.md, T11 qeydi.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30 saniyə. Hazırda sistem saxlanmış GPS koordinatını istifadə edir. GPS daim aktiv izləyici kimi işləmir. Göstərilən xəritə ilkin təqdimatdakı pilot məkan təsviridir, ölçülmüş şəhər səs xəritəsi deyil. Bir nöqtənin nəticəsi vaxt üzrə müqayisə üçün faydalıdır. Şəhər xəritəsi yaratmaq üçün müxtəlif nöqtələrdə eyni qayda ilə kalibrasiya edilmiş stansiyalar, uyğun zaman aralıqları və yetərli məlumat əhatəsi tələb olunur. Mənbə: ilkin PPTX, image24.jpg; BSPRJ GPS arxitekturası üzrə qəbul edilmiş layihə qeydləri.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Bu slayd real quraşdırmanın fotosu deyil, məktəb yanında gələcək yerləşdirmənin süni intellektlə hazırlanmış konseptidir. Kiçik günəş paneli, qorunan korpus və yol tərəfə yönəlmiş mikrofon göstərilir. Bu quruluş məktəb ətrafındakı səsin zaman üzrə müşahidəsini izah edir. Panelin ölçüsü və enerji balansı görüntüdə yalnız konseptualdır. Daimi montaj, hava şəraitindən qorunma və batareya dövrü ayrıca mühəndislik yoxlaması tələb edir. Mənbə: istifadəçinin təsdiqlədiyi yerləşdirmə ideyası; imagegen ilə yaradılmış illüstrasiya. Prompt: məktəb və yol yanında dirəkdə kompakt səs monitoru, üstündə kiçik günəş paneli, realistik qorunan korpus, kamera və mətn yoxdur.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25 saniyə. Vokzal yaxınlığında nəqliyyat və sərnişin hərəkəti gün ərzində dəyişir. Bu konsept həmin ərazidə səs səviyyəsinin zaman üzrə müşahidəsini göstərir. Məqsəd səsli aralıqları görmək və əlavə ölçmənin vaxtını seçməkdir. Sistem bu mərhələdə səs mənbəyini avtomatik tanımır. Vokzalda real quraşdırma və sınaq keçirilməyib. Mənbə: istifadəçinin təklif etdiyi tətbiq ssenarisi; imagegen ilə yaradılmış konsept.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25 saniyə. Xəstəxana ətrafında ölçmə aparmaq yol tərəfdəki səsin gündüz və gecə necə dəyişdiyini göstərmək üçün mümkün tətbiqdir. Nəticələr ərazinin səs mənzərəsini təsvir edir. Bu slayd tibbi nəticə və ya sağlamlığa təsir sınağı təqdim etmir. Xəstəxana yanında real ölçmə hələ aparılmayıb. Mənbə: istifadəçinin təklif etdiyi tətbiq ssenarisi; imagegen ilə yaradılmış konsept.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25 saniyə. Yaşlılar evi yaxınlığında davamlı müşahidə axşam və gecə səviyyələrini ayrıca göstərmək üçün faydalı tətbiq ssenarisidir. Gələcəkdə eyni qayda ilə məsələn, yolun təşkili dəyişməzdən əvvəl və sonra müqayisə aparmaq olar. Bu məkanlarda nəticə hələ toplanmayıb. Şəkil kompakt cihazın gələcək yerləşdirmə ideyasıdır. Mənbə: istifadəçinin təklif etdiyi tətbiq ssenarisi; imagegen ilə yaradılmış konsept.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30 saniyə. Hazırkı nəticə ölçmə zəncirinin işlədiyini göstərir, lakin yekun sistem qəbulunu əvəz etmir. Əvvəl xarici interfeyslərdə dB(A) semantikasını və avtomatik AP bərpasını tamamlayırıq. Sonra ortaq enerji xəttində dolu batareya ilə dəyişikliksiz 12–24 saatlıq gecə sınağı keçiririk. Köhnə sahələr yalnız asılılıqlar və ehtiyat nüsxə yoxlandıqdan sonra təmizlənir. Sonda yeddi günlük səs sınağı və inteqrasiya olunmuş avtonom sistem yoxlanır. Hazırlıq 60 faizdir və ekspert qiymətləndirməsidir. Lokal build 161-in cihazda quraşdırıldığını iddia etmirik. Mənbə: PROJECT_TASKS.md 94, 108, 112, 113; progress.md; istifadəçinin cari təsdiqləri.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20 saniyə. Real prototip kalibrasiya edilmiş dB(A) qiymətləndirməsini zaman üzrə nəticələrə çevirir. Göstərilən pilot gündə gündüz və axşam səviyyələri gecədən yüksəkdir. Məlumatın keyfiyyəti nəticənin ayrılmaz hissəsidir. Növbəti iş enerji davamlılığının və yekun sistemin təsdiqidir. Bundan sonra çoxsaylı ölçmə nöqtələri və xəritələmə istiqamətinə keçmək mümkündür. Diqqətiniz üçün təşəkkür edirik. Suallarınızı cavablandırmağa hazırıq. Mənbə: istifadəçinin təqdim etdiyi ilkin PPTX və BSPRJ layihə qeydləri (memory.md, progress.md). Şəhər fotosu ilkin təqdimatdan götürülüb.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cdabf72c97482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853b437b5244a7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725de9acf1c49f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6cd862e686d4a6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3d9020284e54ec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af295c1ae2f4b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55257D-F611-4F6D-9BF0-6BDD262E284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074339E-D4DF-49F9-868E-62A52273D1C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E84241C-0576-4EA2-859F-3E92C3ABF19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13038B-261B-407F-9478-643B85C958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91E3F40-8926-411B-A2D0-E06B904F078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D1D7525-BAE0-4670-8DCA-8B27E544F4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2D6D362-EFCA-45E6-994D-BAA8FA61976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8BD8484-FBAB-4FFE-A46B-3277AEA9099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8C0DD9-DB9D-4099-B85B-94B0B868C7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7C62215-3811-431F-B4E9-4303D525B6E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a7d229c8af4d25" /><Relationship Type="http://schemas.openxmlformats.org/officeDocument/2006/relationships/slideLayout" Target="/ppt/slideLayouts/slideLayout1.xml" Id="R8b9242cad80d4fe9" /><Relationship Type="http://schemas.openxmlformats.org/officeDocument/2006/relationships/slideLayout" Target="/ppt/slideLayouts/slideLayout2.xml" Id="Rc2b9c4228b5d44fa" /><Relationship Type="http://schemas.openxmlformats.org/officeDocument/2006/relationships/slideLayout" Target="/ppt/slideLayouts/slideLayout3.xml" Id="Ree58c825fa674481" /><Relationship Type="http://schemas.openxmlformats.org/officeDocument/2006/relationships/slideLayout" Target="/ppt/slideLayouts/slideLayout4.xml" Id="Rf4e68fa2679149d9" /><Relationship Type="http://schemas.openxmlformats.org/officeDocument/2006/relationships/slideLayout" Target="/ppt/slideLayouts/slideLayout5.xml" Id="Ra1605e9f7aad48b4" /><Relationship Type="http://schemas.openxmlformats.org/officeDocument/2006/relationships/slideLayout" Target="/ppt/slideLayouts/slideLayout6.xml" Id="R66fa598420a043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9242cad80d4fe9"/>
    <p:sldLayoutId xmlns:r="http://schemas.openxmlformats.org/officeDocument/2006/relationships" id="2147483650" r:id="Rc2b9c4228b5d44fa"/>
    <p:sldLayoutId xmlns:r="http://schemas.openxmlformats.org/officeDocument/2006/relationships" id="2147483651" r:id="Ree58c825fa674481"/>
    <p:sldLayoutId xmlns:r="http://schemas.openxmlformats.org/officeDocument/2006/relationships" id="2147483652" r:id="Rf4e68fa2679149d9"/>
    <p:sldLayoutId xmlns:r="http://schemas.openxmlformats.org/officeDocument/2006/relationships" id="2147483653" r:id="Ra1605e9f7aad48b4"/>
    <p:sldLayoutId xmlns:r="http://schemas.openxmlformats.org/officeDocument/2006/relationships" id="2147483654" r:id="R66fa598420a043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7b3d886696c4060" /><Relationship Type="http://schemas.openxmlformats.org/officeDocument/2006/relationships/image" Target="/ppt/media/image.jpeg" Id="Rc1f3bfba76f943c7" /><Relationship Type="http://schemas.openxmlformats.org/officeDocument/2006/relationships/image" Target="/ppt/media/image.png" Id="R2834e9479bad480d" /><Relationship Type="http://schemas.openxmlformats.org/officeDocument/2006/relationships/notesSlide" Target="/ppt/notesSlides/notesSlide1.xml" Id="R3c1253c4f6c04b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926f2ed0205402b" /><Relationship Type="http://schemas.openxmlformats.org/officeDocument/2006/relationships/image" Target="/ppt/media/image2.jpeg" Id="R468c09464fd44487" /><Relationship Type="http://schemas.openxmlformats.org/officeDocument/2006/relationships/notesSlide" Target="/ppt/notesSlides/notesSlide2.xml" Id="R8c9ae5e8854f40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2c14dc444d04bf7" /><Relationship Type="http://schemas.openxmlformats.org/officeDocument/2006/relationships/notesSlide" Target="/ppt/notesSlides/notesSlide3.xml" Id="R488b421cb5fc41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c20465cabc547eb" /><Relationship Type="http://schemas.openxmlformats.org/officeDocument/2006/relationships/notesSlide" Target="/ppt/notesSlides/notesSlide4.xml" Id="Rc21f67b9e394465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33f36629c694386" /><Relationship Type="http://schemas.openxmlformats.org/officeDocument/2006/relationships/image" Target="/ppt/media/image2.png" Id="R1e7da67162c6463b" /><Relationship Type="http://schemas.openxmlformats.org/officeDocument/2006/relationships/notesSlide" Target="/ppt/notesSlides/notesSlide5.xml" Id="R7f9118d2ba2f4c8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90709fa2089458e" /><Relationship Type="http://schemas.openxmlformats.org/officeDocument/2006/relationships/image" Target="/ppt/media/image3.png" Id="Rcb41c56db4894690" /><Relationship Type="http://schemas.openxmlformats.org/officeDocument/2006/relationships/notesSlide" Target="/ppt/notesSlides/notesSlide6.xml" Id="R6cc7e825e1c94dd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73e1aca25ee4f23" /><Relationship Type="http://schemas.openxmlformats.org/officeDocument/2006/relationships/image" Target="/ppt/media/image4.png" Id="R7e2912ab3b304acb" /><Relationship Type="http://schemas.openxmlformats.org/officeDocument/2006/relationships/notesSlide" Target="/ppt/notesSlides/notesSlide7.xml" Id="R0d31d2fb9fbe41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7daeb97f78f49f3" /><Relationship Type="http://schemas.openxmlformats.org/officeDocument/2006/relationships/notesSlide" Target="/ppt/notesSlides/notesSlide8.xml" Id="Rc5041fafa9ac4c0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9675319d1c245cb" /><Relationship Type="http://schemas.openxmlformats.org/officeDocument/2006/relationships/notesSlide" Target="/ppt/notesSlides/notesSlide9.xml" Id="R57cabe8d93cc4c0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921629b8b3040d6" /><Relationship Type="http://schemas.openxmlformats.org/officeDocument/2006/relationships/chart" Target="/ppt/slides/charts/chart1.xml" Id="R00129f1ae9c247a0" /><Relationship Type="http://schemas.openxmlformats.org/officeDocument/2006/relationships/notesSlide" Target="/ppt/notesSlides/notesSlide10.xml" Id="R68247d49a6cd42e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802cf9f5b1d453b" /><Relationship Type="http://schemas.openxmlformats.org/officeDocument/2006/relationships/image" Target="/ppt/media/image5.png" Id="R967a1f5942e54cd9" /><Relationship Type="http://schemas.openxmlformats.org/officeDocument/2006/relationships/notesSlide" Target="/ppt/notesSlides/notesSlide11.xml" Id="Rd738d7e124cb438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baaddcc8f3141a2" /><Relationship Type="http://schemas.openxmlformats.org/officeDocument/2006/relationships/image" Target="/ppt/media/image3.jpeg" Id="R005aa4f029d9469f" /><Relationship Type="http://schemas.openxmlformats.org/officeDocument/2006/relationships/notesSlide" Target="/ppt/notesSlides/notesSlide12.xml" Id="R9b1f67c304e5460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805aa8a01ed4686" /><Relationship Type="http://schemas.openxmlformats.org/officeDocument/2006/relationships/image" Target="/ppt/media/image6.png" Id="R05b1b7dc1ca74743" /><Relationship Type="http://schemas.openxmlformats.org/officeDocument/2006/relationships/notesSlide" Target="/ppt/notesSlides/notesSlide13.xml" Id="R30c46d0f5a594ad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1b423bf56444ac1" /><Relationship Type="http://schemas.openxmlformats.org/officeDocument/2006/relationships/image" Target="/ppt/media/image7.png" Id="R4c1e936fe121486c" /><Relationship Type="http://schemas.openxmlformats.org/officeDocument/2006/relationships/notesSlide" Target="/ppt/notesSlides/notesSlide14.xml" Id="R8d60483854cb409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e4e6e26501c44cf" /><Relationship Type="http://schemas.openxmlformats.org/officeDocument/2006/relationships/image" Target="/ppt/media/image8.png" Id="R24bc06cf66f74e61" /><Relationship Type="http://schemas.openxmlformats.org/officeDocument/2006/relationships/notesSlide" Target="/ppt/notesSlides/notesSlide15.xml" Id="Rb6c0ab4547dd4f1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13ffadd4e7846f8" /><Relationship Type="http://schemas.openxmlformats.org/officeDocument/2006/relationships/image" Target="/ppt/media/image9.png" Id="R5519e00a831b4ead" /><Relationship Type="http://schemas.openxmlformats.org/officeDocument/2006/relationships/notesSlide" Target="/ppt/notesSlides/notesSlide16.xml" Id="R7860935c42484fc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ea6dd0317eb4a41" /><Relationship Type="http://schemas.openxmlformats.org/officeDocument/2006/relationships/notesSlide" Target="/ppt/notesSlides/notesSlide17.xml" Id="R401584b94a6f49e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4ddf9eafc9c43e6" /><Relationship Type="http://schemas.openxmlformats.org/officeDocument/2006/relationships/notesSlide" Target="/ppt/notesSlides/notesSlide18.xml" Id="Rb52383c6dad64235" /></Relationships>
</file>

<file path=ppt/slides/charts/chart1.xml><?xml version="1.0" encoding="utf-8"?>
<c:chartSpace xmlns:c="http://schemas.openxmlformats.org/drawingml/2006/chart">
  <c:lang val="en-US"/>
  <c:chart>
    <c:plotArea>
      <c:barChart>
        <c:barDir val="col"/>
        <c:grouping val="clustered"/>
        <c:varyColors val="0"/>
        <c:ser>
          <c:idx val="0"/>
          <c:order val="0"/>
          <c:tx>
            <c:v>Leq, dB(A)</c:v>
          </c:tx>
          <c:spPr>
            <a:solidFill xmlns:a="http://schemas.openxmlformats.org/drawingml/2006/main">
              <a:srgbClr val="008F95"/>
            </a:solidFill>
          </c:spPr>
          <c:invertIfNegative val="0"/>
          <c:dPt>
            <c:idx val="0"/>
            <c:invertIfNegative val="0"/>
            <c:spPr>
              <a:solidFill xmlns:a="http://schemas.openxmlformats.org/drawingml/2006/main">
                <a:srgbClr val="EE785C"/>
              </a:solidFill>
            </c:spPr>
          </c:dPt>
          <c:dPt>
            <c:idx val="1"/>
            <c:invertIfNegative val="0"/>
            <c:spPr>
              <a:solidFill xmlns:a="http://schemas.openxmlformats.org/drawingml/2006/main">
                <a:srgbClr val="EAB13F"/>
              </a:solidFill>
            </c:spPr>
          </c:dPt>
          <c:dPt>
            <c:idx val="2"/>
            <c:invertIfNegative val="0"/>
            <c:spPr>
              <a:solidFill xmlns:a="http://schemas.openxmlformats.org/drawingml/2006/main">
                <a:srgbClr val="008F95"/>
              </a:solidFill>
            </c:spPr>
          </c:dPt>
          <c:cat>
            <c:strRef>
              <c:f>'Chart Data'!$A$2:$A$4</c:f>
              <c:strCache>
                <c:ptCount val="3"/>
                <c:pt idx="0">
                  <c:v>DAY</c:v>
                </c:pt>
                <c:pt idx="1">
                  <c:v>EVE</c:v>
                </c:pt>
                <c:pt idx="2">
                  <c:v>NGT</c:v>
                </c:pt>
              </c:strCache>
            </c:strRef>
          </c:cat>
          <c:val>
            <c:numRef>
              <c:f>'Chart Data'!$B$2:$B$4</c:f>
              <c:numCache>
                <c:formatCode>0</c:formatCode>
                <c:ptCount val="3"/>
                <c:pt idx="0">
                  <c:v>61.5</c:v>
                </c:pt>
                <c:pt idx="1">
                  <c:v>59.2</c:v>
                </c:pt>
                <c:pt idx="2">
                  <c:v>53.6</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025" b="1">
                  <a:solidFill>
                    <a:srgbClr val="14334A"/>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4334A"/>
                </a:solidFill>
                <a:latin typeface="Arial"/>
                <a:ea typeface="Arial"/>
                <a:cs typeface="Arial"/>
              </a:defRPr>
            </a:pPr>
          </a:p>
        </c:txPr>
        <c:crossAx val="48672768"/>
      </c:catAx>
      <c:valAx>
        <c:axId val="48672768"/>
        <c:scaling>
          <c:orientation val="minMax"/>
          <c:max val="70"/>
          <c:min val="0"/>
        </c:scaling>
        <c:delete val="0"/>
        <c:axPos val="l"/>
        <c:majorGridlines>
          <c:spPr>
            <a:ln xmlns:a="http://schemas.openxmlformats.org/drawingml/2006/main" w="9525">
              <a:solidFill>
                <a:srgbClr val="DCE3DB"/>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dB(A)</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4D6575"/>
                </a:solidFill>
                <a:latin typeface="Arial"/>
                <a:ea typeface="Arial"/>
                <a:cs typeface="Arial"/>
              </a:defRPr>
            </a:pPr>
          </a:p>
        </c:txPr>
        <c:crossAx val="48650112"/>
        <c:crossBetween val="between"/>
        <c:majorUnit val="10"/>
      </c:valAx>
      <c:spPr>
        <a:solidFill xmlns:a="http://schemas.openxmlformats.org/drawingml/2006/main">
          <a:srgbClr val="FFF8EA"/>
        </a:solidFill>
      </c:spPr>
    </c:plotArea>
    <c:plotVisOnly val="1"/>
  </c:chart>
  <c:spPr>
    <a:solidFill xmlns:a="http://schemas.openxmlformats.org/drawingml/2006/main">
      <a:srgbClr val="FFF8EA"/>
    </a:solidFill>
  </c:spPr>
</c:chartSpace>
</file>

<file path=ppt/slides/slide1.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88F5866-E66C-404A-8192-3F342A3DD5D3}"/>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buNone/>
              <a:defRPr sz="1125" b="0">
                <a:solidFill>
                  <a:srgbClr val="BADEE2"/>
                </a:solidFill>
                <a:latin typeface="Arial"/>
                <a:ea typeface="Arial"/>
                <a:cs typeface="Arial"/>
              </a:defRPr>
            </a:pPr>
            <a:r>
              <a:rPr sz="1125" b="0">
                <a:solidFill>
                  <a:srgbClr val="BADEE2"/>
                </a:solidFill>
                <a:latin typeface="Arial"/>
                <a:ea typeface="Arial"/>
                <a:cs typeface="Arial"/>
              </a:rPr>
              <a:t>01 / 18</a:t>
            </a:r>
          </a:p>
        </p:txBody>
      </p:sp>
      <p:pic>
        <p:nvPicPr>
          <p:cNvPr id="2" name="">
            <a:extLst xmlns:a="http://schemas.openxmlformats.org/drawingml/2006/main">
              <a:ext uri="{FF2B5EF4-FFF2-40B4-BE49-F238E27FC236}">
                <a16:creationId xmlns:a16="http://schemas.microsoft.com/office/drawing/2014/main" id="{DBBD90A2-0EE2-441D-BDE5-D54C11508672}"/>
              </a:ext>
            </a:extLst>
          </p:cNvPr>
          <p:cNvPicPr>
            <a:picLocks xmlns:a="http://schemas.openxmlformats.org/drawingml/2006/main" noChangeAspect="1"/>
          </p:cNvPicPr>
          <p:nvPr/>
        </p:nvPicPr>
        <p:blipFill>
          <a:blip xmlns:r="http://schemas.openxmlformats.org/officeDocument/2006/relationships" xmlns:a="http://schemas.openxmlformats.org/drawingml/2006/main" r:embed="Rc1f3bfba76f943c7"/>
          <a:srcRect xmlns:a="http://schemas.openxmlformats.org/drawingml/2006/main" l="27442" t="0" r="27442" b="0"/>
          <a:stretch xmlns:a="http://schemas.openxmlformats.org/drawingml/2006/main">
            <a:fillRect l="0" t="0" r="0" b="0"/>
          </a:stretch>
        </p:blipFill>
        <p:spPr>
          <a:xfrm xmlns:a="http://schemas.openxmlformats.org/drawingml/2006/main">
            <a:off x="6134100" y="0"/>
            <a:ext cx="60579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95F9E10-2702-457D-8D5B-C494F27F73B6}"/>
              </a:ext>
            </a:extLst>
          </p:cNvPr>
          <p:cNvSpPr>
            <a:spLocks xmlns:a="http://schemas.openxmlformats.org/drawingml/2006/main" noGrp="1"/>
          </p:cNvSpPr>
          <p:nvPr/>
        </p:nvSpPr>
        <p:spPr>
          <a:xfrm xmlns:a="http://schemas.openxmlformats.org/drawingml/2006/main">
            <a:off x="609600" y="5810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FC857"/>
                </a:solidFill>
                <a:latin typeface="Arial"/>
                <a:ea typeface="Arial"/>
                <a:cs typeface="Arial"/>
              </a:defRPr>
            </a:defPPr>
          </a:lstStyle>
          <a:p xmlns:a="http://schemas.openxmlformats.org/drawingml/2006/main">
            <a:pPr>
              <a:buNone/>
              <a:defRPr sz="2250" b="1">
                <a:solidFill>
                  <a:srgbClr val="FFC857"/>
                </a:solidFill>
                <a:latin typeface="Arial"/>
                <a:ea typeface="Arial"/>
                <a:cs typeface="Arial"/>
              </a:defRPr>
            </a:pPr>
            <a:r>
              <a:rPr sz="2250" b="1">
                <a:solidFill>
                  <a:srgbClr val="FFC857"/>
                </a:solidFill>
                <a:latin typeface="Arial"/>
                <a:ea typeface="Arial"/>
                <a:cs typeface="Arial"/>
              </a:rPr>
              <a:t>BSPRJ</a:t>
            </a:r>
          </a:p>
        </p:txBody>
      </p:sp>
      <p:sp>
        <p:nvSpPr>
          <p:cNvPr id="4" name="">
            <a:extLst xmlns:a="http://schemas.openxmlformats.org/drawingml/2006/main">
              <a:ext uri="{FF2B5EF4-FFF2-40B4-BE49-F238E27FC236}">
                <a16:creationId xmlns:a16="http://schemas.microsoft.com/office/drawing/2014/main" id="{561BE54E-3AB2-4A73-994F-44495FF152B6}"/>
              </a:ext>
            </a:extLst>
          </p:cNvPr>
          <p:cNvSpPr>
            <a:spLocks xmlns:a="http://schemas.openxmlformats.org/drawingml/2006/main" noGrp="1"/>
          </p:cNvSpPr>
          <p:nvPr/>
        </p:nvSpPr>
        <p:spPr>
          <a:xfrm xmlns:a="http://schemas.openxmlformats.org/drawingml/2006/main">
            <a:off x="609600" y="1552575"/>
            <a:ext cx="54292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75" b="1">
                <a:solidFill>
                  <a:srgbClr val="FFFFFF"/>
                </a:solidFill>
                <a:latin typeface="Arial"/>
                <a:ea typeface="Arial"/>
                <a:cs typeface="Arial"/>
              </a:defRPr>
            </a:defPPr>
          </a:lstStyle>
          <a:p xmlns:a="http://schemas.openxmlformats.org/drawingml/2006/main">
            <a:pPr>
              <a:buNone/>
              <a:defRPr sz="4275" b="1">
                <a:solidFill>
                  <a:srgbClr val="FFFFFF"/>
                </a:solidFill>
                <a:latin typeface="Arial"/>
                <a:ea typeface="Arial"/>
                <a:cs typeface="Arial"/>
              </a:defRPr>
            </a:pPr>
            <a:r>
              <a:rPr sz="4275" b="1">
                <a:solidFill>
                  <a:srgbClr val="FFFFFF"/>
                </a:solidFill>
                <a:latin typeface="Arial"/>
                <a:ea typeface="Arial"/>
                <a:cs typeface="Arial"/>
              </a:rPr>
              <a:t>Şəhər mühitində</a:t>
            </a:r>
          </a:p>
          <a:p xmlns:a="http://schemas.openxmlformats.org/drawingml/2006/main">
            <a:pPr>
              <a:buNone/>
              <a:defRPr sz="4275" b="1">
                <a:solidFill>
                  <a:srgbClr val="FFFFFF"/>
                </a:solidFill>
                <a:latin typeface="Arial"/>
                <a:ea typeface="Arial"/>
                <a:cs typeface="Arial"/>
              </a:defRPr>
            </a:pPr>
            <a:r>
              <a:rPr sz="4275" b="1">
                <a:solidFill>
                  <a:srgbClr val="FFFFFF"/>
                </a:solidFill>
                <a:latin typeface="Arial"/>
                <a:ea typeface="Arial"/>
                <a:cs typeface="Arial"/>
              </a:rPr>
              <a:t>səs monitorinqi</a:t>
            </a:r>
          </a:p>
        </p:txBody>
      </p:sp>
      <p:sp>
        <p:nvSpPr>
          <p:cNvPr id="5" name="">
            <a:extLst xmlns:a="http://schemas.openxmlformats.org/drawingml/2006/main">
              <a:ext uri="{FF2B5EF4-FFF2-40B4-BE49-F238E27FC236}">
                <a16:creationId xmlns:a16="http://schemas.microsoft.com/office/drawing/2014/main" id="{DA800F98-09DA-4366-BA87-E02441F8FC8D}"/>
              </a:ext>
            </a:extLst>
          </p:cNvPr>
          <p:cNvSpPr>
            <a:spLocks xmlns:a="http://schemas.openxmlformats.org/drawingml/2006/main" noGrp="1"/>
          </p:cNvSpPr>
          <p:nvPr/>
        </p:nvSpPr>
        <p:spPr>
          <a:xfrm xmlns:a="http://schemas.openxmlformats.org/drawingml/2006/main">
            <a:off x="609600" y="3676650"/>
            <a:ext cx="53054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63DED1"/>
                </a:solidFill>
                <a:latin typeface="Arial"/>
                <a:ea typeface="Arial"/>
                <a:cs typeface="Arial"/>
              </a:defRPr>
            </a:defPPr>
          </a:lstStyle>
          <a:p xmlns:a="http://schemas.openxmlformats.org/drawingml/2006/main">
            <a:pPr>
              <a:buNone/>
              <a:defRPr sz="2475" b="0">
                <a:solidFill>
                  <a:srgbClr val="63DED1"/>
                </a:solidFill>
                <a:latin typeface="Arial"/>
                <a:ea typeface="Arial"/>
                <a:cs typeface="Arial"/>
              </a:defRPr>
            </a:pPr>
            <a:r>
              <a:rPr sz="2475" b="0">
                <a:solidFill>
                  <a:srgbClr val="63DED1"/>
                </a:solidFill>
                <a:latin typeface="Arial"/>
                <a:ea typeface="Arial"/>
                <a:cs typeface="Arial"/>
              </a:rPr>
              <a:t>Akustik monitorinq və</a:t>
            </a:r>
          </a:p>
          <a:p xmlns:a="http://schemas.openxmlformats.org/drawingml/2006/main">
            <a:pPr>
              <a:buNone/>
              <a:defRPr sz="2475" b="0">
                <a:solidFill>
                  <a:srgbClr val="63DED1"/>
                </a:solidFill>
                <a:latin typeface="Arial"/>
                <a:ea typeface="Arial"/>
                <a:cs typeface="Arial"/>
              </a:defRPr>
            </a:pPr>
            <a:r>
              <a:rPr sz="2475" b="0">
                <a:solidFill>
                  <a:srgbClr val="63DED1"/>
                </a:solidFill>
                <a:latin typeface="Arial"/>
                <a:ea typeface="Arial"/>
                <a:cs typeface="Arial"/>
              </a:rPr>
              <a:t>zaman üzrə təhlil</a:t>
            </a:r>
          </a:p>
        </p:txBody>
      </p:sp>
      <p:sp>
        <p:nvSpPr>
          <p:cNvPr id="6" name="">
            <a:extLst xmlns:a="http://schemas.openxmlformats.org/drawingml/2006/main">
              <a:ext uri="{FF2B5EF4-FFF2-40B4-BE49-F238E27FC236}">
                <a16:creationId xmlns:a16="http://schemas.microsoft.com/office/drawing/2014/main" id="{9FA325C9-48BE-4A50-AC14-44655FA3894C}"/>
              </a:ext>
            </a:extLst>
          </p:cNvPr>
          <p:cNvSpPr>
            <a:spLocks xmlns:a="http://schemas.openxmlformats.org/drawingml/2006/main" noGrp="1"/>
          </p:cNvSpPr>
          <p:nvPr/>
        </p:nvSpPr>
        <p:spPr>
          <a:xfrm xmlns:a="http://schemas.openxmlformats.org/drawingml/2006/main">
            <a:off x="609600" y="543877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Ali Nuri və Zülfüqar Həsənov</a:t>
            </a:r>
          </a:p>
        </p:txBody>
      </p:sp>
      <p:pic>
        <p:nvPicPr>
          <p:cNvPr id="7" name="">
            <a:extLst xmlns:a="http://schemas.openxmlformats.org/drawingml/2006/main">
              <a:ext uri="{FF2B5EF4-FFF2-40B4-BE49-F238E27FC236}">
                <a16:creationId xmlns:a16="http://schemas.microsoft.com/office/drawing/2014/main" id="{FB64038E-6780-45E1-B553-5D8B1689B5A4}"/>
              </a:ext>
            </a:extLst>
          </p:cNvPr>
          <p:cNvPicPr>
            <a:picLocks xmlns:a="http://schemas.openxmlformats.org/drawingml/2006/main" noChangeAspect="1"/>
          </p:cNvPicPr>
          <p:nvPr/>
        </p:nvPicPr>
        <p:blipFill>
          <a:blip xmlns:r="http://schemas.openxmlformats.org/officeDocument/2006/relationships" xmlns:a="http://schemas.openxmlformats.org/drawingml/2006/main" r:embed="R2834e9479bad480d"/>
          <a:stretch xmlns:a="http://schemas.openxmlformats.org/drawingml/2006/main"/>
        </p:blipFill>
        <p:spPr>
          <a:xfrm xmlns:a="http://schemas.openxmlformats.org/drawingml/2006/main">
            <a:off x="649027" y="5972175"/>
            <a:ext cx="549796" cy="523875"/>
          </a:xfrm>
          <a:prstGeom xmlns:a="http://schemas.openxmlformats.org/drawingml/2006/main" prst="rect">
            <a:avLst/>
          </a:prstGeom>
        </p:spPr>
      </p:pic>
    </p:spTree>
    <p:extLst>
      <p:ext uri="{BB962C8B-B14F-4D97-AF65-F5344CB8AC3E}">
        <p14:creationId xmlns:p14="http://schemas.microsoft.com/office/powerpoint/2010/main" val="1702021502"/>
      </p:ext>
    </p:extLst>
  </p:cSld>
</p:sld>
</file>

<file path=ppt/slides/slide2.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F16530D-3AE4-4222-BF93-99A65533C118}"/>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buNone/>
              <a:defRPr sz="3225" b="1">
                <a:solidFill>
                  <a:srgbClr val="14334A"/>
                </a:solidFill>
                <a:latin typeface="Arial"/>
                <a:ea typeface="Arial"/>
                <a:cs typeface="Arial"/>
              </a:defRPr>
            </a:pPr>
            <a:r>
              <a:rPr sz="3225" b="1">
                <a:solidFill>
                  <a:srgbClr val="14334A"/>
                </a:solidFill>
                <a:latin typeface="Arial"/>
                <a:ea typeface="Arial"/>
                <a:cs typeface="Arial"/>
              </a:rPr>
              <a:t>Bir ölçmə bütün günü təsvir etmir</a:t>
            </a:r>
          </a:p>
        </p:txBody>
      </p:sp>
      <p:sp>
        <p:nvSpPr>
          <p:cNvPr id="2" name="">
            <a:extLst xmlns:a="http://schemas.openxmlformats.org/drawingml/2006/main">
              <a:ext uri="{FF2B5EF4-FFF2-40B4-BE49-F238E27FC236}">
                <a16:creationId xmlns:a16="http://schemas.microsoft.com/office/drawing/2014/main" id="{B8987C51-5919-478C-9846-828D6FB972CA}"/>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buNone/>
              <a:defRPr sz="1125" b="0">
                <a:solidFill>
                  <a:srgbClr val="4D6575"/>
                </a:solidFill>
                <a:latin typeface="Arial"/>
                <a:ea typeface="Arial"/>
                <a:cs typeface="Arial"/>
              </a:defRPr>
            </a:pPr>
            <a:r>
              <a:rPr sz="1125" b="0">
                <a:solidFill>
                  <a:srgbClr val="4D6575"/>
                </a:solidFill>
                <a:latin typeface="Arial"/>
                <a:ea typeface="Arial"/>
                <a:cs typeface="Arial"/>
              </a:rPr>
              <a:t>02 / 18</a:t>
            </a:r>
          </a:p>
        </p:txBody>
      </p:sp>
      <p:pic>
        <p:nvPicPr>
          <p:cNvPr id="3" name="">
            <a:extLst xmlns:a="http://schemas.openxmlformats.org/drawingml/2006/main">
              <a:ext uri="{FF2B5EF4-FFF2-40B4-BE49-F238E27FC236}">
                <a16:creationId xmlns:a16="http://schemas.microsoft.com/office/drawing/2014/main" id="{1E98B308-2B3D-42E4-952A-31D63B89211A}"/>
              </a:ext>
            </a:extLst>
          </p:cNvPr>
          <p:cNvPicPr>
            <a:picLocks xmlns:a="http://schemas.openxmlformats.org/drawingml/2006/main" noChangeAspect="1"/>
          </p:cNvPicPr>
          <p:nvPr/>
        </p:nvPicPr>
        <p:blipFill>
          <a:blip xmlns:r="http://schemas.openxmlformats.org/officeDocument/2006/relationships" xmlns:a="http://schemas.openxmlformats.org/drawingml/2006/main" r:embed="R468c09464fd44487"/>
          <a:srcRect xmlns:a="http://schemas.openxmlformats.org/drawingml/2006/main" l="10076" t="0" r="10076" b="0"/>
          <a:stretch xmlns:a="http://schemas.openxmlformats.org/drawingml/2006/main">
            <a:fillRect l="0" t="0" r="0" b="0"/>
          </a:stretch>
        </p:blipFill>
        <p:spPr>
          <a:xfrm xmlns:a="http://schemas.openxmlformats.org/drawingml/2006/main">
            <a:off x="5857875" y="1524000"/>
            <a:ext cx="5724525" cy="42291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EBAE8EB-C9B4-4330-BD7C-B848E2AA26AD}"/>
              </a:ext>
            </a:extLst>
          </p:cNvPr>
          <p:cNvSpPr>
            <a:spLocks xmlns:a="http://schemas.openxmlformats.org/drawingml/2006/main" noGrp="1"/>
          </p:cNvSpPr>
          <p:nvPr/>
        </p:nvSpPr>
        <p:spPr>
          <a:xfrm xmlns:a="http://schemas.openxmlformats.org/drawingml/2006/main">
            <a:off x="609600" y="1790700"/>
            <a:ext cx="4857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08F95"/>
                </a:solidFill>
                <a:latin typeface="Arial"/>
                <a:ea typeface="Arial"/>
                <a:cs typeface="Arial"/>
              </a:defRPr>
            </a:defPPr>
          </a:lstStyle>
          <a:p xmlns:a="http://schemas.openxmlformats.org/drawingml/2006/main">
            <a:pPr>
              <a:buNone/>
              <a:defRPr sz="3225" b="1">
                <a:solidFill>
                  <a:srgbClr val="008F95"/>
                </a:solidFill>
                <a:latin typeface="Arial"/>
                <a:ea typeface="Arial"/>
                <a:cs typeface="Arial"/>
              </a:defRPr>
            </a:pPr>
            <a:r>
              <a:rPr sz="3225" b="1">
                <a:solidFill>
                  <a:srgbClr val="008F95"/>
                </a:solidFill>
                <a:latin typeface="Arial"/>
                <a:ea typeface="Arial"/>
                <a:cs typeface="Arial"/>
              </a:rPr>
              <a:t>Səs-küy</a:t>
            </a:r>
          </a:p>
          <a:p xmlns:a="http://schemas.openxmlformats.org/drawingml/2006/main">
            <a:pPr>
              <a:buNone/>
              <a:defRPr sz="3225" b="1">
                <a:solidFill>
                  <a:srgbClr val="008F95"/>
                </a:solidFill>
                <a:latin typeface="Arial"/>
                <a:ea typeface="Arial"/>
                <a:cs typeface="Arial"/>
              </a:defRPr>
            </a:pPr>
            <a:r>
              <a:rPr sz="3225" b="1">
                <a:solidFill>
                  <a:srgbClr val="008F95"/>
                </a:solidFill>
                <a:latin typeface="Arial"/>
                <a:ea typeface="Arial"/>
                <a:cs typeface="Arial"/>
              </a:rPr>
              <a:t>zamanla dəyişir</a:t>
            </a:r>
          </a:p>
        </p:txBody>
      </p:sp>
      <p:sp>
        <p:nvSpPr>
          <p:cNvPr id="5" name="">
            <a:extLst xmlns:a="http://schemas.openxmlformats.org/drawingml/2006/main">
              <a:ext uri="{FF2B5EF4-FFF2-40B4-BE49-F238E27FC236}">
                <a16:creationId xmlns:a16="http://schemas.microsoft.com/office/drawing/2014/main" id="{7F3F76E6-57A9-4B3A-AC56-EF668F653628}"/>
              </a:ext>
            </a:extLst>
          </p:cNvPr>
          <p:cNvSpPr>
            <a:spLocks xmlns:a="http://schemas.openxmlformats.org/drawingml/2006/main" noGrp="1"/>
          </p:cNvSpPr>
          <p:nvPr/>
        </p:nvSpPr>
        <p:spPr>
          <a:xfrm xmlns:a="http://schemas.openxmlformats.org/drawingml/2006/main">
            <a:off x="609600" y="3371850"/>
            <a:ext cx="47339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334A"/>
                </a:solidFill>
                <a:latin typeface="Arial"/>
                <a:ea typeface="Arial"/>
                <a:cs typeface="Arial"/>
              </a:defRPr>
            </a:defPPr>
          </a:lstStyle>
          <a:p xmlns:a="http://schemas.openxmlformats.org/drawingml/2006/main">
            <a:pPr>
              <a:buNone/>
              <a:defRPr sz="2100" b="0">
                <a:solidFill>
                  <a:srgbClr val="14334A"/>
                </a:solidFill>
                <a:latin typeface="Arial"/>
                <a:ea typeface="Arial"/>
                <a:cs typeface="Arial"/>
              </a:defRPr>
            </a:pPr>
            <a:r>
              <a:rPr sz="2100" b="0">
                <a:solidFill>
                  <a:srgbClr val="14334A"/>
                </a:solidFill>
                <a:latin typeface="Arial"/>
                <a:ea typeface="Arial"/>
                <a:cs typeface="Arial"/>
              </a:rPr>
              <a:t>Gündüz hərəkət çoxala bilər.</a:t>
            </a:r>
          </a:p>
        </p:txBody>
      </p:sp>
      <p:sp>
        <p:nvSpPr>
          <p:cNvPr id="6" name="">
            <a:extLst xmlns:a="http://schemas.openxmlformats.org/drawingml/2006/main">
              <a:ext uri="{FF2B5EF4-FFF2-40B4-BE49-F238E27FC236}">
                <a16:creationId xmlns:a16="http://schemas.microsoft.com/office/drawing/2014/main" id="{14322313-6244-4DF6-A9AB-2FFF4DFB298B}"/>
              </a:ext>
            </a:extLst>
          </p:cNvPr>
          <p:cNvSpPr>
            <a:spLocks xmlns:a="http://schemas.openxmlformats.org/drawingml/2006/main" noGrp="1"/>
          </p:cNvSpPr>
          <p:nvPr/>
        </p:nvSpPr>
        <p:spPr>
          <a:xfrm xmlns:a="http://schemas.openxmlformats.org/drawingml/2006/main">
            <a:off x="609600" y="4257675"/>
            <a:ext cx="47339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334A"/>
                </a:solidFill>
                <a:latin typeface="Arial"/>
                <a:ea typeface="Arial"/>
                <a:cs typeface="Arial"/>
              </a:defRPr>
            </a:defPPr>
          </a:lstStyle>
          <a:p xmlns:a="http://schemas.openxmlformats.org/drawingml/2006/main">
            <a:pPr>
              <a:buNone/>
              <a:defRPr sz="2100" b="0">
                <a:solidFill>
                  <a:srgbClr val="14334A"/>
                </a:solidFill>
                <a:latin typeface="Arial"/>
                <a:ea typeface="Arial"/>
                <a:cs typeface="Arial"/>
              </a:defRPr>
            </a:pPr>
            <a:r>
              <a:rPr sz="2100" b="0">
                <a:solidFill>
                  <a:srgbClr val="14334A"/>
                </a:solidFill>
                <a:latin typeface="Arial"/>
                <a:ea typeface="Arial"/>
                <a:cs typeface="Arial"/>
              </a:rPr>
              <a:t>Gecə səviyyə azalır və ya dəyişir.</a:t>
            </a:r>
          </a:p>
        </p:txBody>
      </p:sp>
      <p:sp>
        <p:nvSpPr>
          <p:cNvPr id="7" name="">
            <a:extLst xmlns:a="http://schemas.openxmlformats.org/drawingml/2006/main">
              <a:ext uri="{FF2B5EF4-FFF2-40B4-BE49-F238E27FC236}">
                <a16:creationId xmlns:a16="http://schemas.microsoft.com/office/drawing/2014/main" id="{A29258F0-1D0D-4FB0-9756-577257C1C08B}"/>
              </a:ext>
            </a:extLst>
          </p:cNvPr>
          <p:cNvSpPr>
            <a:spLocks xmlns:a="http://schemas.openxmlformats.org/drawingml/2006/main" noGrp="1"/>
          </p:cNvSpPr>
          <p:nvPr/>
        </p:nvSpPr>
        <p:spPr>
          <a:xfrm xmlns:a="http://schemas.openxmlformats.org/drawingml/2006/main">
            <a:off x="609600" y="5143500"/>
            <a:ext cx="47339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334A"/>
                </a:solidFill>
                <a:latin typeface="Arial"/>
                <a:ea typeface="Arial"/>
                <a:cs typeface="Arial"/>
              </a:defRPr>
            </a:defPPr>
          </a:lstStyle>
          <a:p xmlns:a="http://schemas.openxmlformats.org/drawingml/2006/main">
            <a:pPr>
              <a:buNone/>
              <a:defRPr sz="2100" b="0">
                <a:solidFill>
                  <a:srgbClr val="14334A"/>
                </a:solidFill>
                <a:latin typeface="Arial"/>
                <a:ea typeface="Arial"/>
                <a:cs typeface="Arial"/>
              </a:defRPr>
            </a:pPr>
            <a:r>
              <a:rPr sz="2100" b="0">
                <a:solidFill>
                  <a:srgbClr val="14334A"/>
                </a:solidFill>
                <a:latin typeface="Arial"/>
                <a:ea typeface="Arial"/>
                <a:cs typeface="Arial"/>
              </a:rPr>
              <a:t>Nəticə üçün davamlı müşahidə lazımdır.</a:t>
            </a:r>
          </a:p>
        </p:txBody>
      </p:sp>
    </p:spTree>
    <p:extLst>
      <p:ext uri="{BB962C8B-B14F-4D97-AF65-F5344CB8AC3E}">
        <p14:creationId xmlns:p14="http://schemas.microsoft.com/office/powerpoint/2010/main" val="1638754335"/>
      </p:ext>
    </p:extLst>
  </p:cSld>
</p:sld>
</file>

<file path=ppt/slides/slide3.xml><?xml version="1.0" encoding="utf-8"?>
<p:sld xmlns:p="http://schemas.openxmlformats.org/presentationml/2006/main">
  <p:cSld>
    <p:bg>
      <p:bgPr>
        <a:solidFill xmlns:a="http://schemas.openxmlformats.org/drawingml/2006/main">
          <a:srgbClr val="008F9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95FB50D-4478-401E-BEEC-41FF02BBD3BE}"/>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Cihaz hansı qərarlara kömək edə bilər?</a:t>
            </a:r>
          </a:p>
        </p:txBody>
      </p:sp>
      <p:sp>
        <p:nvSpPr>
          <p:cNvPr id="2" name="">
            <a:extLst xmlns:a="http://schemas.openxmlformats.org/drawingml/2006/main">
              <a:ext uri="{FF2B5EF4-FFF2-40B4-BE49-F238E27FC236}">
                <a16:creationId xmlns:a16="http://schemas.microsoft.com/office/drawing/2014/main" id="{0E8BC1FB-E582-433D-8A89-CC2874455398}"/>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buNone/>
              <a:defRPr sz="1125" b="0">
                <a:solidFill>
                  <a:srgbClr val="BADEE2"/>
                </a:solidFill>
                <a:latin typeface="Arial"/>
                <a:ea typeface="Arial"/>
                <a:cs typeface="Arial"/>
              </a:defRPr>
            </a:pPr>
            <a:r>
              <a:rPr sz="1125" b="0">
                <a:solidFill>
                  <a:srgbClr val="BADEE2"/>
                </a:solidFill>
                <a:latin typeface="Arial"/>
                <a:ea typeface="Arial"/>
                <a:cs typeface="Arial"/>
              </a:rPr>
              <a:t>03 / 18</a:t>
            </a:r>
          </a:p>
        </p:txBody>
      </p:sp>
      <p:sp>
        <p:nvSpPr>
          <p:cNvPr id="3" name="">
            <a:extLst xmlns:a="http://schemas.openxmlformats.org/drawingml/2006/main">
              <a:ext uri="{FF2B5EF4-FFF2-40B4-BE49-F238E27FC236}">
                <a16:creationId xmlns:a16="http://schemas.microsoft.com/office/drawing/2014/main" id="{301B560E-38C4-44F9-AD95-6551C74E60BD}"/>
              </a:ext>
            </a:extLst>
          </p:cNvPr>
          <p:cNvSpPr>
            <a:spLocks xmlns:a="http://schemas.openxmlformats.org/drawingml/2006/main" noGrp="1"/>
          </p:cNvSpPr>
          <p:nvPr/>
        </p:nvSpPr>
        <p:spPr>
          <a:xfrm xmlns:a="http://schemas.openxmlformats.org/drawingml/2006/main">
            <a:off x="609600" y="1628775"/>
            <a:ext cx="5162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C857"/>
                </a:solidFill>
                <a:latin typeface="Arial"/>
                <a:ea typeface="Arial"/>
                <a:cs typeface="Arial"/>
              </a:defRPr>
            </a:defPPr>
          </a:lstStyle>
          <a:p xmlns:a="http://schemas.openxmlformats.org/drawingml/2006/main">
            <a:pPr>
              <a:buNone/>
              <a:defRPr sz="3225" b="1">
                <a:solidFill>
                  <a:srgbClr val="FFC857"/>
                </a:solidFill>
                <a:latin typeface="Arial"/>
                <a:ea typeface="Arial"/>
                <a:cs typeface="Arial"/>
              </a:defRPr>
            </a:pPr>
            <a:r>
              <a:rPr sz="3225" b="1">
                <a:solidFill>
                  <a:srgbClr val="FFC857"/>
                </a:solidFill>
                <a:latin typeface="Arial"/>
                <a:ea typeface="Arial"/>
                <a:cs typeface="Arial"/>
              </a:rPr>
              <a:t>MƏKTƏB</a:t>
            </a:r>
          </a:p>
        </p:txBody>
      </p:sp>
      <p:sp>
        <p:nvSpPr>
          <p:cNvPr id="4" name="">
            <a:extLst xmlns:a="http://schemas.openxmlformats.org/drawingml/2006/main">
              <a:ext uri="{FF2B5EF4-FFF2-40B4-BE49-F238E27FC236}">
                <a16:creationId xmlns:a16="http://schemas.microsoft.com/office/drawing/2014/main" id="{A1C4E4FC-EBE0-4AE0-B0FA-EA5596FFBEFA}"/>
              </a:ext>
            </a:extLst>
          </p:cNvPr>
          <p:cNvSpPr>
            <a:spLocks xmlns:a="http://schemas.openxmlformats.org/drawingml/2006/main" noGrp="1"/>
          </p:cNvSpPr>
          <p:nvPr/>
        </p:nvSpPr>
        <p:spPr>
          <a:xfrm xmlns:a="http://schemas.openxmlformats.org/drawingml/2006/main">
            <a:off x="609600" y="2495550"/>
            <a:ext cx="51625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Arial"/>
                <a:ea typeface="Arial"/>
                <a:cs typeface="Arial"/>
              </a:defRPr>
            </a:defPPr>
          </a:lstStyle>
          <a:p xmlns:a="http://schemas.openxmlformats.org/drawingml/2006/main">
            <a:pPr>
              <a:buNone/>
              <a:defRPr sz="2550" b="0">
                <a:solidFill>
                  <a:srgbClr val="FFFFFF"/>
                </a:solidFill>
                <a:latin typeface="Arial"/>
                <a:ea typeface="Arial"/>
                <a:cs typeface="Arial"/>
              </a:defRPr>
            </a:pPr>
            <a:r>
              <a:rPr sz="2550" b="0">
                <a:solidFill>
                  <a:srgbClr val="FFFFFF"/>
                </a:solidFill>
                <a:latin typeface="Arial"/>
                <a:ea typeface="Arial"/>
                <a:cs typeface="Arial"/>
              </a:rPr>
              <a:t>Dərs vaxtı və fasilələr üçün</a:t>
            </a:r>
          </a:p>
          <a:p xmlns:a="http://schemas.openxmlformats.org/drawingml/2006/main">
            <a:pPr>
              <a:buNone/>
              <a:defRPr sz="2550" b="0">
                <a:solidFill>
                  <a:srgbClr val="FFFFFF"/>
                </a:solidFill>
                <a:latin typeface="Arial"/>
                <a:ea typeface="Arial"/>
                <a:cs typeface="Arial"/>
              </a:defRPr>
            </a:pPr>
            <a:r>
              <a:rPr sz="2550" b="0">
                <a:solidFill>
                  <a:srgbClr val="FFFFFF"/>
                </a:solidFill>
                <a:latin typeface="Arial"/>
                <a:ea typeface="Arial"/>
                <a:cs typeface="Arial"/>
              </a:rPr>
              <a:t>səs-küyün zaman mənzərəsi</a:t>
            </a:r>
          </a:p>
        </p:txBody>
      </p:sp>
      <p:sp>
        <p:nvSpPr>
          <p:cNvPr id="5" name="">
            <a:extLst xmlns:a="http://schemas.openxmlformats.org/drawingml/2006/main">
              <a:ext uri="{FF2B5EF4-FFF2-40B4-BE49-F238E27FC236}">
                <a16:creationId xmlns:a16="http://schemas.microsoft.com/office/drawing/2014/main" id="{60FFCDAB-C4DB-4F00-BABC-0E194B8A6297}"/>
              </a:ext>
            </a:extLst>
          </p:cNvPr>
          <p:cNvSpPr>
            <a:spLocks xmlns:a="http://schemas.openxmlformats.org/drawingml/2006/main" noGrp="1"/>
          </p:cNvSpPr>
          <p:nvPr/>
        </p:nvSpPr>
        <p:spPr>
          <a:xfrm xmlns:a="http://schemas.openxmlformats.org/drawingml/2006/main">
            <a:off x="6629400" y="162877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C857"/>
                </a:solidFill>
                <a:latin typeface="Arial"/>
                <a:ea typeface="Arial"/>
                <a:cs typeface="Arial"/>
              </a:defRPr>
            </a:defPPr>
          </a:lstStyle>
          <a:p xmlns:a="http://schemas.openxmlformats.org/drawingml/2006/main">
            <a:pPr>
              <a:buNone/>
              <a:defRPr sz="3225" b="1">
                <a:solidFill>
                  <a:srgbClr val="FFC857"/>
                </a:solidFill>
                <a:latin typeface="Arial"/>
                <a:ea typeface="Arial"/>
                <a:cs typeface="Arial"/>
              </a:defRPr>
            </a:pPr>
            <a:r>
              <a:rPr sz="3225" b="1">
                <a:solidFill>
                  <a:srgbClr val="FFC857"/>
                </a:solidFill>
                <a:latin typeface="Arial"/>
                <a:ea typeface="Arial"/>
                <a:cs typeface="Arial"/>
              </a:rPr>
              <a:t>YAŞAYIŞ ƏRAZİSİ</a:t>
            </a:r>
          </a:p>
        </p:txBody>
      </p:sp>
      <p:sp>
        <p:nvSpPr>
          <p:cNvPr id="6" name="">
            <a:extLst xmlns:a="http://schemas.openxmlformats.org/drawingml/2006/main">
              <a:ext uri="{FF2B5EF4-FFF2-40B4-BE49-F238E27FC236}">
                <a16:creationId xmlns:a16="http://schemas.microsoft.com/office/drawing/2014/main" id="{5CCBB1BF-7AC1-4DB0-B428-D2AA76325272}"/>
              </a:ext>
            </a:extLst>
          </p:cNvPr>
          <p:cNvSpPr>
            <a:spLocks xmlns:a="http://schemas.openxmlformats.org/drawingml/2006/main" noGrp="1"/>
          </p:cNvSpPr>
          <p:nvPr/>
        </p:nvSpPr>
        <p:spPr>
          <a:xfrm xmlns:a="http://schemas.openxmlformats.org/drawingml/2006/main">
            <a:off x="6629400" y="2495550"/>
            <a:ext cx="49530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Arial"/>
                <a:ea typeface="Arial"/>
                <a:cs typeface="Arial"/>
              </a:defRPr>
            </a:defPPr>
          </a:lstStyle>
          <a:p xmlns:a="http://schemas.openxmlformats.org/drawingml/2006/main">
            <a:pPr>
              <a:buNone/>
              <a:defRPr sz="2550" b="0">
                <a:solidFill>
                  <a:srgbClr val="FFFFFF"/>
                </a:solidFill>
                <a:latin typeface="Arial"/>
                <a:ea typeface="Arial"/>
                <a:cs typeface="Arial"/>
              </a:defRPr>
            </a:pPr>
            <a:r>
              <a:rPr sz="2550" b="0">
                <a:solidFill>
                  <a:srgbClr val="FFFFFF"/>
                </a:solidFill>
                <a:latin typeface="Arial"/>
                <a:ea typeface="Arial"/>
                <a:cs typeface="Arial"/>
              </a:rPr>
              <a:t>Gündüz, axşam və gecə</a:t>
            </a:r>
          </a:p>
          <a:p xmlns:a="http://schemas.openxmlformats.org/drawingml/2006/main">
            <a:pPr>
              <a:buNone/>
              <a:defRPr sz="2550" b="0">
                <a:solidFill>
                  <a:srgbClr val="FFFFFF"/>
                </a:solidFill>
                <a:latin typeface="Arial"/>
                <a:ea typeface="Arial"/>
                <a:cs typeface="Arial"/>
              </a:defRPr>
            </a:pPr>
            <a:r>
              <a:rPr sz="2550" b="0">
                <a:solidFill>
                  <a:srgbClr val="FFFFFF"/>
                </a:solidFill>
                <a:latin typeface="Arial"/>
                <a:ea typeface="Arial"/>
                <a:cs typeface="Arial"/>
              </a:rPr>
              <a:t>səviyyələrinin müqayisəsi</a:t>
            </a:r>
          </a:p>
        </p:txBody>
      </p:sp>
      <p:sp>
        <p:nvSpPr>
          <p:cNvPr id="7" name="">
            <a:extLst xmlns:a="http://schemas.openxmlformats.org/drawingml/2006/main">
              <a:ext uri="{FF2B5EF4-FFF2-40B4-BE49-F238E27FC236}">
                <a16:creationId xmlns:a16="http://schemas.microsoft.com/office/drawing/2014/main" id="{DE47D60D-A87B-4E0D-B7D6-2C357BE3D834}"/>
              </a:ext>
            </a:extLst>
          </p:cNvPr>
          <p:cNvSpPr>
            <a:spLocks xmlns:a="http://schemas.openxmlformats.org/drawingml/2006/main" noGrp="1"/>
          </p:cNvSpPr>
          <p:nvPr/>
        </p:nvSpPr>
        <p:spPr>
          <a:xfrm xmlns:a="http://schemas.openxmlformats.org/drawingml/2006/main">
            <a:off x="609600" y="4505325"/>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FFFFFF"/>
                </a:solidFill>
                <a:latin typeface="Arial"/>
                <a:ea typeface="Arial"/>
                <a:cs typeface="Arial"/>
              </a:defRPr>
            </a:defPPr>
          </a:lstStyle>
          <a:p xmlns:a="http://schemas.openxmlformats.org/drawingml/2006/main">
            <a:pPr>
              <a:buNone/>
              <a:defRPr sz="2475" b="0">
                <a:solidFill>
                  <a:srgbClr val="FFFFFF"/>
                </a:solidFill>
                <a:latin typeface="Arial"/>
                <a:ea typeface="Arial"/>
                <a:cs typeface="Arial"/>
              </a:defRPr>
            </a:pPr>
            <a:r>
              <a:rPr sz="2475" b="0">
                <a:solidFill>
                  <a:srgbClr val="FFFFFF"/>
                </a:solidFill>
                <a:latin typeface="Arial"/>
                <a:ea typeface="Arial"/>
                <a:cs typeface="Arial"/>
              </a:rPr>
              <a:t>Dəyişiklikdən əvvəl və sonra müşahidə: məsələn, səs maneəsinin quraşdırılması</a:t>
            </a:r>
          </a:p>
        </p:txBody>
      </p:sp>
      <p:sp>
        <p:nvSpPr>
          <p:cNvPr id="8" name="">
            <a:extLst xmlns:a="http://schemas.openxmlformats.org/drawingml/2006/main">
              <a:ext uri="{FF2B5EF4-FFF2-40B4-BE49-F238E27FC236}">
                <a16:creationId xmlns:a16="http://schemas.microsoft.com/office/drawing/2014/main" id="{51774001-DE2B-43AC-AB60-A6EAFB9F8EAB}"/>
              </a:ext>
            </a:extLst>
          </p:cNvPr>
          <p:cNvSpPr>
            <a:spLocks xmlns:a="http://schemas.openxmlformats.org/drawingml/2006/main" noGrp="1"/>
          </p:cNvSpPr>
          <p:nvPr/>
        </p:nvSpPr>
        <p:spPr>
          <a:xfrm xmlns:a="http://schemas.openxmlformats.org/drawingml/2006/main">
            <a:off x="609600" y="5953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7F1ED"/>
                </a:solidFill>
                <a:latin typeface="Arial"/>
                <a:ea typeface="Arial"/>
                <a:cs typeface="Arial"/>
              </a:defRPr>
            </a:defPPr>
          </a:lstStyle>
          <a:p xmlns:a="http://schemas.openxmlformats.org/drawingml/2006/main">
            <a:pPr>
              <a:buNone/>
              <a:defRPr sz="1650" b="0">
                <a:solidFill>
                  <a:srgbClr val="C7F1ED"/>
                </a:solidFill>
                <a:latin typeface="Arial"/>
                <a:ea typeface="Arial"/>
                <a:cs typeface="Arial"/>
              </a:defRPr>
            </a:pPr>
            <a:r>
              <a:rPr sz="1650" b="0">
                <a:solidFill>
                  <a:srgbClr val="C7F1ED"/>
                </a:solidFill>
                <a:latin typeface="Arial"/>
                <a:ea typeface="Arial"/>
                <a:cs typeface="Arial"/>
              </a:rPr>
              <a:t>Tətbiq ssenariləri. Bu məkanlarda ayrıca sınaq tələb olunur.</a:t>
            </a:r>
          </a:p>
        </p:txBody>
      </p:sp>
    </p:spTree>
    <p:extLst>
      <p:ext uri="{BB962C8B-B14F-4D97-AF65-F5344CB8AC3E}">
        <p14:creationId xmlns:p14="http://schemas.microsoft.com/office/powerpoint/2010/main" val="514567732"/>
      </p:ext>
    </p:extLst>
  </p:cSld>
</p:sld>
</file>

<file path=ppt/slides/slide4.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84C20EC-DCF2-4AC6-A7FF-3D62E386E1F7}"/>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buNone/>
              <a:defRPr sz="3225" b="1">
                <a:solidFill>
                  <a:srgbClr val="14334A"/>
                </a:solidFill>
                <a:latin typeface="Arial"/>
                <a:ea typeface="Arial"/>
                <a:cs typeface="Arial"/>
              </a:defRPr>
            </a:pPr>
            <a:r>
              <a:rPr sz="3225" b="1">
                <a:solidFill>
                  <a:srgbClr val="14334A"/>
                </a:solidFill>
                <a:latin typeface="Arial"/>
                <a:ea typeface="Arial"/>
                <a:cs typeface="Arial"/>
              </a:rPr>
              <a:t>Ölçmədən etibarlı nəticəyə</a:t>
            </a:r>
          </a:p>
        </p:txBody>
      </p:sp>
      <p:sp>
        <p:nvSpPr>
          <p:cNvPr id="2" name="">
            <a:extLst xmlns:a="http://schemas.openxmlformats.org/drawingml/2006/main">
              <a:ext uri="{FF2B5EF4-FFF2-40B4-BE49-F238E27FC236}">
                <a16:creationId xmlns:a16="http://schemas.microsoft.com/office/drawing/2014/main" id="{7C0740B1-6EC6-46F0-B6F9-669443587E24}"/>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buNone/>
              <a:defRPr sz="1125" b="0">
                <a:solidFill>
                  <a:srgbClr val="4D6575"/>
                </a:solidFill>
                <a:latin typeface="Arial"/>
                <a:ea typeface="Arial"/>
                <a:cs typeface="Arial"/>
              </a:defRPr>
            </a:pPr>
            <a:r>
              <a:rPr sz="1125" b="0">
                <a:solidFill>
                  <a:srgbClr val="4D6575"/>
                </a:solidFill>
                <a:latin typeface="Arial"/>
                <a:ea typeface="Arial"/>
                <a:cs typeface="Arial"/>
              </a:rPr>
              <a:t>04 / 18</a:t>
            </a:r>
          </a:p>
        </p:txBody>
      </p:sp>
      <p:sp>
        <p:nvSpPr>
          <p:cNvPr id="3" name="">
            <a:extLst xmlns:a="http://schemas.openxmlformats.org/drawingml/2006/main">
              <a:ext uri="{FF2B5EF4-FFF2-40B4-BE49-F238E27FC236}">
                <a16:creationId xmlns:a16="http://schemas.microsoft.com/office/drawing/2014/main" id="{0C020276-2E01-4F8D-A453-C6FABDC45239}"/>
              </a:ext>
            </a:extLst>
          </p:cNvPr>
          <p:cNvSpPr>
            <a:spLocks xmlns:a="http://schemas.openxmlformats.org/drawingml/2006/main" noGrp="1"/>
          </p:cNvSpPr>
          <p:nvPr/>
        </p:nvSpPr>
        <p:spPr>
          <a:xfrm xmlns:a="http://schemas.openxmlformats.org/drawingml/2006/main">
            <a:off x="609600" y="1866900"/>
            <a:ext cx="347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08F95"/>
                </a:solidFill>
                <a:latin typeface="Arial"/>
                <a:ea typeface="Arial"/>
                <a:cs typeface="Arial"/>
              </a:defRPr>
            </a:defPPr>
          </a:lstStyle>
          <a:p xmlns:a="http://schemas.openxmlformats.org/drawingml/2006/main">
            <a:pPr>
              <a:buNone/>
              <a:defRPr sz="3600" b="1">
                <a:solidFill>
                  <a:srgbClr val="008F95"/>
                </a:solidFill>
                <a:latin typeface="Arial"/>
                <a:ea typeface="Arial"/>
                <a:cs typeface="Arial"/>
              </a:defRPr>
            </a:pPr>
            <a:r>
              <a:rPr sz="3600" b="1">
                <a:solidFill>
                  <a:srgbClr val="008F95"/>
                </a:solidFill>
                <a:latin typeface="Arial"/>
                <a:ea typeface="Arial"/>
                <a:cs typeface="Arial"/>
              </a:rPr>
              <a:t>dB(A)</a:t>
            </a:r>
          </a:p>
        </p:txBody>
      </p:sp>
      <p:sp>
        <p:nvSpPr>
          <p:cNvPr id="4" name="">
            <a:extLst xmlns:a="http://schemas.openxmlformats.org/drawingml/2006/main">
              <a:ext uri="{FF2B5EF4-FFF2-40B4-BE49-F238E27FC236}">
                <a16:creationId xmlns:a16="http://schemas.microsoft.com/office/drawing/2014/main" id="{9A96B14B-BF60-480B-9CC2-62572A938574}"/>
              </a:ext>
            </a:extLst>
          </p:cNvPr>
          <p:cNvSpPr>
            <a:spLocks xmlns:a="http://schemas.openxmlformats.org/drawingml/2006/main" noGrp="1"/>
          </p:cNvSpPr>
          <p:nvPr/>
        </p:nvSpPr>
        <p:spPr>
          <a:xfrm xmlns:a="http://schemas.openxmlformats.org/drawingml/2006/main">
            <a:off x="609600" y="2895600"/>
            <a:ext cx="33813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buNone/>
              <a:defRPr sz="2250" b="0">
                <a:solidFill>
                  <a:srgbClr val="14334A"/>
                </a:solidFill>
                <a:latin typeface="Arial"/>
                <a:ea typeface="Arial"/>
                <a:cs typeface="Arial"/>
              </a:defRPr>
            </a:pPr>
            <a:r>
              <a:rPr sz="2250" b="0">
                <a:solidFill>
                  <a:srgbClr val="14334A"/>
                </a:solidFill>
                <a:latin typeface="Arial"/>
                <a:ea typeface="Arial"/>
                <a:cs typeface="Arial"/>
              </a:rPr>
              <a:t>Kalibrasiya edilmiş</a:t>
            </a:r>
          </a:p>
          <a:p xmlns:a="http://schemas.openxmlformats.org/drawingml/2006/main">
            <a:pPr>
              <a:buNone/>
              <a:defRPr sz="2250" b="0">
                <a:solidFill>
                  <a:srgbClr val="14334A"/>
                </a:solidFill>
                <a:latin typeface="Arial"/>
                <a:ea typeface="Arial"/>
                <a:cs typeface="Arial"/>
              </a:defRPr>
            </a:pPr>
            <a:r>
              <a:rPr sz="2250" b="0">
                <a:solidFill>
                  <a:srgbClr val="14334A"/>
                </a:solidFill>
                <a:latin typeface="Arial"/>
                <a:ea typeface="Arial"/>
                <a:cs typeface="Arial"/>
              </a:rPr>
              <a:t>səs qiymətləndirməsi</a:t>
            </a:r>
          </a:p>
        </p:txBody>
      </p:sp>
      <p:sp>
        <p:nvSpPr>
          <p:cNvPr id="5" name="">
            <a:extLst xmlns:a="http://schemas.openxmlformats.org/drawingml/2006/main">
              <a:ext uri="{FF2B5EF4-FFF2-40B4-BE49-F238E27FC236}">
                <a16:creationId xmlns:a16="http://schemas.microsoft.com/office/drawing/2014/main" id="{348DA782-A87F-4E92-AD6C-72941C231196}"/>
              </a:ext>
            </a:extLst>
          </p:cNvPr>
          <p:cNvSpPr>
            <a:spLocks xmlns:a="http://schemas.openxmlformats.org/drawingml/2006/main" noGrp="1"/>
          </p:cNvSpPr>
          <p:nvPr/>
        </p:nvSpPr>
        <p:spPr>
          <a:xfrm xmlns:a="http://schemas.openxmlformats.org/drawingml/2006/main">
            <a:off x="4314825" y="1866900"/>
            <a:ext cx="347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EE785C"/>
                </a:solidFill>
                <a:latin typeface="Arial"/>
                <a:ea typeface="Arial"/>
                <a:cs typeface="Arial"/>
              </a:defRPr>
            </a:defPPr>
          </a:lstStyle>
          <a:p xmlns:a="http://schemas.openxmlformats.org/drawingml/2006/main">
            <a:pPr>
              <a:buNone/>
              <a:defRPr sz="3600" b="1">
                <a:solidFill>
                  <a:srgbClr val="EE785C"/>
                </a:solidFill>
                <a:latin typeface="Arial"/>
                <a:ea typeface="Arial"/>
                <a:cs typeface="Arial"/>
              </a:defRPr>
            </a:pPr>
            <a:r>
              <a:rPr sz="3600" b="1">
                <a:solidFill>
                  <a:srgbClr val="EE785C"/>
                </a:solidFill>
                <a:latin typeface="Arial"/>
                <a:ea typeface="Arial"/>
                <a:cs typeface="Arial"/>
              </a:rPr>
              <a:t>10 dəqiqə</a:t>
            </a:r>
          </a:p>
        </p:txBody>
      </p:sp>
      <p:sp>
        <p:nvSpPr>
          <p:cNvPr id="6" name="">
            <a:extLst xmlns:a="http://schemas.openxmlformats.org/drawingml/2006/main">
              <a:ext uri="{FF2B5EF4-FFF2-40B4-BE49-F238E27FC236}">
                <a16:creationId xmlns:a16="http://schemas.microsoft.com/office/drawing/2014/main" id="{A11CAC03-33AD-4426-8C9B-D3B2D082538E}"/>
              </a:ext>
            </a:extLst>
          </p:cNvPr>
          <p:cNvSpPr>
            <a:spLocks xmlns:a="http://schemas.openxmlformats.org/drawingml/2006/main" noGrp="1"/>
          </p:cNvSpPr>
          <p:nvPr/>
        </p:nvSpPr>
        <p:spPr>
          <a:xfrm xmlns:a="http://schemas.openxmlformats.org/drawingml/2006/main">
            <a:off x="4314825" y="2895600"/>
            <a:ext cx="33813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buNone/>
              <a:defRPr sz="2250" b="0">
                <a:solidFill>
                  <a:srgbClr val="14334A"/>
                </a:solidFill>
                <a:latin typeface="Arial"/>
                <a:ea typeface="Arial"/>
                <a:cs typeface="Arial"/>
              </a:defRPr>
            </a:pPr>
            <a:r>
              <a:rPr sz="2250" b="0">
                <a:solidFill>
                  <a:srgbClr val="14334A"/>
                </a:solidFill>
                <a:latin typeface="Arial"/>
                <a:ea typeface="Arial"/>
                <a:cs typeface="Arial"/>
              </a:rPr>
              <a:t>Etibarlı audio üzrə</a:t>
            </a:r>
          </a:p>
          <a:p xmlns:a="http://schemas.openxmlformats.org/drawingml/2006/main">
            <a:pPr>
              <a:buNone/>
              <a:defRPr sz="2250" b="0">
                <a:solidFill>
                  <a:srgbClr val="14334A"/>
                </a:solidFill>
                <a:latin typeface="Arial"/>
                <a:ea typeface="Arial"/>
                <a:cs typeface="Arial"/>
              </a:defRPr>
            </a:pPr>
            <a:r>
              <a:rPr sz="2250" b="0">
                <a:solidFill>
                  <a:srgbClr val="14334A"/>
                </a:solidFill>
                <a:latin typeface="Arial"/>
                <a:ea typeface="Arial"/>
                <a:cs typeface="Arial"/>
              </a:rPr>
              <a:t>enerji ortası (Leq)</a:t>
            </a:r>
          </a:p>
        </p:txBody>
      </p:sp>
      <p:sp>
        <p:nvSpPr>
          <p:cNvPr id="7" name="">
            <a:extLst xmlns:a="http://schemas.openxmlformats.org/drawingml/2006/main">
              <a:ext uri="{FF2B5EF4-FFF2-40B4-BE49-F238E27FC236}">
                <a16:creationId xmlns:a16="http://schemas.microsoft.com/office/drawing/2014/main" id="{ABA1A39D-622A-4F5E-9610-62A1ACEA8C55}"/>
              </a:ext>
            </a:extLst>
          </p:cNvPr>
          <p:cNvSpPr>
            <a:spLocks xmlns:a="http://schemas.openxmlformats.org/drawingml/2006/main" noGrp="1"/>
          </p:cNvSpPr>
          <p:nvPr/>
        </p:nvSpPr>
        <p:spPr>
          <a:xfrm xmlns:a="http://schemas.openxmlformats.org/drawingml/2006/main">
            <a:off x="8020050" y="1866900"/>
            <a:ext cx="347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008F95"/>
                </a:solidFill>
                <a:latin typeface="Arial"/>
                <a:ea typeface="Arial"/>
                <a:cs typeface="Arial"/>
              </a:defRPr>
            </a:defPPr>
          </a:lstStyle>
          <a:p xmlns:a="http://schemas.openxmlformats.org/drawingml/2006/main">
            <a:pPr>
              <a:buNone/>
              <a:defRPr sz="2625" b="1">
                <a:solidFill>
                  <a:srgbClr val="008F95"/>
                </a:solidFill>
                <a:latin typeface="Arial"/>
                <a:ea typeface="Arial"/>
                <a:cs typeface="Arial"/>
              </a:defRPr>
            </a:pPr>
            <a:r>
              <a:rPr sz="2625" b="1">
                <a:solidFill>
                  <a:srgbClr val="008F95"/>
                </a:solidFill>
                <a:latin typeface="Arial"/>
                <a:ea typeface="Arial"/>
                <a:cs typeface="Arial"/>
              </a:rPr>
              <a:t>DAY / EVE / NGT</a:t>
            </a:r>
          </a:p>
        </p:txBody>
      </p:sp>
      <p:sp>
        <p:nvSpPr>
          <p:cNvPr id="8" name="">
            <a:extLst xmlns:a="http://schemas.openxmlformats.org/drawingml/2006/main">
              <a:ext uri="{FF2B5EF4-FFF2-40B4-BE49-F238E27FC236}">
                <a16:creationId xmlns:a16="http://schemas.microsoft.com/office/drawing/2014/main" id="{E5F1D2B2-BE4B-47D6-AF49-065116A4602F}"/>
              </a:ext>
            </a:extLst>
          </p:cNvPr>
          <p:cNvSpPr>
            <a:spLocks xmlns:a="http://schemas.openxmlformats.org/drawingml/2006/main" noGrp="1"/>
          </p:cNvSpPr>
          <p:nvPr/>
        </p:nvSpPr>
        <p:spPr>
          <a:xfrm xmlns:a="http://schemas.openxmlformats.org/drawingml/2006/main">
            <a:off x="8020050" y="2895600"/>
            <a:ext cx="33813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buNone/>
              <a:defRPr sz="2250" b="0">
                <a:solidFill>
                  <a:srgbClr val="14334A"/>
                </a:solidFill>
                <a:latin typeface="Arial"/>
                <a:ea typeface="Arial"/>
                <a:cs typeface="Arial"/>
              </a:defRPr>
            </a:pPr>
            <a:r>
              <a:rPr sz="2250" b="0">
                <a:solidFill>
                  <a:srgbClr val="14334A"/>
                </a:solidFill>
                <a:latin typeface="Arial"/>
                <a:ea typeface="Arial"/>
                <a:cs typeface="Arial"/>
              </a:rPr>
              <a:t>Günün hissələri üzrə</a:t>
            </a:r>
          </a:p>
          <a:p xmlns:a="http://schemas.openxmlformats.org/drawingml/2006/main">
            <a:pPr>
              <a:buNone/>
              <a:defRPr sz="2250" b="0">
                <a:solidFill>
                  <a:srgbClr val="14334A"/>
                </a:solidFill>
                <a:latin typeface="Arial"/>
                <a:ea typeface="Arial"/>
                <a:cs typeface="Arial"/>
              </a:defRPr>
            </a:pPr>
            <a:r>
              <a:rPr sz="2250" b="0">
                <a:solidFill>
                  <a:srgbClr val="14334A"/>
                </a:solidFill>
                <a:latin typeface="Arial"/>
                <a:ea typeface="Arial"/>
                <a:cs typeface="Arial"/>
              </a:rPr>
              <a:t>nəticə və əhatə</a:t>
            </a:r>
          </a:p>
        </p:txBody>
      </p:sp>
      <p:sp>
        <p:nvSpPr>
          <p:cNvPr id="9" name="">
            <a:extLst xmlns:a="http://schemas.openxmlformats.org/drawingml/2006/main">
              <a:ext uri="{FF2B5EF4-FFF2-40B4-BE49-F238E27FC236}">
                <a16:creationId xmlns:a16="http://schemas.microsoft.com/office/drawing/2014/main" id="{3BBCDD43-7C98-4274-952D-AD292238A3A2}"/>
              </a:ext>
            </a:extLst>
          </p:cNvPr>
          <p:cNvSpPr>
            <a:spLocks xmlns:a="http://schemas.openxmlformats.org/drawingml/2006/main" noGrp="1"/>
          </p:cNvSpPr>
          <p:nvPr/>
        </p:nvSpPr>
        <p:spPr>
          <a:xfrm xmlns:a="http://schemas.openxmlformats.org/drawingml/2006/main">
            <a:off x="609600" y="45529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4334A"/>
                </a:solidFill>
                <a:latin typeface="Arial"/>
                <a:ea typeface="Arial"/>
                <a:cs typeface="Arial"/>
              </a:defRPr>
            </a:defPPr>
          </a:lstStyle>
          <a:p xmlns:a="http://schemas.openxmlformats.org/drawingml/2006/main">
            <a:pPr>
              <a:buNone/>
              <a:defRPr sz="2475" b="1">
                <a:solidFill>
                  <a:srgbClr val="14334A"/>
                </a:solidFill>
                <a:latin typeface="Arial"/>
                <a:ea typeface="Arial"/>
                <a:cs typeface="Arial"/>
              </a:defRPr>
            </a:pPr>
            <a:r>
              <a:rPr sz="2475" b="1">
                <a:solidFill>
                  <a:srgbClr val="14334A"/>
                </a:solidFill>
                <a:latin typeface="Arial"/>
                <a:ea typeface="Arial"/>
                <a:cs typeface="Arial"/>
              </a:rPr>
              <a:t>İki əsas nəticə</a:t>
            </a:r>
          </a:p>
        </p:txBody>
      </p:sp>
      <p:sp>
        <p:nvSpPr>
          <p:cNvPr id="10" name="">
            <a:extLst xmlns:a="http://schemas.openxmlformats.org/drawingml/2006/main">
              <a:ext uri="{FF2B5EF4-FFF2-40B4-BE49-F238E27FC236}">
                <a16:creationId xmlns:a16="http://schemas.microsoft.com/office/drawing/2014/main" id="{DC2225EC-4872-454A-8268-8D131AEF4379}"/>
              </a:ext>
            </a:extLst>
          </p:cNvPr>
          <p:cNvSpPr>
            <a:spLocks xmlns:a="http://schemas.openxmlformats.org/drawingml/2006/main" noGrp="1"/>
          </p:cNvSpPr>
          <p:nvPr/>
        </p:nvSpPr>
        <p:spPr>
          <a:xfrm xmlns:a="http://schemas.openxmlformats.org/drawingml/2006/main">
            <a:off x="609600" y="5257800"/>
            <a:ext cx="108108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008F95"/>
                </a:solidFill>
                <a:latin typeface="Arial"/>
                <a:ea typeface="Arial"/>
                <a:cs typeface="Arial"/>
              </a:defRPr>
            </a:defPPr>
          </a:lstStyle>
          <a:p xmlns:a="http://schemas.openxmlformats.org/drawingml/2006/main">
            <a:pPr>
              <a:buNone/>
              <a:defRPr sz="2400" b="0">
                <a:solidFill>
                  <a:srgbClr val="008F95"/>
                </a:solidFill>
                <a:latin typeface="Arial"/>
                <a:ea typeface="Arial"/>
                <a:cs typeface="Arial"/>
              </a:defRPr>
            </a:pPr>
            <a:r>
              <a:rPr sz="2400" b="0">
                <a:solidFill>
                  <a:srgbClr val="008F95"/>
                </a:solidFill>
                <a:latin typeface="Arial"/>
                <a:ea typeface="Arial"/>
                <a:cs typeface="Arial"/>
              </a:rPr>
              <a:t>Orta səviyyə nədir?     Hansı sinif daha çox müşahidə olunur?</a:t>
            </a:r>
          </a:p>
        </p:txBody>
      </p:sp>
    </p:spTree>
    <p:extLst>
      <p:ext uri="{BB962C8B-B14F-4D97-AF65-F5344CB8AC3E}">
        <p14:creationId xmlns:p14="http://schemas.microsoft.com/office/powerpoint/2010/main" val="1873776672"/>
      </p:ext>
    </p:extLst>
  </p:cSld>
</p:sld>
</file>

<file path=ppt/slides/slide5.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F12F98-CE1D-4E1A-B4B1-037145A3E85B}"/>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buNone/>
              <a:defRPr sz="3225" b="1">
                <a:solidFill>
                  <a:srgbClr val="14334A"/>
                </a:solidFill>
                <a:latin typeface="Arial"/>
                <a:ea typeface="Arial"/>
                <a:cs typeface="Arial"/>
              </a:defRPr>
            </a:pPr>
            <a:r>
              <a:rPr sz="3225" b="1">
                <a:solidFill>
                  <a:srgbClr val="14334A"/>
                </a:solidFill>
                <a:latin typeface="Arial"/>
                <a:ea typeface="Arial"/>
                <a:cs typeface="Arial"/>
              </a:rPr>
              <a:t>İki kontroller, bir müşahidə sistemi</a:t>
            </a:r>
          </a:p>
        </p:txBody>
      </p:sp>
      <p:sp>
        <p:nvSpPr>
          <p:cNvPr id="2" name="">
            <a:extLst xmlns:a="http://schemas.openxmlformats.org/drawingml/2006/main">
              <a:ext uri="{FF2B5EF4-FFF2-40B4-BE49-F238E27FC236}">
                <a16:creationId xmlns:a16="http://schemas.microsoft.com/office/drawing/2014/main" id="{57192E85-3490-4ADF-A601-6C675F688210}"/>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buNone/>
              <a:defRPr sz="1125" b="0">
                <a:solidFill>
                  <a:srgbClr val="4D6575"/>
                </a:solidFill>
                <a:latin typeface="Arial"/>
                <a:ea typeface="Arial"/>
                <a:cs typeface="Arial"/>
              </a:defRPr>
            </a:pPr>
            <a:r>
              <a:rPr sz="1125" b="0">
                <a:solidFill>
                  <a:srgbClr val="4D6575"/>
                </a:solidFill>
                <a:latin typeface="Arial"/>
                <a:ea typeface="Arial"/>
                <a:cs typeface="Arial"/>
              </a:rPr>
              <a:t>05 / 18</a:t>
            </a:r>
          </a:p>
        </p:txBody>
      </p:sp>
      <p:pic>
        <p:nvPicPr>
          <p:cNvPr id="3" name="">
            <a:extLst xmlns:a="http://schemas.openxmlformats.org/drawingml/2006/main">
              <a:ext uri="{FF2B5EF4-FFF2-40B4-BE49-F238E27FC236}">
                <a16:creationId xmlns:a16="http://schemas.microsoft.com/office/drawing/2014/main" id="{FAB86010-56FA-4F04-A979-22870379199E}"/>
              </a:ext>
            </a:extLst>
          </p:cNvPr>
          <p:cNvPicPr>
            <a:picLocks xmlns:a="http://schemas.openxmlformats.org/drawingml/2006/main" noChangeAspect="1"/>
          </p:cNvPicPr>
          <p:nvPr/>
        </p:nvPicPr>
        <p:blipFill>
          <a:blip xmlns:r="http://schemas.openxmlformats.org/officeDocument/2006/relationships" xmlns:a="http://schemas.openxmlformats.org/drawingml/2006/main" r:embed="R1e7da67162c6463b"/>
          <a:stretch xmlns:a="http://schemas.openxmlformats.org/drawingml/2006/main"/>
        </p:blipFill>
        <p:spPr>
          <a:xfrm xmlns:a="http://schemas.openxmlformats.org/drawingml/2006/main">
            <a:off x="8001000" y="1492046"/>
            <a:ext cx="3314700" cy="474068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C8E2F85-7F4F-42DB-9EF5-3211316579B2}"/>
              </a:ext>
            </a:extLst>
          </p:cNvPr>
          <p:cNvSpPr>
            <a:spLocks xmlns:a="http://schemas.openxmlformats.org/drawingml/2006/main" noGrp="1"/>
          </p:cNvSpPr>
          <p:nvPr/>
        </p:nvSpPr>
        <p:spPr>
          <a:xfrm xmlns:a="http://schemas.openxmlformats.org/drawingml/2006/main">
            <a:off x="609600" y="1724025"/>
            <a:ext cx="70294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008F95"/>
                </a:solidFill>
                <a:latin typeface="Arial"/>
                <a:ea typeface="Arial"/>
                <a:cs typeface="Arial"/>
              </a:defRPr>
            </a:defPPr>
          </a:lstStyle>
          <a:p xmlns:a="http://schemas.openxmlformats.org/drawingml/2006/main">
            <a:pPr>
              <a:buNone/>
              <a:defRPr sz="2925" b="1">
                <a:solidFill>
                  <a:srgbClr val="008F95"/>
                </a:solidFill>
                <a:latin typeface="Arial"/>
                <a:ea typeface="Arial"/>
                <a:cs typeface="Arial"/>
              </a:defRPr>
            </a:pPr>
            <a:r>
              <a:rPr sz="2925" b="1">
                <a:solidFill>
                  <a:srgbClr val="008F95"/>
                </a:solidFill>
                <a:latin typeface="Arial"/>
                <a:ea typeface="Arial"/>
                <a:cs typeface="Arial"/>
              </a:rPr>
              <a:t>ESP32-WROOM-32U</a:t>
            </a:r>
          </a:p>
        </p:txBody>
      </p:sp>
      <p:sp>
        <p:nvSpPr>
          <p:cNvPr id="5" name="">
            <a:extLst xmlns:a="http://schemas.openxmlformats.org/drawingml/2006/main">
              <a:ext uri="{FF2B5EF4-FFF2-40B4-BE49-F238E27FC236}">
                <a16:creationId xmlns:a16="http://schemas.microsoft.com/office/drawing/2014/main" id="{E74D00E8-7C6F-4ADE-8195-FECC85E55A21}"/>
              </a:ext>
            </a:extLst>
          </p:cNvPr>
          <p:cNvSpPr>
            <a:spLocks xmlns:a="http://schemas.openxmlformats.org/drawingml/2006/main" noGrp="1"/>
          </p:cNvSpPr>
          <p:nvPr/>
        </p:nvSpPr>
        <p:spPr>
          <a:xfrm xmlns:a="http://schemas.openxmlformats.org/drawingml/2006/main">
            <a:off x="609600" y="2466975"/>
            <a:ext cx="6838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334A"/>
                </a:solidFill>
                <a:latin typeface="Arial"/>
                <a:ea typeface="Arial"/>
                <a:cs typeface="Arial"/>
              </a:defRPr>
            </a:defPPr>
          </a:lstStyle>
          <a:p xmlns:a="http://schemas.openxmlformats.org/drawingml/2006/main">
            <a:pPr>
              <a:buNone/>
              <a:defRPr sz="2325" b="0">
                <a:solidFill>
                  <a:srgbClr val="14334A"/>
                </a:solidFill>
                <a:latin typeface="Arial"/>
                <a:ea typeface="Arial"/>
                <a:cs typeface="Arial"/>
              </a:defRPr>
            </a:pPr>
            <a:r>
              <a:rPr sz="2325" b="0">
                <a:solidFill>
                  <a:srgbClr val="14334A"/>
                </a:solidFill>
                <a:latin typeface="Arial"/>
                <a:ea typeface="Arial"/>
                <a:cs typeface="Arial"/>
              </a:rPr>
              <a:t>INMP441 mikrofonu · I2S</a:t>
            </a:r>
          </a:p>
          <a:p xmlns:a="http://schemas.openxmlformats.org/drawingml/2006/main">
            <a:pPr>
              <a:buNone/>
              <a:defRPr sz="2325" b="0">
                <a:solidFill>
                  <a:srgbClr val="14334A"/>
                </a:solidFill>
                <a:latin typeface="Arial"/>
                <a:ea typeface="Arial"/>
                <a:cs typeface="Arial"/>
              </a:defRPr>
            </a:pPr>
            <a:r>
              <a:rPr sz="2325" b="0">
                <a:solidFill>
                  <a:srgbClr val="14334A"/>
                </a:solidFill>
                <a:latin typeface="Arial"/>
                <a:ea typeface="Arial"/>
                <a:cs typeface="Arial"/>
              </a:rPr>
              <a:t>OLED 128×64 · Wi-Fi</a:t>
            </a:r>
          </a:p>
        </p:txBody>
      </p:sp>
      <p:sp>
        <p:nvSpPr>
          <p:cNvPr id="6" name="">
            <a:extLst xmlns:a="http://schemas.openxmlformats.org/drawingml/2006/main">
              <a:ext uri="{FF2B5EF4-FFF2-40B4-BE49-F238E27FC236}">
                <a16:creationId xmlns:a16="http://schemas.microsoft.com/office/drawing/2014/main" id="{77AD10CA-5D69-4841-A540-DE3E094B08EE}"/>
              </a:ext>
            </a:extLst>
          </p:cNvPr>
          <p:cNvSpPr>
            <a:spLocks xmlns:a="http://schemas.openxmlformats.org/drawingml/2006/main" noGrp="1"/>
          </p:cNvSpPr>
          <p:nvPr/>
        </p:nvSpPr>
        <p:spPr>
          <a:xfrm xmlns:a="http://schemas.openxmlformats.org/drawingml/2006/main">
            <a:off x="609600" y="3829050"/>
            <a:ext cx="70294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EE785C"/>
                </a:solidFill>
                <a:latin typeface="Arial"/>
                <a:ea typeface="Arial"/>
                <a:cs typeface="Arial"/>
              </a:defRPr>
            </a:defPPr>
          </a:lstStyle>
          <a:p xmlns:a="http://schemas.openxmlformats.org/drawingml/2006/main">
            <a:pPr>
              <a:buNone/>
              <a:defRPr sz="2925" b="1">
                <a:solidFill>
                  <a:srgbClr val="EE785C"/>
                </a:solidFill>
                <a:latin typeface="Arial"/>
                <a:ea typeface="Arial"/>
                <a:cs typeface="Arial"/>
              </a:defRPr>
            </a:pPr>
            <a:r>
              <a:rPr sz="2925" b="1">
                <a:solidFill>
                  <a:srgbClr val="EE785C"/>
                </a:solidFill>
                <a:latin typeface="Arial"/>
                <a:ea typeface="Arial"/>
                <a:cs typeface="Arial"/>
              </a:rPr>
              <a:t>ESP32-C3 SuperMini</a:t>
            </a:r>
          </a:p>
        </p:txBody>
      </p:sp>
      <p:sp>
        <p:nvSpPr>
          <p:cNvPr id="7" name="">
            <a:extLst xmlns:a="http://schemas.openxmlformats.org/drawingml/2006/main">
              <a:ext uri="{FF2B5EF4-FFF2-40B4-BE49-F238E27FC236}">
                <a16:creationId xmlns:a16="http://schemas.microsoft.com/office/drawing/2014/main" id="{C5CF8993-E1E5-41BF-A369-D2B735D93648}"/>
              </a:ext>
            </a:extLst>
          </p:cNvPr>
          <p:cNvSpPr>
            <a:spLocks xmlns:a="http://schemas.openxmlformats.org/drawingml/2006/main" noGrp="1"/>
          </p:cNvSpPr>
          <p:nvPr/>
        </p:nvSpPr>
        <p:spPr>
          <a:xfrm xmlns:a="http://schemas.openxmlformats.org/drawingml/2006/main">
            <a:off x="609600" y="4572000"/>
            <a:ext cx="70294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334A"/>
                </a:solidFill>
                <a:latin typeface="Arial"/>
                <a:ea typeface="Arial"/>
                <a:cs typeface="Arial"/>
              </a:defRPr>
            </a:defPPr>
          </a:lstStyle>
          <a:p xmlns:a="http://schemas.openxmlformats.org/drawingml/2006/main">
            <a:pPr>
              <a:buNone/>
              <a:defRPr sz="2175" b="0">
                <a:solidFill>
                  <a:srgbClr val="14334A"/>
                </a:solidFill>
                <a:latin typeface="Arial"/>
                <a:ea typeface="Arial"/>
                <a:cs typeface="Arial"/>
              </a:defRPr>
            </a:pPr>
            <a:r>
              <a:rPr sz="2175" b="0">
                <a:solidFill>
                  <a:srgbClr val="14334A"/>
                </a:solidFill>
                <a:latin typeface="Arial"/>
                <a:ea typeface="Arial"/>
                <a:cs typeface="Arial"/>
              </a:rPr>
              <a:t>INA3221: Solar / Battery / Load</a:t>
            </a:r>
          </a:p>
          <a:p xmlns:a="http://schemas.openxmlformats.org/drawingml/2006/main">
            <a:pPr>
              <a:buNone/>
              <a:defRPr sz="2175" b="0">
                <a:solidFill>
                  <a:srgbClr val="14334A"/>
                </a:solidFill>
                <a:latin typeface="Arial"/>
                <a:ea typeface="Arial"/>
                <a:cs typeface="Arial"/>
              </a:defRPr>
            </a:pPr>
            <a:r>
              <a:rPr sz="2175" b="0">
                <a:solidFill>
                  <a:srgbClr val="14334A"/>
                </a:solidFill>
                <a:latin typeface="Arial"/>
                <a:ea typeface="Arial"/>
                <a:cs typeface="Arial"/>
              </a:rPr>
              <a:t>u-blox NEO-M8 / HW-542: saxlanmış GPS FIX</a:t>
            </a:r>
          </a:p>
        </p:txBody>
      </p:sp>
    </p:spTree>
    <p:extLst>
      <p:ext uri="{BB962C8B-B14F-4D97-AF65-F5344CB8AC3E}">
        <p14:creationId xmlns:p14="http://schemas.microsoft.com/office/powerpoint/2010/main" val="1772868400"/>
      </p:ext>
    </p:extLst>
  </p:cSld>
</p:sld>
</file>

<file path=ppt/slides/slide6.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BCF281-DC17-414C-BE18-326F062443D4}"/>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buNone/>
              <a:defRPr sz="3225" b="1">
                <a:solidFill>
                  <a:srgbClr val="14334A"/>
                </a:solidFill>
                <a:latin typeface="Arial"/>
                <a:ea typeface="Arial"/>
                <a:cs typeface="Arial"/>
              </a:defRPr>
            </a:pPr>
            <a:r>
              <a:rPr sz="3225" b="1">
                <a:solidFill>
                  <a:srgbClr val="14334A"/>
                </a:solidFill>
                <a:latin typeface="Arial"/>
                <a:ea typeface="Arial"/>
                <a:cs typeface="Arial"/>
              </a:rPr>
              <a:t>Bizim sxem: kontrollerlər arasında UART</a:t>
            </a:r>
          </a:p>
        </p:txBody>
      </p:sp>
      <p:sp>
        <p:nvSpPr>
          <p:cNvPr id="2" name="">
            <a:extLst xmlns:a="http://schemas.openxmlformats.org/drawingml/2006/main">
              <a:ext uri="{FF2B5EF4-FFF2-40B4-BE49-F238E27FC236}">
                <a16:creationId xmlns:a16="http://schemas.microsoft.com/office/drawing/2014/main" id="{98FD5943-3DDC-4AC6-8F5B-F10988805BEB}"/>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buNone/>
              <a:defRPr sz="1125" b="0">
                <a:solidFill>
                  <a:srgbClr val="4D6575"/>
                </a:solidFill>
                <a:latin typeface="Arial"/>
                <a:ea typeface="Arial"/>
                <a:cs typeface="Arial"/>
              </a:defRPr>
            </a:pPr>
            <a:r>
              <a:rPr sz="1125" b="0">
                <a:solidFill>
                  <a:srgbClr val="4D6575"/>
                </a:solidFill>
                <a:latin typeface="Arial"/>
                <a:ea typeface="Arial"/>
                <a:cs typeface="Arial"/>
              </a:rPr>
              <a:t>06 / 18</a:t>
            </a:r>
          </a:p>
        </p:txBody>
      </p:sp>
      <p:pic>
        <p:nvPicPr>
          <p:cNvPr id="3" name="">
            <a:extLst xmlns:a="http://schemas.openxmlformats.org/drawingml/2006/main">
              <a:ext uri="{FF2B5EF4-FFF2-40B4-BE49-F238E27FC236}">
                <a16:creationId xmlns:a16="http://schemas.microsoft.com/office/drawing/2014/main" id="{A87BEFD9-5A93-4E5F-BE7F-341C82E950E0}"/>
              </a:ext>
            </a:extLst>
          </p:cNvPr>
          <p:cNvPicPr>
            <a:picLocks xmlns:a="http://schemas.openxmlformats.org/drawingml/2006/main" noChangeAspect="1"/>
          </p:cNvPicPr>
          <p:nvPr/>
        </p:nvPicPr>
        <p:blipFill>
          <a:blip xmlns:r="http://schemas.openxmlformats.org/officeDocument/2006/relationships" xmlns:a="http://schemas.openxmlformats.org/drawingml/2006/main" r:embed="Rcb41c56db4894690"/>
          <a:stretch xmlns:a="http://schemas.openxmlformats.org/drawingml/2006/main"/>
        </p:blipFill>
        <p:spPr>
          <a:xfrm xmlns:a="http://schemas.openxmlformats.org/drawingml/2006/main">
            <a:off x="786644" y="1657350"/>
            <a:ext cx="7589762" cy="4572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564009A-EF8F-400A-BC54-FC1B5DFC62F0}"/>
              </a:ext>
            </a:extLst>
          </p:cNvPr>
          <p:cNvSpPr>
            <a:spLocks xmlns:a="http://schemas.openxmlformats.org/drawingml/2006/main" noGrp="1"/>
          </p:cNvSpPr>
          <p:nvPr/>
        </p:nvSpPr>
        <p:spPr>
          <a:xfrm xmlns:a="http://schemas.openxmlformats.org/drawingml/2006/main">
            <a:off x="9010650" y="1952625"/>
            <a:ext cx="2571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08F95"/>
                </a:solidFill>
                <a:latin typeface="Arial"/>
                <a:ea typeface="Arial"/>
                <a:cs typeface="Arial"/>
              </a:defRPr>
            </a:defPPr>
          </a:lstStyle>
          <a:p xmlns:a="http://schemas.openxmlformats.org/drawingml/2006/main">
            <a:pPr>
              <a:buNone/>
              <a:defRPr sz="2550" b="1">
                <a:solidFill>
                  <a:srgbClr val="008F95"/>
                </a:solidFill>
                <a:latin typeface="Arial"/>
                <a:ea typeface="Arial"/>
                <a:cs typeface="Arial"/>
              </a:defRPr>
            </a:pPr>
            <a:r>
              <a:rPr sz="2550" b="1">
                <a:solidFill>
                  <a:srgbClr val="008F95"/>
                </a:solidFill>
                <a:latin typeface="Arial"/>
                <a:ea typeface="Arial"/>
                <a:cs typeface="Arial"/>
              </a:rPr>
              <a:t>UART 3,3 V</a:t>
            </a:r>
          </a:p>
        </p:txBody>
      </p:sp>
      <p:sp>
        <p:nvSpPr>
          <p:cNvPr id="5" name="">
            <a:extLst xmlns:a="http://schemas.openxmlformats.org/drawingml/2006/main">
              <a:ext uri="{FF2B5EF4-FFF2-40B4-BE49-F238E27FC236}">
                <a16:creationId xmlns:a16="http://schemas.microsoft.com/office/drawing/2014/main" id="{B00DA6A8-1846-4B78-A7D3-1E0619F77098}"/>
              </a:ext>
            </a:extLst>
          </p:cNvPr>
          <p:cNvSpPr>
            <a:spLocks xmlns:a="http://schemas.openxmlformats.org/drawingml/2006/main" noGrp="1"/>
          </p:cNvSpPr>
          <p:nvPr/>
        </p:nvSpPr>
        <p:spPr>
          <a:xfrm xmlns:a="http://schemas.openxmlformats.org/drawingml/2006/main">
            <a:off x="9010650" y="2733675"/>
            <a:ext cx="2571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334A"/>
                </a:solidFill>
                <a:latin typeface="Arial"/>
                <a:ea typeface="Arial"/>
                <a:cs typeface="Arial"/>
              </a:defRPr>
            </a:defPPr>
          </a:lstStyle>
          <a:p xmlns:a="http://schemas.openxmlformats.org/drawingml/2006/main">
            <a:pPr>
              <a:buNone/>
              <a:defRPr sz="1875" b="0">
                <a:solidFill>
                  <a:srgbClr val="14334A"/>
                </a:solidFill>
                <a:latin typeface="Arial"/>
                <a:ea typeface="Arial"/>
                <a:cs typeface="Arial"/>
              </a:defRPr>
            </a:pPr>
            <a:r>
              <a:rPr sz="1875" b="0">
                <a:solidFill>
                  <a:srgbClr val="14334A"/>
                </a:solidFill>
                <a:latin typeface="Arial"/>
                <a:ea typeface="Arial"/>
                <a:cs typeface="Arial"/>
              </a:rPr>
              <a:t>Səs və enerji</a:t>
            </a:r>
          </a:p>
          <a:p xmlns:a="http://schemas.openxmlformats.org/drawingml/2006/main">
            <a:pPr>
              <a:buNone/>
              <a:defRPr sz="1875" b="0">
                <a:solidFill>
                  <a:srgbClr val="14334A"/>
                </a:solidFill>
                <a:latin typeface="Arial"/>
                <a:ea typeface="Arial"/>
                <a:cs typeface="Arial"/>
              </a:defRPr>
            </a:pPr>
            <a:r>
              <a:rPr sz="1875" b="0">
                <a:solidFill>
                  <a:srgbClr val="14334A"/>
                </a:solidFill>
                <a:latin typeface="Arial"/>
                <a:ea typeface="Arial"/>
                <a:cs typeface="Arial"/>
              </a:rPr>
              <a:t>məlumatı</a:t>
            </a:r>
          </a:p>
        </p:txBody>
      </p:sp>
      <p:sp>
        <p:nvSpPr>
          <p:cNvPr id="6" name="">
            <a:extLst xmlns:a="http://schemas.openxmlformats.org/drawingml/2006/main">
              <a:ext uri="{FF2B5EF4-FFF2-40B4-BE49-F238E27FC236}">
                <a16:creationId xmlns:a16="http://schemas.microsoft.com/office/drawing/2014/main" id="{86BB4610-4F83-4851-B5F0-43FD1BC2C4D2}"/>
              </a:ext>
            </a:extLst>
          </p:cNvPr>
          <p:cNvSpPr>
            <a:spLocks xmlns:a="http://schemas.openxmlformats.org/drawingml/2006/main" noGrp="1"/>
          </p:cNvSpPr>
          <p:nvPr/>
        </p:nvSpPr>
        <p:spPr>
          <a:xfrm xmlns:a="http://schemas.openxmlformats.org/drawingml/2006/main">
            <a:off x="9010650" y="3829050"/>
            <a:ext cx="2571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334A"/>
                </a:solidFill>
                <a:latin typeface="Arial"/>
                <a:ea typeface="Arial"/>
                <a:cs typeface="Arial"/>
              </a:defRPr>
            </a:defPPr>
          </a:lstStyle>
          <a:p xmlns:a="http://schemas.openxmlformats.org/drawingml/2006/main">
            <a:pPr>
              <a:buNone/>
              <a:defRPr sz="1875" b="0">
                <a:solidFill>
                  <a:srgbClr val="14334A"/>
                </a:solidFill>
                <a:latin typeface="Arial"/>
                <a:ea typeface="Arial"/>
                <a:cs typeface="Arial"/>
              </a:defRPr>
            </a:pPr>
            <a:r>
              <a:rPr sz="1875" b="0">
                <a:solidFill>
                  <a:srgbClr val="14334A"/>
                </a:solidFill>
                <a:latin typeface="Arial"/>
                <a:ea typeface="Arial"/>
                <a:cs typeface="Arial"/>
              </a:rPr>
              <a:t>TX / RX</a:t>
            </a:r>
          </a:p>
          <a:p xmlns:a="http://schemas.openxmlformats.org/drawingml/2006/main">
            <a:pPr>
              <a:buNone/>
              <a:defRPr sz="1875" b="0">
                <a:solidFill>
                  <a:srgbClr val="14334A"/>
                </a:solidFill>
                <a:latin typeface="Arial"/>
                <a:ea typeface="Arial"/>
                <a:cs typeface="Arial"/>
              </a:defRPr>
            </a:pPr>
            <a:r>
              <a:rPr sz="1875" b="0">
                <a:solidFill>
                  <a:srgbClr val="14334A"/>
                </a:solidFill>
                <a:latin typeface="Arial"/>
                <a:ea typeface="Arial"/>
                <a:cs typeface="Arial"/>
              </a:rPr>
              <a:t>Ümumi GND</a:t>
            </a:r>
          </a:p>
        </p:txBody>
      </p:sp>
      <p:sp>
        <p:nvSpPr>
          <p:cNvPr id="7" name="">
            <a:extLst xmlns:a="http://schemas.openxmlformats.org/drawingml/2006/main">
              <a:ext uri="{FF2B5EF4-FFF2-40B4-BE49-F238E27FC236}">
                <a16:creationId xmlns:a16="http://schemas.microsoft.com/office/drawing/2014/main" id="{BCF1556A-8415-4422-96B5-FEC335887658}"/>
              </a:ext>
            </a:extLst>
          </p:cNvPr>
          <p:cNvSpPr>
            <a:spLocks xmlns:a="http://schemas.openxmlformats.org/drawingml/2006/main" noGrp="1"/>
          </p:cNvSpPr>
          <p:nvPr/>
        </p:nvSpPr>
        <p:spPr>
          <a:xfrm xmlns:a="http://schemas.openxmlformats.org/drawingml/2006/main">
            <a:off x="9010650" y="4924425"/>
            <a:ext cx="2571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334A"/>
                </a:solidFill>
                <a:latin typeface="Arial"/>
                <a:ea typeface="Arial"/>
                <a:cs typeface="Arial"/>
              </a:defRPr>
            </a:defPPr>
          </a:lstStyle>
          <a:p xmlns:a="http://schemas.openxmlformats.org/drawingml/2006/main">
            <a:pPr>
              <a:buNone/>
              <a:defRPr sz="1875" b="0">
                <a:solidFill>
                  <a:srgbClr val="14334A"/>
                </a:solidFill>
                <a:latin typeface="Arial"/>
                <a:ea typeface="Arial"/>
                <a:cs typeface="Arial"/>
              </a:defRPr>
            </a:pPr>
            <a:r>
              <a:rPr sz="1875" b="0">
                <a:solidFill>
                  <a:srgbClr val="14334A"/>
                </a:solidFill>
                <a:latin typeface="Arial"/>
                <a:ea typeface="Arial"/>
                <a:cs typeface="Arial"/>
              </a:rPr>
              <a:t>Ayrıca wake xətti:</a:t>
            </a:r>
          </a:p>
          <a:p xmlns:a="http://schemas.openxmlformats.org/drawingml/2006/main">
            <a:pPr>
              <a:buNone/>
              <a:defRPr sz="1875" b="0">
                <a:solidFill>
                  <a:srgbClr val="14334A"/>
                </a:solidFill>
                <a:latin typeface="Arial"/>
                <a:ea typeface="Arial"/>
                <a:cs typeface="Arial"/>
              </a:defRPr>
            </a:pPr>
            <a:r>
              <a:rPr sz="1875" b="0">
                <a:solidFill>
                  <a:srgbClr val="14334A"/>
                </a:solidFill>
                <a:latin typeface="Arial"/>
                <a:ea typeface="Arial"/>
                <a:cs typeface="Arial"/>
              </a:rPr>
              <a:t>BS GPIO23 → C3 GPIO5</a:t>
            </a:r>
          </a:p>
        </p:txBody>
      </p:sp>
    </p:spTree>
    <p:extLst>
      <p:ext uri="{BB962C8B-B14F-4D97-AF65-F5344CB8AC3E}">
        <p14:creationId xmlns:p14="http://schemas.microsoft.com/office/powerpoint/2010/main" val="1067615346"/>
      </p:ext>
    </p:extLst>
  </p:cSld>
</p:sld>
</file>

<file path=ppt/slides/slide7.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7B861DF-7815-4246-A4C8-9682785EB08A}"/>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buNone/>
              <a:defRPr sz="3225" b="1">
                <a:solidFill>
                  <a:srgbClr val="14334A"/>
                </a:solidFill>
                <a:latin typeface="Arial"/>
                <a:ea typeface="Arial"/>
                <a:cs typeface="Arial"/>
              </a:defRPr>
            </a:pPr>
            <a:r>
              <a:rPr sz="3225" b="1">
                <a:solidFill>
                  <a:srgbClr val="14334A"/>
                </a:solidFill>
                <a:latin typeface="Arial"/>
                <a:ea typeface="Arial"/>
                <a:cs typeface="Arial"/>
              </a:rPr>
              <a:t>Bizim sxem: günəş enerjisi və batareya</a:t>
            </a:r>
          </a:p>
        </p:txBody>
      </p:sp>
      <p:sp>
        <p:nvSpPr>
          <p:cNvPr id="2" name="">
            <a:extLst xmlns:a="http://schemas.openxmlformats.org/drawingml/2006/main">
              <a:ext uri="{FF2B5EF4-FFF2-40B4-BE49-F238E27FC236}">
                <a16:creationId xmlns:a16="http://schemas.microsoft.com/office/drawing/2014/main" id="{7958986A-C6C0-408B-A844-D8A23B12F821}"/>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buNone/>
              <a:defRPr sz="1125" b="0">
                <a:solidFill>
                  <a:srgbClr val="4D6575"/>
                </a:solidFill>
                <a:latin typeface="Arial"/>
                <a:ea typeface="Arial"/>
                <a:cs typeface="Arial"/>
              </a:defRPr>
            </a:pPr>
            <a:r>
              <a:rPr sz="1125" b="0">
                <a:solidFill>
                  <a:srgbClr val="4D6575"/>
                </a:solidFill>
                <a:latin typeface="Arial"/>
                <a:ea typeface="Arial"/>
                <a:cs typeface="Arial"/>
              </a:rPr>
              <a:t>07 / 18</a:t>
            </a:r>
          </a:p>
        </p:txBody>
      </p:sp>
      <p:pic>
        <p:nvPicPr>
          <p:cNvPr id="3" name="">
            <a:extLst xmlns:a="http://schemas.openxmlformats.org/drawingml/2006/main">
              <a:ext uri="{FF2B5EF4-FFF2-40B4-BE49-F238E27FC236}">
                <a16:creationId xmlns:a16="http://schemas.microsoft.com/office/drawing/2014/main" id="{787260A0-8E6A-46B9-8FF6-47F892EC512A}"/>
              </a:ext>
            </a:extLst>
          </p:cNvPr>
          <p:cNvPicPr>
            <a:picLocks xmlns:a="http://schemas.openxmlformats.org/drawingml/2006/main" noChangeAspect="1"/>
          </p:cNvPicPr>
          <p:nvPr/>
        </p:nvPicPr>
        <p:blipFill>
          <a:blip xmlns:r="http://schemas.openxmlformats.org/officeDocument/2006/relationships" xmlns:a="http://schemas.openxmlformats.org/drawingml/2006/main" r:embed="R7e2912ab3b304acb"/>
          <a:stretch xmlns:a="http://schemas.openxmlformats.org/drawingml/2006/main"/>
        </p:blipFill>
        <p:spPr>
          <a:xfrm xmlns:a="http://schemas.openxmlformats.org/drawingml/2006/main">
            <a:off x="2126192" y="1400175"/>
            <a:ext cx="7958667" cy="4476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22313E3-4ADE-4BA4-BACF-B908061B72A3}"/>
              </a:ext>
            </a:extLst>
          </p:cNvPr>
          <p:cNvSpPr>
            <a:spLocks xmlns:a="http://schemas.openxmlformats.org/drawingml/2006/main" noGrp="1"/>
          </p:cNvSpPr>
          <p:nvPr/>
        </p:nvSpPr>
        <p:spPr>
          <a:xfrm xmlns:a="http://schemas.openxmlformats.org/drawingml/2006/main">
            <a:off x="609600" y="59817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8F95"/>
                </a:solidFill>
                <a:latin typeface="Arial"/>
                <a:ea typeface="Arial"/>
                <a:cs typeface="Arial"/>
              </a:defRPr>
            </a:defPPr>
          </a:lstStyle>
          <a:p xmlns:a="http://schemas.openxmlformats.org/drawingml/2006/main">
            <a:pPr>
              <a:buNone/>
              <a:defRPr sz="1725" b="1">
                <a:solidFill>
                  <a:srgbClr val="008F95"/>
                </a:solidFill>
                <a:latin typeface="Arial"/>
                <a:ea typeface="Arial"/>
                <a:cs typeface="Arial"/>
              </a:defRPr>
            </a:pPr>
            <a:r>
              <a:rPr sz="1725" b="1">
                <a:solidFill>
                  <a:srgbClr val="008F95"/>
                </a:solidFill>
                <a:latin typeface="Arial"/>
                <a:ea typeface="Arial"/>
                <a:cs typeface="Arial"/>
              </a:rPr>
              <a:t>Panel, batareya və yük ayrıca izlənir. Şarj tənzimlənməsi ayrıca yoxlanmalıdır.</a:t>
            </a:r>
          </a:p>
        </p:txBody>
      </p:sp>
    </p:spTree>
    <p:extLst>
      <p:ext uri="{BB962C8B-B14F-4D97-AF65-F5344CB8AC3E}">
        <p14:creationId xmlns:p14="http://schemas.microsoft.com/office/powerpoint/2010/main" val="2114506575"/>
      </p:ext>
    </p:extLst>
  </p:cSld>
</p:sld>
</file>

<file path=ppt/slides/slide8.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4466B9B-A975-4919-931D-C4E4A867C903}"/>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Yoxlama üçün istifadə etdiyimiz cihazlar</a:t>
            </a:r>
          </a:p>
        </p:txBody>
      </p:sp>
      <p:sp>
        <p:nvSpPr>
          <p:cNvPr id="2" name="">
            <a:extLst xmlns:a="http://schemas.openxmlformats.org/drawingml/2006/main">
              <a:ext uri="{FF2B5EF4-FFF2-40B4-BE49-F238E27FC236}">
                <a16:creationId xmlns:a16="http://schemas.microsoft.com/office/drawing/2014/main" id="{BA500114-8F20-4DAD-9D25-1CC0FF00BB1B}"/>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buNone/>
              <a:defRPr sz="1125" b="0">
                <a:solidFill>
                  <a:srgbClr val="BADEE2"/>
                </a:solidFill>
                <a:latin typeface="Arial"/>
                <a:ea typeface="Arial"/>
                <a:cs typeface="Arial"/>
              </a:defRPr>
            </a:pPr>
            <a:r>
              <a:rPr sz="1125" b="0">
                <a:solidFill>
                  <a:srgbClr val="BADEE2"/>
                </a:solidFill>
                <a:latin typeface="Arial"/>
                <a:ea typeface="Arial"/>
                <a:cs typeface="Arial"/>
              </a:rPr>
              <a:t>08 / 18</a:t>
            </a:r>
          </a:p>
        </p:txBody>
      </p:sp>
      <p:sp>
        <p:nvSpPr>
          <p:cNvPr id="3" name="">
            <a:extLst xmlns:a="http://schemas.openxmlformats.org/drawingml/2006/main">
              <a:ext uri="{FF2B5EF4-FFF2-40B4-BE49-F238E27FC236}">
                <a16:creationId xmlns:a16="http://schemas.microsoft.com/office/drawing/2014/main" id="{3A3E2EC0-D26E-4126-A72A-E4BD7B808C37}"/>
              </a:ext>
            </a:extLst>
          </p:cNvPr>
          <p:cNvSpPr>
            <a:spLocks xmlns:a="http://schemas.openxmlformats.org/drawingml/2006/main" noGrp="1"/>
          </p:cNvSpPr>
          <p:nvPr/>
        </p:nvSpPr>
        <p:spPr>
          <a:xfrm xmlns:a="http://schemas.openxmlformats.org/drawingml/2006/main">
            <a:off x="609600" y="1752600"/>
            <a:ext cx="5353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63DED1"/>
                </a:solidFill>
                <a:latin typeface="Arial"/>
                <a:ea typeface="Arial"/>
                <a:cs typeface="Arial"/>
              </a:defRPr>
            </a:defPPr>
          </a:lstStyle>
          <a:p xmlns:a="http://schemas.openxmlformats.org/drawingml/2006/main">
            <a:pPr>
              <a:buNone/>
              <a:defRPr sz="3450" b="1">
                <a:solidFill>
                  <a:srgbClr val="63DED1"/>
                </a:solidFill>
                <a:latin typeface="Arial"/>
                <a:ea typeface="Arial"/>
                <a:cs typeface="Arial"/>
              </a:defRPr>
            </a:pPr>
            <a:r>
              <a:rPr sz="3450" b="1">
                <a:solidFill>
                  <a:srgbClr val="63DED1"/>
                </a:solidFill>
                <a:latin typeface="Arial"/>
                <a:ea typeface="Arial"/>
                <a:cs typeface="Arial"/>
              </a:rPr>
              <a:t>FNIRSI FDM01</a:t>
            </a:r>
          </a:p>
        </p:txBody>
      </p:sp>
      <p:sp>
        <p:nvSpPr>
          <p:cNvPr id="4" name="">
            <a:extLst xmlns:a="http://schemas.openxmlformats.org/drawingml/2006/main">
              <a:ext uri="{FF2B5EF4-FFF2-40B4-BE49-F238E27FC236}">
                <a16:creationId xmlns:a16="http://schemas.microsoft.com/office/drawing/2014/main" id="{5F116C6D-8FC1-405B-88B3-1FCEFE491A7C}"/>
              </a:ext>
            </a:extLst>
          </p:cNvPr>
          <p:cNvSpPr>
            <a:spLocks xmlns:a="http://schemas.openxmlformats.org/drawingml/2006/main" noGrp="1"/>
          </p:cNvSpPr>
          <p:nvPr/>
        </p:nvSpPr>
        <p:spPr>
          <a:xfrm xmlns:a="http://schemas.openxmlformats.org/drawingml/2006/main">
            <a:off x="609600" y="2600325"/>
            <a:ext cx="5314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FFFFF"/>
                </a:solidFill>
                <a:latin typeface="Arial"/>
                <a:ea typeface="Arial"/>
                <a:cs typeface="Arial"/>
              </a:defRPr>
            </a:defPPr>
          </a:lstStyle>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Səs səviyyəsi ölçən</a:t>
            </a:r>
          </a:p>
        </p:txBody>
      </p:sp>
      <p:sp>
        <p:nvSpPr>
          <p:cNvPr id="5" name="">
            <a:extLst xmlns:a="http://schemas.openxmlformats.org/drawingml/2006/main">
              <a:ext uri="{FF2B5EF4-FFF2-40B4-BE49-F238E27FC236}">
                <a16:creationId xmlns:a16="http://schemas.microsoft.com/office/drawing/2014/main" id="{0BA13EEF-F892-4F40-82ED-88182E1AD193}"/>
              </a:ext>
            </a:extLst>
          </p:cNvPr>
          <p:cNvSpPr>
            <a:spLocks xmlns:a="http://schemas.openxmlformats.org/drawingml/2006/main" noGrp="1"/>
          </p:cNvSpPr>
          <p:nvPr/>
        </p:nvSpPr>
        <p:spPr>
          <a:xfrm xmlns:a="http://schemas.openxmlformats.org/drawingml/2006/main">
            <a:off x="609600" y="3476625"/>
            <a:ext cx="5334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A-vəznləmə və SLOW rejimi</a:t>
            </a:r>
          </a:p>
        </p:txBody>
      </p:sp>
      <p:sp>
        <p:nvSpPr>
          <p:cNvPr id="6" name="">
            <a:extLst xmlns:a="http://schemas.openxmlformats.org/drawingml/2006/main">
              <a:ext uri="{FF2B5EF4-FFF2-40B4-BE49-F238E27FC236}">
                <a16:creationId xmlns:a16="http://schemas.microsoft.com/office/drawing/2014/main" id="{9653241B-453C-4ADC-8785-027123EF6551}"/>
              </a:ext>
            </a:extLst>
          </p:cNvPr>
          <p:cNvSpPr>
            <a:spLocks xmlns:a="http://schemas.openxmlformats.org/drawingml/2006/main" noGrp="1"/>
          </p:cNvSpPr>
          <p:nvPr/>
        </p:nvSpPr>
        <p:spPr>
          <a:xfrm xmlns:a="http://schemas.openxmlformats.org/drawingml/2006/main">
            <a:off x="609600" y="4191000"/>
            <a:ext cx="5334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Foto cütləri ilə müqayisə</a:t>
            </a:r>
          </a:p>
        </p:txBody>
      </p:sp>
      <p:sp>
        <p:nvSpPr>
          <p:cNvPr id="7" name="">
            <a:extLst xmlns:a="http://schemas.openxmlformats.org/drawingml/2006/main">
              <a:ext uri="{FF2B5EF4-FFF2-40B4-BE49-F238E27FC236}">
                <a16:creationId xmlns:a16="http://schemas.microsoft.com/office/drawing/2014/main" id="{B4D74DE6-BDD3-48F3-A800-AB207C001C6B}"/>
              </a:ext>
            </a:extLst>
          </p:cNvPr>
          <p:cNvSpPr>
            <a:spLocks xmlns:a="http://schemas.openxmlformats.org/drawingml/2006/main" noGrp="1"/>
          </p:cNvSpPr>
          <p:nvPr/>
        </p:nvSpPr>
        <p:spPr>
          <a:xfrm xmlns:a="http://schemas.openxmlformats.org/drawingml/2006/main">
            <a:off x="609600" y="4905375"/>
            <a:ext cx="5334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dB(A) ofsetinin yoxlanması</a:t>
            </a:r>
          </a:p>
        </p:txBody>
      </p:sp>
      <p:sp>
        <p:nvSpPr>
          <p:cNvPr id="8" name="">
            <a:extLst xmlns:a="http://schemas.openxmlformats.org/drawingml/2006/main">
              <a:ext uri="{FF2B5EF4-FFF2-40B4-BE49-F238E27FC236}">
                <a16:creationId xmlns:a16="http://schemas.microsoft.com/office/drawing/2014/main" id="{50BC44A5-BB18-46CD-AFBE-B21E0DC90DDB}"/>
              </a:ext>
            </a:extLst>
          </p:cNvPr>
          <p:cNvSpPr>
            <a:spLocks xmlns:a="http://schemas.openxmlformats.org/drawingml/2006/main" noGrp="1"/>
          </p:cNvSpPr>
          <p:nvPr/>
        </p:nvSpPr>
        <p:spPr>
          <a:xfrm xmlns:a="http://schemas.openxmlformats.org/drawingml/2006/main">
            <a:off x="7010400" y="1752600"/>
            <a:ext cx="457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FC857"/>
                </a:solidFill>
                <a:latin typeface="Arial"/>
                <a:ea typeface="Arial"/>
                <a:cs typeface="Arial"/>
              </a:defRPr>
            </a:defPPr>
          </a:lstStyle>
          <a:p xmlns:a="http://schemas.openxmlformats.org/drawingml/2006/main">
            <a:pPr>
              <a:buNone/>
              <a:defRPr sz="3450" b="1">
                <a:solidFill>
                  <a:srgbClr val="FFC857"/>
                </a:solidFill>
                <a:latin typeface="Arial"/>
                <a:ea typeface="Arial"/>
                <a:cs typeface="Arial"/>
              </a:defRPr>
            </a:pPr>
            <a:r>
              <a:rPr sz="3450" b="1">
                <a:solidFill>
                  <a:srgbClr val="FFC857"/>
                </a:solidFill>
                <a:latin typeface="Arial"/>
                <a:ea typeface="Arial"/>
                <a:cs typeface="Arial"/>
              </a:rPr>
              <a:t>FNB58</a:t>
            </a:r>
          </a:p>
        </p:txBody>
      </p:sp>
      <p:sp>
        <p:nvSpPr>
          <p:cNvPr id="9" name="">
            <a:extLst xmlns:a="http://schemas.openxmlformats.org/drawingml/2006/main">
              <a:ext uri="{FF2B5EF4-FFF2-40B4-BE49-F238E27FC236}">
                <a16:creationId xmlns:a16="http://schemas.microsoft.com/office/drawing/2014/main" id="{30442AFA-9336-416C-8ABE-816ADD3C5BE2}"/>
              </a:ext>
            </a:extLst>
          </p:cNvPr>
          <p:cNvSpPr>
            <a:spLocks xmlns:a="http://schemas.openxmlformats.org/drawingml/2006/main" noGrp="1"/>
          </p:cNvSpPr>
          <p:nvPr/>
        </p:nvSpPr>
        <p:spPr>
          <a:xfrm xmlns:a="http://schemas.openxmlformats.org/drawingml/2006/main">
            <a:off x="7010400" y="2600325"/>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FFFFF"/>
                </a:solidFill>
                <a:latin typeface="Arial"/>
                <a:ea typeface="Arial"/>
                <a:cs typeface="Arial"/>
              </a:defRPr>
            </a:defPPr>
          </a:lstStyle>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USB enerji testeri</a:t>
            </a:r>
          </a:p>
        </p:txBody>
      </p:sp>
      <p:sp>
        <p:nvSpPr>
          <p:cNvPr id="10" name="">
            <a:extLst xmlns:a="http://schemas.openxmlformats.org/drawingml/2006/main">
              <a:ext uri="{FF2B5EF4-FFF2-40B4-BE49-F238E27FC236}">
                <a16:creationId xmlns:a16="http://schemas.microsoft.com/office/drawing/2014/main" id="{CC6167AC-08EB-4B35-B097-D9C7BCF21347}"/>
              </a:ext>
            </a:extLst>
          </p:cNvPr>
          <p:cNvSpPr>
            <a:spLocks xmlns:a="http://schemas.openxmlformats.org/drawingml/2006/main" noGrp="1"/>
          </p:cNvSpPr>
          <p:nvPr/>
        </p:nvSpPr>
        <p:spPr>
          <a:xfrm xmlns:a="http://schemas.openxmlformats.org/drawingml/2006/main">
            <a:off x="7010400" y="3476625"/>
            <a:ext cx="4572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Gərginlik, cərəyan, güc</a:t>
            </a:r>
          </a:p>
        </p:txBody>
      </p:sp>
      <p:sp>
        <p:nvSpPr>
          <p:cNvPr id="11" name="">
            <a:extLst xmlns:a="http://schemas.openxmlformats.org/drawingml/2006/main">
              <a:ext uri="{FF2B5EF4-FFF2-40B4-BE49-F238E27FC236}">
                <a16:creationId xmlns:a16="http://schemas.microsoft.com/office/drawing/2014/main" id="{CD24B30B-BF57-4F94-9F09-1E28B9E3BDB1}"/>
              </a:ext>
            </a:extLst>
          </p:cNvPr>
          <p:cNvSpPr>
            <a:spLocks xmlns:a="http://schemas.openxmlformats.org/drawingml/2006/main" noGrp="1"/>
          </p:cNvSpPr>
          <p:nvPr/>
        </p:nvSpPr>
        <p:spPr>
          <a:xfrm xmlns:a="http://schemas.openxmlformats.org/drawingml/2006/main">
            <a:off x="7010400" y="4191000"/>
            <a:ext cx="4572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Yük xəttinin müşahidəsi</a:t>
            </a:r>
          </a:p>
        </p:txBody>
      </p:sp>
      <p:sp>
        <p:nvSpPr>
          <p:cNvPr id="12" name="">
            <a:extLst xmlns:a="http://schemas.openxmlformats.org/drawingml/2006/main">
              <a:ext uri="{FF2B5EF4-FFF2-40B4-BE49-F238E27FC236}">
                <a16:creationId xmlns:a16="http://schemas.microsoft.com/office/drawing/2014/main" id="{2A6568CD-279C-447E-AB70-E189C0B8AB0D}"/>
              </a:ext>
            </a:extLst>
          </p:cNvPr>
          <p:cNvSpPr>
            <a:spLocks xmlns:a="http://schemas.openxmlformats.org/drawingml/2006/main" noGrp="1"/>
          </p:cNvSpPr>
          <p:nvPr/>
        </p:nvSpPr>
        <p:spPr>
          <a:xfrm xmlns:a="http://schemas.openxmlformats.org/drawingml/2006/main">
            <a:off x="7010400" y="4905375"/>
            <a:ext cx="4572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Tam müqayisə ayrıca mərhələdir</a:t>
            </a:r>
          </a:p>
        </p:txBody>
      </p:sp>
      <p:sp>
        <p:nvSpPr>
          <p:cNvPr id="13" name="">
            <a:extLst xmlns:a="http://schemas.openxmlformats.org/drawingml/2006/main">
              <a:ext uri="{FF2B5EF4-FFF2-40B4-BE49-F238E27FC236}">
                <a16:creationId xmlns:a16="http://schemas.microsoft.com/office/drawing/2014/main" id="{ED7228B3-0B7A-4532-9621-AA23ADA416BD}"/>
              </a:ext>
            </a:extLst>
          </p:cNvPr>
          <p:cNvSpPr>
            <a:spLocks xmlns:a="http://schemas.openxmlformats.org/drawingml/2006/main" noGrp="1"/>
          </p:cNvSpPr>
          <p:nvPr/>
        </p:nvSpPr>
        <p:spPr>
          <a:xfrm xmlns:a="http://schemas.openxmlformats.org/drawingml/2006/main">
            <a:off x="609600" y="59531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CDAE2"/>
                </a:solidFill>
                <a:latin typeface="Arial"/>
                <a:ea typeface="Arial"/>
                <a:cs typeface="Arial"/>
              </a:defRPr>
            </a:defPPr>
          </a:lstStyle>
          <a:p xmlns:a="http://schemas.openxmlformats.org/drawingml/2006/main">
            <a:pPr>
              <a:buNone/>
              <a:defRPr sz="1650" b="0">
                <a:solidFill>
                  <a:srgbClr val="BCDAE2"/>
                </a:solidFill>
                <a:latin typeface="Arial"/>
                <a:ea typeface="Arial"/>
                <a:cs typeface="Arial"/>
              </a:defRPr>
            </a:pPr>
            <a:r>
              <a:rPr sz="1650" b="0">
                <a:solidFill>
                  <a:srgbClr val="BCDAE2"/>
                </a:solidFill>
                <a:latin typeface="Arial"/>
                <a:ea typeface="Arial"/>
                <a:cs typeface="Arial"/>
              </a:rPr>
              <a:t>Əsas nəzarətçi: ESP32-WROOM-32U. Enerji nəzarətçisi: ESP32-C3 SuperMini.</a:t>
            </a:r>
          </a:p>
        </p:txBody>
      </p:sp>
    </p:spTree>
    <p:extLst>
      <p:ext uri="{BB962C8B-B14F-4D97-AF65-F5344CB8AC3E}">
        <p14:creationId xmlns:p14="http://schemas.microsoft.com/office/powerpoint/2010/main" val="1314201375"/>
      </p:ext>
    </p:extLst>
  </p:cSld>
</p:sld>
</file>

<file path=ppt/slides/slide9.xml><?xml version="1.0" encoding="utf-8"?>
<p:sld xmlns:p="http://schemas.openxmlformats.org/presentationml/2006/main">
  <p:cSld>
    <p:bg>
      <p:bgPr>
        <a:solidFill xmlns:a="http://schemas.openxmlformats.org/drawingml/2006/main">
          <a:srgbClr val="008F9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2C72DE9-11BB-4254-A9A4-7C439C6A6F62}"/>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Kalibrasiya nəticəsi: 1,13 dB orta xəta</a:t>
            </a:r>
          </a:p>
        </p:txBody>
      </p:sp>
      <p:sp>
        <p:nvSpPr>
          <p:cNvPr id="2" name="">
            <a:extLst xmlns:a="http://schemas.openxmlformats.org/drawingml/2006/main">
              <a:ext uri="{FF2B5EF4-FFF2-40B4-BE49-F238E27FC236}">
                <a16:creationId xmlns:a16="http://schemas.microsoft.com/office/drawing/2014/main" id="{2F6B7114-1A33-4E3E-94BB-39DF998E0C2A}"/>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buNone/>
              <a:defRPr sz="1125" b="0">
                <a:solidFill>
                  <a:srgbClr val="BADEE2"/>
                </a:solidFill>
                <a:latin typeface="Arial"/>
                <a:ea typeface="Arial"/>
                <a:cs typeface="Arial"/>
              </a:defRPr>
            </a:pPr>
            <a:r>
              <a:rPr sz="1125" b="0">
                <a:solidFill>
                  <a:srgbClr val="BADEE2"/>
                </a:solidFill>
                <a:latin typeface="Arial"/>
                <a:ea typeface="Arial"/>
                <a:cs typeface="Arial"/>
              </a:rPr>
              <a:t>09 / 18</a:t>
            </a:r>
          </a:p>
        </p:txBody>
      </p:sp>
      <p:sp>
        <p:nvSpPr>
          <p:cNvPr id="3" name="">
            <a:extLst xmlns:a="http://schemas.openxmlformats.org/drawingml/2006/main">
              <a:ext uri="{FF2B5EF4-FFF2-40B4-BE49-F238E27FC236}">
                <a16:creationId xmlns:a16="http://schemas.microsoft.com/office/drawing/2014/main" id="{BE6C18BB-CACA-4482-A3FB-80D7169D835D}"/>
              </a:ext>
            </a:extLst>
          </p:cNvPr>
          <p:cNvSpPr>
            <a:spLocks xmlns:a="http://schemas.openxmlformats.org/drawingml/2006/main" noGrp="1"/>
          </p:cNvSpPr>
          <p:nvPr/>
        </p:nvSpPr>
        <p:spPr>
          <a:xfrm xmlns:a="http://schemas.openxmlformats.org/drawingml/2006/main">
            <a:off x="609600" y="1657350"/>
            <a:ext cx="5905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825" b="1">
                <a:solidFill>
                  <a:srgbClr val="FFFFFF"/>
                </a:solidFill>
                <a:latin typeface="Arial"/>
                <a:ea typeface="Arial"/>
                <a:cs typeface="Arial"/>
              </a:defRPr>
            </a:defPPr>
          </a:lstStyle>
          <a:p xmlns:a="http://schemas.openxmlformats.org/drawingml/2006/main">
            <a:pPr>
              <a:buNone/>
              <a:defRPr sz="6825" b="1">
                <a:solidFill>
                  <a:srgbClr val="FFFFFF"/>
                </a:solidFill>
                <a:latin typeface="Arial"/>
                <a:ea typeface="Arial"/>
                <a:cs typeface="Arial"/>
              </a:defRPr>
            </a:pPr>
            <a:r>
              <a:rPr sz="6825" b="1">
                <a:solidFill>
                  <a:srgbClr val="FFFFFF"/>
                </a:solidFill>
                <a:latin typeface="Arial"/>
                <a:ea typeface="Arial"/>
                <a:cs typeface="Arial"/>
              </a:rPr>
              <a:t>1,13 dB</a:t>
            </a:r>
          </a:p>
        </p:txBody>
      </p:sp>
      <p:sp>
        <p:nvSpPr>
          <p:cNvPr id="4" name="">
            <a:extLst xmlns:a="http://schemas.openxmlformats.org/drawingml/2006/main">
              <a:ext uri="{FF2B5EF4-FFF2-40B4-BE49-F238E27FC236}">
                <a16:creationId xmlns:a16="http://schemas.microsoft.com/office/drawing/2014/main" id="{2E5B98A7-9D58-41DC-AD2C-E6BCF65A118D}"/>
              </a:ext>
            </a:extLst>
          </p:cNvPr>
          <p:cNvSpPr>
            <a:spLocks xmlns:a="http://schemas.openxmlformats.org/drawingml/2006/main" noGrp="1"/>
          </p:cNvSpPr>
          <p:nvPr/>
        </p:nvSpPr>
        <p:spPr>
          <a:xfrm xmlns:a="http://schemas.openxmlformats.org/drawingml/2006/main">
            <a:off x="609600" y="3133725"/>
            <a:ext cx="6019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stStyle>
          <a:p xmlns:a="http://schemas.openxmlformats.org/drawingml/2006/main">
            <a:pPr>
              <a:buNone/>
              <a:defRPr sz="2325" b="0">
                <a:solidFill>
                  <a:srgbClr val="FFFFFF"/>
                </a:solidFill>
                <a:latin typeface="Arial"/>
                <a:ea typeface="Arial"/>
                <a:cs typeface="Arial"/>
              </a:defRPr>
            </a:pPr>
            <a:r>
              <a:rPr sz="2325" b="0">
                <a:solidFill>
                  <a:srgbClr val="FFFFFF"/>
                </a:solidFill>
                <a:latin typeface="Arial"/>
                <a:ea typeface="Arial"/>
                <a:cs typeface="Arial"/>
              </a:rPr>
              <a:t>Orta mütləq xəta (MAE)</a:t>
            </a:r>
          </a:p>
        </p:txBody>
      </p:sp>
      <p:sp>
        <p:nvSpPr>
          <p:cNvPr id="5" name="">
            <a:extLst xmlns:a="http://schemas.openxmlformats.org/drawingml/2006/main">
              <a:ext uri="{FF2B5EF4-FFF2-40B4-BE49-F238E27FC236}">
                <a16:creationId xmlns:a16="http://schemas.microsoft.com/office/drawing/2014/main" id="{75D0254A-DBBB-477B-ADF2-FEA4A541A59D}"/>
              </a:ext>
            </a:extLst>
          </p:cNvPr>
          <p:cNvSpPr>
            <a:spLocks xmlns:a="http://schemas.openxmlformats.org/drawingml/2006/main" noGrp="1"/>
          </p:cNvSpPr>
          <p:nvPr/>
        </p:nvSpPr>
        <p:spPr>
          <a:xfrm xmlns:a="http://schemas.openxmlformats.org/drawingml/2006/main">
            <a:off x="8048625" y="1790700"/>
            <a:ext cx="3286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FFC857"/>
                </a:solidFill>
                <a:latin typeface="Arial"/>
                <a:ea typeface="Arial"/>
                <a:cs typeface="Arial"/>
              </a:defRPr>
            </a:defPPr>
          </a:lstStyle>
          <a:p xmlns:a="http://schemas.openxmlformats.org/drawingml/2006/main">
            <a:pPr>
              <a:buNone/>
              <a:defRPr sz="5700" b="1">
                <a:solidFill>
                  <a:srgbClr val="FFC857"/>
                </a:solidFill>
                <a:latin typeface="Arial"/>
                <a:ea typeface="Arial"/>
                <a:cs typeface="Arial"/>
              </a:defRPr>
            </a:pPr>
            <a:r>
              <a:rPr sz="5700" b="1">
                <a:solidFill>
                  <a:srgbClr val="FFC857"/>
                </a:solidFill>
                <a:latin typeface="Arial"/>
                <a:ea typeface="Arial"/>
                <a:cs typeface="Arial"/>
              </a:rPr>
              <a:t>45</a:t>
            </a:r>
          </a:p>
        </p:txBody>
      </p:sp>
      <p:sp>
        <p:nvSpPr>
          <p:cNvPr id="6" name="">
            <a:extLst xmlns:a="http://schemas.openxmlformats.org/drawingml/2006/main">
              <a:ext uri="{FF2B5EF4-FFF2-40B4-BE49-F238E27FC236}">
                <a16:creationId xmlns:a16="http://schemas.microsoft.com/office/drawing/2014/main" id="{7261E6F2-D249-46B5-9C71-4312E7FC9B85}"/>
              </a:ext>
            </a:extLst>
          </p:cNvPr>
          <p:cNvSpPr>
            <a:spLocks xmlns:a="http://schemas.openxmlformats.org/drawingml/2006/main" noGrp="1"/>
          </p:cNvSpPr>
          <p:nvPr/>
        </p:nvSpPr>
        <p:spPr>
          <a:xfrm xmlns:a="http://schemas.openxmlformats.org/drawingml/2006/main">
            <a:off x="8048625" y="2971800"/>
            <a:ext cx="3286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FFFF"/>
                </a:solidFill>
                <a:latin typeface="Arial"/>
                <a:ea typeface="Arial"/>
                <a:cs typeface="Arial"/>
              </a:defRPr>
            </a:defPPr>
          </a:lstStyle>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sabit istinad cütü</a:t>
            </a:r>
          </a:p>
        </p:txBody>
      </p:sp>
      <p:sp>
        <p:nvSpPr>
          <p:cNvPr id="7" name="">
            <a:extLst xmlns:a="http://schemas.openxmlformats.org/drawingml/2006/main">
              <a:ext uri="{FF2B5EF4-FFF2-40B4-BE49-F238E27FC236}">
                <a16:creationId xmlns:a16="http://schemas.microsoft.com/office/drawing/2014/main" id="{A567E3C6-2D43-45E0-9DE0-EA3385824DBE}"/>
              </a:ext>
            </a:extLst>
          </p:cNvPr>
          <p:cNvSpPr>
            <a:spLocks xmlns:a="http://schemas.openxmlformats.org/drawingml/2006/main" noGrp="1"/>
          </p:cNvSpPr>
          <p:nvPr/>
        </p:nvSpPr>
        <p:spPr>
          <a:xfrm xmlns:a="http://schemas.openxmlformats.org/drawingml/2006/main">
            <a:off x="609600" y="42291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rial"/>
                <a:ea typeface="Arial"/>
                <a:cs typeface="Arial"/>
              </a:defRPr>
            </a:defPPr>
          </a:lstStyle>
          <a:p xmlns:a="http://schemas.openxmlformats.org/drawingml/2006/main">
            <a:pPr>
              <a:buNone/>
              <a:defRPr sz="2775" b="1">
                <a:solidFill>
                  <a:srgbClr val="FFFFFF"/>
                </a:solidFill>
                <a:latin typeface="Arial"/>
                <a:ea typeface="Arial"/>
                <a:cs typeface="Arial"/>
              </a:defRPr>
            </a:pPr>
            <a:r>
              <a:rPr sz="2775" b="1">
                <a:solidFill>
                  <a:srgbClr val="FFFFFF"/>
                </a:solidFill>
                <a:latin typeface="Arial"/>
                <a:ea typeface="Arial"/>
                <a:cs typeface="Arial"/>
              </a:rPr>
              <a:t>84,4% ölçmə ±2 dB daxilində</a:t>
            </a:r>
          </a:p>
        </p:txBody>
      </p:sp>
      <p:sp>
        <p:nvSpPr>
          <p:cNvPr id="8" name="">
            <a:extLst xmlns:a="http://schemas.openxmlformats.org/drawingml/2006/main">
              <a:ext uri="{FF2B5EF4-FFF2-40B4-BE49-F238E27FC236}">
                <a16:creationId xmlns:a16="http://schemas.microsoft.com/office/drawing/2014/main" id="{3DAA4A84-2517-4B2E-8A83-92924B772C88}"/>
              </a:ext>
            </a:extLst>
          </p:cNvPr>
          <p:cNvSpPr>
            <a:spLocks xmlns:a="http://schemas.openxmlformats.org/drawingml/2006/main" noGrp="1"/>
          </p:cNvSpPr>
          <p:nvPr/>
        </p:nvSpPr>
        <p:spPr>
          <a:xfrm xmlns:a="http://schemas.openxmlformats.org/drawingml/2006/main">
            <a:off x="609600" y="494347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FFFF"/>
                </a:solidFill>
                <a:latin typeface="Arial"/>
                <a:ea typeface="Arial"/>
                <a:cs typeface="Arial"/>
              </a:defRPr>
            </a:defPPr>
          </a:lstStyle>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Yoxlanmış diapazon: 53,2–65,9 dB(A)</a:t>
            </a:r>
          </a:p>
        </p:txBody>
      </p:sp>
      <p:sp>
        <p:nvSpPr>
          <p:cNvPr id="9" name="">
            <a:extLst xmlns:a="http://schemas.openxmlformats.org/drawingml/2006/main">
              <a:ext uri="{FF2B5EF4-FFF2-40B4-BE49-F238E27FC236}">
                <a16:creationId xmlns:a16="http://schemas.microsoft.com/office/drawing/2014/main" id="{D6BF7AD1-E2EF-4C91-9B3E-DE43FBDFB008}"/>
              </a:ext>
            </a:extLst>
          </p:cNvPr>
          <p:cNvSpPr>
            <a:spLocks xmlns:a="http://schemas.openxmlformats.org/drawingml/2006/main" noGrp="1"/>
          </p:cNvSpPr>
          <p:nvPr/>
        </p:nvSpPr>
        <p:spPr>
          <a:xfrm xmlns:a="http://schemas.openxmlformats.org/drawingml/2006/main">
            <a:off x="609600" y="59531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EF4EE"/>
                </a:solidFill>
                <a:latin typeface="Arial"/>
                <a:ea typeface="Arial"/>
                <a:cs typeface="Arial"/>
              </a:defRPr>
            </a:defPPr>
          </a:lstStyle>
          <a:p xmlns:a="http://schemas.openxmlformats.org/drawingml/2006/main">
            <a:pPr>
              <a:buNone/>
              <a:defRPr sz="1650" b="0">
                <a:solidFill>
                  <a:srgbClr val="CEF4EE"/>
                </a:solidFill>
                <a:latin typeface="Arial"/>
                <a:ea typeface="Arial"/>
                <a:cs typeface="Arial"/>
              </a:defRPr>
            </a:pPr>
            <a:r>
              <a:rPr sz="1650" b="0">
                <a:solidFill>
                  <a:srgbClr val="CEF4EE"/>
                </a:solidFill>
                <a:latin typeface="Arial"/>
                <a:ea typeface="Arial"/>
                <a:cs typeface="Arial"/>
              </a:rPr>
              <a:t>Praktik qiymətləndirmə. Sertifikatlaşdırılmış ölçmə dəqiqliyi iddiası yoxdur.</a:t>
            </a:r>
          </a:p>
        </p:txBody>
      </p:sp>
    </p:spTree>
    <p:extLst>
      <p:ext uri="{BB962C8B-B14F-4D97-AF65-F5344CB8AC3E}">
        <p14:creationId xmlns:p14="http://schemas.microsoft.com/office/powerpoint/2010/main" val="1591374044"/>
      </p:ext>
    </p:extLst>
  </p:cSld>
</p:sld>
</file>

<file path=ppt/slides/slide10.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CDF2661-3F51-45AF-9544-AEAA1F7B631A}"/>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buNone/>
              <a:defRPr sz="3225" b="1">
                <a:solidFill>
                  <a:srgbClr val="14334A"/>
                </a:solidFill>
                <a:latin typeface="Arial"/>
                <a:ea typeface="Arial"/>
                <a:cs typeface="Arial"/>
              </a:defRPr>
            </a:pPr>
            <a:r>
              <a:rPr sz="3225" b="1">
                <a:solidFill>
                  <a:srgbClr val="14334A"/>
                </a:solidFill>
                <a:latin typeface="Arial"/>
                <a:ea typeface="Arial"/>
                <a:cs typeface="Arial"/>
              </a:rPr>
              <a:t>Pilot gündə gecə daha sakit olub</a:t>
            </a:r>
          </a:p>
        </p:txBody>
      </p:sp>
      <p:sp>
        <p:nvSpPr>
          <p:cNvPr id="2" name="">
            <a:extLst xmlns:a="http://schemas.openxmlformats.org/drawingml/2006/main">
              <a:ext uri="{FF2B5EF4-FFF2-40B4-BE49-F238E27FC236}">
                <a16:creationId xmlns:a16="http://schemas.microsoft.com/office/drawing/2014/main" id="{F65C22D2-1A12-43AA-9AAF-6FE7A7A5B179}"/>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buNone/>
              <a:defRPr sz="1125" b="0">
                <a:solidFill>
                  <a:srgbClr val="4D6575"/>
                </a:solidFill>
                <a:latin typeface="Arial"/>
                <a:ea typeface="Arial"/>
                <a:cs typeface="Arial"/>
              </a:defRPr>
            </a:pPr>
            <a:r>
              <a:rPr sz="1125" b="0">
                <a:solidFill>
                  <a:srgbClr val="4D6575"/>
                </a:solidFill>
                <a:latin typeface="Arial"/>
                <a:ea typeface="Arial"/>
                <a:cs typeface="Arial"/>
              </a:rPr>
              <a:t>10 / 18</a:t>
            </a:r>
          </a:p>
        </p:txBody>
      </p:sp>
      <p:sp>
        <p:nvSpPr>
          <p:cNvPr id="3" name="">
            <a:extLst xmlns:a="http://schemas.openxmlformats.org/drawingml/2006/main">
              <a:ext uri="{FF2B5EF4-FFF2-40B4-BE49-F238E27FC236}">
                <a16:creationId xmlns:a16="http://schemas.microsoft.com/office/drawing/2014/main" id="{2B35CF59-9A38-4C0F-892F-CE6251E19975}"/>
              </a:ext>
            </a:extLst>
          </p:cNvPr>
          <p:cNvSpPr>
            <a:spLocks xmlns:a="http://schemas.openxmlformats.org/drawingml/2006/main" noGrp="1"/>
          </p:cNvSpPr>
          <p:nvPr/>
        </p:nvSpPr>
        <p:spPr>
          <a:xfrm xmlns:a="http://schemas.openxmlformats.org/drawingml/2006/main">
            <a:off x="609600" y="147637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4D6575"/>
                </a:solidFill>
                <a:latin typeface="Arial"/>
                <a:ea typeface="Arial"/>
                <a:cs typeface="Arial"/>
              </a:defRPr>
            </a:defPPr>
          </a:lstStyle>
          <a:p xmlns:a="http://schemas.openxmlformats.org/drawingml/2006/main">
            <a:pPr>
              <a:buNone/>
              <a:defRPr sz="1950" b="0">
                <a:solidFill>
                  <a:srgbClr val="4D6575"/>
                </a:solidFill>
                <a:latin typeface="Arial"/>
                <a:ea typeface="Arial"/>
                <a:cs typeface="Arial"/>
              </a:defRPr>
            </a:pPr>
            <a:r>
              <a:rPr sz="1950" b="0">
                <a:solidFill>
                  <a:srgbClr val="4D6575"/>
                </a:solidFill>
                <a:latin typeface="Arial"/>
                <a:ea typeface="Arial"/>
                <a:cs typeface="Arial"/>
              </a:rPr>
              <a:t>6 oktyabr 2026 · eyni müşahidə nöqtəsi</a:t>
            </a:r>
          </a:p>
        </p:txBody>
      </p:sp>
      <p:graphicFrame>
        <p:nvGraphicFramePr>
          <p:cNvPr id="4" name="Chart">
            <a:extLst xmlns:a="http://schemas.openxmlformats.org/drawingml/2006/main">
              <a:ext uri="{FF2B5EF4-FFF2-40B4-BE49-F238E27FC236}">
                <a16:creationId xmlns:a16="http://schemas.microsoft.com/office/drawing/2014/main" id="{323A0A34-EFDE-4033-B814-5E0F46E4513B}"/>
              </a:ext>
            </a:extLst>
          </p:cNvPr>
          <p:cNvGraphicFramePr/>
          <p:nvPr/>
        </p:nvGraphicFramePr>
        <p:xfrm>
          <a:off xmlns:a="http://schemas.openxmlformats.org/drawingml/2006/main" x="609600" y="2238375"/>
          <a:ext xmlns:a="http://schemas.openxmlformats.org/drawingml/2006/main" cx="7381875" cy="3419475"/>
        </p:xfrm>
        <a:graphic xmlns:a="http://schemas.openxmlformats.org/drawingml/2006/main">
          <a:graphicData uri="http://schemas.openxmlformats.org/drawingml/2006/chart">
            <c:chart xmlns:r="http://schemas.openxmlformats.org/officeDocument/2006/relationships" xmlns:c="http://schemas.openxmlformats.org/drawingml/2006/chart" r:id="R00129f1ae9c247a0"/>
          </a:graphicData>
        </a:graphic>
      </p:graphicFrame>
      <p:sp>
        <p:nvSpPr>
          <p:cNvPr id="5" name="">
            <a:extLst xmlns:a="http://schemas.openxmlformats.org/drawingml/2006/main">
              <a:ext uri="{FF2B5EF4-FFF2-40B4-BE49-F238E27FC236}">
                <a16:creationId xmlns:a16="http://schemas.microsoft.com/office/drawing/2014/main" id="{EE9BE3D2-6005-470A-8298-C16A6226E996}"/>
              </a:ext>
            </a:extLst>
          </p:cNvPr>
          <p:cNvSpPr>
            <a:spLocks xmlns:a="http://schemas.openxmlformats.org/drawingml/2006/main" noGrp="1"/>
          </p:cNvSpPr>
          <p:nvPr/>
        </p:nvSpPr>
        <p:spPr>
          <a:xfrm xmlns:a="http://schemas.openxmlformats.org/drawingml/2006/main">
            <a:off x="8639175" y="2400300"/>
            <a:ext cx="29432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425" b="1">
                <a:solidFill>
                  <a:srgbClr val="008F95"/>
                </a:solidFill>
                <a:latin typeface="Arial"/>
                <a:ea typeface="Arial"/>
                <a:cs typeface="Arial"/>
              </a:defRPr>
            </a:defPPr>
          </a:lstStyle>
          <a:p xmlns:a="http://schemas.openxmlformats.org/drawingml/2006/main">
            <a:pPr>
              <a:buNone/>
              <a:defRPr sz="4425" b="1">
                <a:solidFill>
                  <a:srgbClr val="008F95"/>
                </a:solidFill>
                <a:latin typeface="Arial"/>
                <a:ea typeface="Arial"/>
                <a:cs typeface="Arial"/>
              </a:defRPr>
            </a:pPr>
            <a:r>
              <a:rPr sz="4425" b="1">
                <a:solidFill>
                  <a:srgbClr val="008F95"/>
                </a:solidFill>
                <a:latin typeface="Arial"/>
                <a:ea typeface="Arial"/>
                <a:cs typeface="Arial"/>
              </a:rPr>
              <a:t>7,9 dB</a:t>
            </a:r>
          </a:p>
        </p:txBody>
      </p:sp>
      <p:sp>
        <p:nvSpPr>
          <p:cNvPr id="6" name="">
            <a:extLst xmlns:a="http://schemas.openxmlformats.org/drawingml/2006/main">
              <a:ext uri="{FF2B5EF4-FFF2-40B4-BE49-F238E27FC236}">
                <a16:creationId xmlns:a16="http://schemas.microsoft.com/office/drawing/2014/main" id="{B4ADE3FD-9DF7-412D-9725-D0C91538D9CD}"/>
              </a:ext>
            </a:extLst>
          </p:cNvPr>
          <p:cNvSpPr>
            <a:spLocks xmlns:a="http://schemas.openxmlformats.org/drawingml/2006/main" noGrp="1"/>
          </p:cNvSpPr>
          <p:nvPr/>
        </p:nvSpPr>
        <p:spPr>
          <a:xfrm xmlns:a="http://schemas.openxmlformats.org/drawingml/2006/main">
            <a:off x="8639175" y="3419475"/>
            <a:ext cx="29432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334A"/>
                </a:solidFill>
                <a:latin typeface="Arial"/>
                <a:ea typeface="Arial"/>
                <a:cs typeface="Arial"/>
              </a:defRPr>
            </a:defPPr>
          </a:lstStyle>
          <a:p xmlns:a="http://schemas.openxmlformats.org/drawingml/2006/main">
            <a:pPr>
              <a:buNone/>
              <a:defRPr sz="2025" b="0">
                <a:solidFill>
                  <a:srgbClr val="14334A"/>
                </a:solidFill>
                <a:latin typeface="Arial"/>
                <a:ea typeface="Arial"/>
                <a:cs typeface="Arial"/>
              </a:defRPr>
            </a:pPr>
            <a:r>
              <a:rPr sz="2025" b="0">
                <a:solidFill>
                  <a:srgbClr val="14334A"/>
                </a:solidFill>
                <a:latin typeface="Arial"/>
                <a:ea typeface="Arial"/>
                <a:cs typeface="Arial"/>
              </a:rPr>
              <a:t>Gündüz–gecə fərqi</a:t>
            </a:r>
          </a:p>
        </p:txBody>
      </p:sp>
      <p:sp>
        <p:nvSpPr>
          <p:cNvPr id="7" name="">
            <a:extLst xmlns:a="http://schemas.openxmlformats.org/drawingml/2006/main">
              <a:ext uri="{FF2B5EF4-FFF2-40B4-BE49-F238E27FC236}">
                <a16:creationId xmlns:a16="http://schemas.microsoft.com/office/drawing/2014/main" id="{3B3E729E-C9A3-4C91-A728-A8E5C6874BC3}"/>
              </a:ext>
            </a:extLst>
          </p:cNvPr>
          <p:cNvSpPr>
            <a:spLocks xmlns:a="http://schemas.openxmlformats.org/drawingml/2006/main" noGrp="1"/>
          </p:cNvSpPr>
          <p:nvPr/>
        </p:nvSpPr>
        <p:spPr>
          <a:xfrm xmlns:a="http://schemas.openxmlformats.org/drawingml/2006/main">
            <a:off x="8639175" y="4371975"/>
            <a:ext cx="29432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D6575"/>
                </a:solidFill>
                <a:latin typeface="Arial"/>
                <a:ea typeface="Arial"/>
                <a:cs typeface="Arial"/>
              </a:defRPr>
            </a:defPPr>
          </a:lstStyle>
          <a:p xmlns:a="http://schemas.openxmlformats.org/drawingml/2006/main">
            <a:pPr>
              <a:buNone/>
              <a:defRPr sz="1875" b="0">
                <a:solidFill>
                  <a:srgbClr val="4D6575"/>
                </a:solidFill>
                <a:latin typeface="Arial"/>
                <a:ea typeface="Arial"/>
                <a:cs typeface="Arial"/>
              </a:defRPr>
            </a:pPr>
            <a:r>
              <a:rPr sz="1875" b="0">
                <a:solidFill>
                  <a:srgbClr val="4D6575"/>
                </a:solidFill>
                <a:latin typeface="Arial"/>
                <a:ea typeface="Arial"/>
                <a:cs typeface="Arial"/>
              </a:rPr>
              <a:t>Əhatə:</a:t>
            </a:r>
          </a:p>
          <a:p xmlns:a="http://schemas.openxmlformats.org/drawingml/2006/main">
            <a:pPr>
              <a:buNone/>
              <a:defRPr sz="1875" b="0">
                <a:solidFill>
                  <a:srgbClr val="4D6575"/>
                </a:solidFill>
                <a:latin typeface="Arial"/>
                <a:ea typeface="Arial"/>
                <a:cs typeface="Arial"/>
              </a:defRPr>
            </a:pPr>
            <a:r>
              <a:rPr sz="1875" b="0">
                <a:solidFill>
                  <a:srgbClr val="4D6575"/>
                </a:solidFill>
                <a:latin typeface="Arial"/>
                <a:ea typeface="Arial"/>
                <a:cs typeface="Arial"/>
              </a:rPr>
              <a:t>DAY 99,8%</a:t>
            </a:r>
          </a:p>
          <a:p xmlns:a="http://schemas.openxmlformats.org/drawingml/2006/main">
            <a:pPr>
              <a:buNone/>
              <a:defRPr sz="1875" b="0">
                <a:solidFill>
                  <a:srgbClr val="4D6575"/>
                </a:solidFill>
                <a:latin typeface="Arial"/>
                <a:ea typeface="Arial"/>
                <a:cs typeface="Arial"/>
              </a:defRPr>
            </a:pPr>
            <a:r>
              <a:rPr sz="1875" b="0">
                <a:solidFill>
                  <a:srgbClr val="4D6575"/>
                </a:solidFill>
                <a:latin typeface="Arial"/>
                <a:ea typeface="Arial"/>
                <a:cs typeface="Arial"/>
              </a:rPr>
              <a:t>EVE 99,7%</a:t>
            </a:r>
          </a:p>
          <a:p xmlns:a="http://schemas.openxmlformats.org/drawingml/2006/main">
            <a:pPr>
              <a:buNone/>
              <a:defRPr sz="1875" b="0">
                <a:solidFill>
                  <a:srgbClr val="4D6575"/>
                </a:solidFill>
                <a:latin typeface="Arial"/>
                <a:ea typeface="Arial"/>
                <a:cs typeface="Arial"/>
              </a:defRPr>
            </a:pPr>
            <a:r>
              <a:rPr sz="1875" b="0">
                <a:solidFill>
                  <a:srgbClr val="4D6575"/>
                </a:solidFill>
                <a:latin typeface="Arial"/>
                <a:ea typeface="Arial"/>
                <a:cs typeface="Arial"/>
              </a:rPr>
              <a:t>NGT 99,7%</a:t>
            </a:r>
          </a:p>
        </p:txBody>
      </p:sp>
      <p:sp>
        <p:nvSpPr>
          <p:cNvPr id="8" name="">
            <a:extLst xmlns:a="http://schemas.openxmlformats.org/drawingml/2006/main">
              <a:ext uri="{FF2B5EF4-FFF2-40B4-BE49-F238E27FC236}">
                <a16:creationId xmlns:a16="http://schemas.microsoft.com/office/drawing/2014/main" id="{59C987EC-EB11-49FC-9C15-F711C1C80BC2}"/>
              </a:ext>
            </a:extLst>
          </p:cNvPr>
          <p:cNvSpPr>
            <a:spLocks xmlns:a="http://schemas.openxmlformats.org/drawingml/2006/main" noGrp="1"/>
          </p:cNvSpPr>
          <p:nvPr/>
        </p:nvSpPr>
        <p:spPr>
          <a:xfrm xmlns:a="http://schemas.openxmlformats.org/drawingml/2006/main">
            <a:off x="609600" y="59912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D6575"/>
                </a:solidFill>
                <a:latin typeface="Arial"/>
                <a:ea typeface="Arial"/>
                <a:cs typeface="Arial"/>
              </a:defRPr>
            </a:defPPr>
          </a:lstStyle>
          <a:p xmlns:a="http://schemas.openxmlformats.org/drawingml/2006/main">
            <a:pPr>
              <a:buNone/>
              <a:defRPr sz="1725" b="0">
                <a:solidFill>
                  <a:srgbClr val="4D6575"/>
                </a:solidFill>
                <a:latin typeface="Arial"/>
                <a:ea typeface="Arial"/>
                <a:cs typeface="Arial"/>
              </a:defRPr>
            </a:pPr>
            <a:r>
              <a:rPr sz="1725" b="0">
                <a:solidFill>
                  <a:srgbClr val="4D6575"/>
                </a:solidFill>
                <a:latin typeface="Arial"/>
                <a:ea typeface="Arial"/>
                <a:cs typeface="Arial"/>
              </a:rPr>
              <a:t>Bu bir günlük nəticədir. Bütün şəhər üzrə ümumiləşdirmə aparılmır.</a:t>
            </a:r>
          </a:p>
        </p:txBody>
      </p:sp>
    </p:spTree>
    <p:extLst>
      <p:ext uri="{BB962C8B-B14F-4D97-AF65-F5344CB8AC3E}">
        <p14:creationId xmlns:p14="http://schemas.microsoft.com/office/powerpoint/2010/main" val="645816685"/>
      </p:ext>
    </p:extLst>
  </p:cSld>
</p:sld>
</file>

<file path=ppt/slides/slide11.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465D3E7-9937-4193-B3C6-5B4525B29F25}"/>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buNone/>
              <a:defRPr sz="3225" b="1">
                <a:solidFill>
                  <a:srgbClr val="14334A"/>
                </a:solidFill>
                <a:latin typeface="Arial"/>
                <a:ea typeface="Arial"/>
                <a:cs typeface="Arial"/>
              </a:defRPr>
            </a:pPr>
            <a:r>
              <a:rPr sz="3225" b="1">
                <a:solidFill>
                  <a:srgbClr val="14334A"/>
                </a:solidFill>
                <a:latin typeface="Arial"/>
                <a:ea typeface="Arial"/>
                <a:cs typeface="Arial"/>
              </a:rPr>
              <a:t>Nəticə ilə birlikdə məlumatın keyfiyyəti</a:t>
            </a:r>
          </a:p>
        </p:txBody>
      </p:sp>
      <p:sp>
        <p:nvSpPr>
          <p:cNvPr id="2" name="">
            <a:extLst xmlns:a="http://schemas.openxmlformats.org/drawingml/2006/main">
              <a:ext uri="{FF2B5EF4-FFF2-40B4-BE49-F238E27FC236}">
                <a16:creationId xmlns:a16="http://schemas.microsoft.com/office/drawing/2014/main" id="{991EDF2B-97D4-478F-A049-2E647C7806E4}"/>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buNone/>
              <a:defRPr sz="1125" b="0">
                <a:solidFill>
                  <a:srgbClr val="4D6575"/>
                </a:solidFill>
                <a:latin typeface="Arial"/>
                <a:ea typeface="Arial"/>
                <a:cs typeface="Arial"/>
              </a:defRPr>
            </a:pPr>
            <a:r>
              <a:rPr sz="1125" b="0">
                <a:solidFill>
                  <a:srgbClr val="4D6575"/>
                </a:solidFill>
                <a:latin typeface="Arial"/>
                <a:ea typeface="Arial"/>
                <a:cs typeface="Arial"/>
              </a:rPr>
              <a:t>11 / 18</a:t>
            </a:r>
          </a:p>
        </p:txBody>
      </p:sp>
      <p:pic>
        <p:nvPicPr>
          <p:cNvPr id="3" name="">
            <a:extLst xmlns:a="http://schemas.openxmlformats.org/drawingml/2006/main">
              <a:ext uri="{FF2B5EF4-FFF2-40B4-BE49-F238E27FC236}">
                <a16:creationId xmlns:a16="http://schemas.microsoft.com/office/drawing/2014/main" id="{D53CA9BA-2BF8-4174-8E00-97B41CAD3934}"/>
              </a:ext>
            </a:extLst>
          </p:cNvPr>
          <p:cNvPicPr>
            <a:picLocks xmlns:a="http://schemas.openxmlformats.org/drawingml/2006/main" noChangeAspect="1"/>
          </p:cNvPicPr>
          <p:nvPr/>
        </p:nvPicPr>
        <p:blipFill>
          <a:blip xmlns:r="http://schemas.openxmlformats.org/officeDocument/2006/relationships" xmlns:a="http://schemas.openxmlformats.org/drawingml/2006/main" r:embed="R967a1f5942e54cd9"/>
          <a:stretch xmlns:a="http://schemas.openxmlformats.org/drawingml/2006/main"/>
        </p:blipFill>
        <p:spPr>
          <a:xfrm xmlns:a="http://schemas.openxmlformats.org/drawingml/2006/main">
            <a:off x="609600" y="1496703"/>
            <a:ext cx="10972800" cy="314069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DD9C869-8DE1-43CD-AEB7-3CAA1541590D}"/>
              </a:ext>
            </a:extLst>
          </p:cNvPr>
          <p:cNvSpPr>
            <a:spLocks xmlns:a="http://schemas.openxmlformats.org/drawingml/2006/main" noGrp="1"/>
          </p:cNvSpPr>
          <p:nvPr/>
        </p:nvSpPr>
        <p:spPr>
          <a:xfrm xmlns:a="http://schemas.openxmlformats.org/drawingml/2006/main">
            <a:off x="609600" y="4953000"/>
            <a:ext cx="5257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75" b="1">
                <a:solidFill>
                  <a:srgbClr val="008F95"/>
                </a:solidFill>
                <a:latin typeface="Arial"/>
                <a:ea typeface="Arial"/>
                <a:cs typeface="Arial"/>
              </a:defRPr>
            </a:defPPr>
          </a:lstStyle>
          <a:p xmlns:a="http://schemas.openxmlformats.org/drawingml/2006/main">
            <a:pPr>
              <a:buNone/>
              <a:defRPr sz="4275" b="1">
                <a:solidFill>
                  <a:srgbClr val="008F95"/>
                </a:solidFill>
                <a:latin typeface="Arial"/>
                <a:ea typeface="Arial"/>
                <a:cs typeface="Arial"/>
              </a:defRPr>
            </a:pPr>
            <a:r>
              <a:rPr sz="4275" b="1">
                <a:solidFill>
                  <a:srgbClr val="008F95"/>
                </a:solidFill>
                <a:latin typeface="Arial"/>
                <a:ea typeface="Arial"/>
                <a:cs typeface="Arial"/>
              </a:rPr>
              <a:t>312 / 312</a:t>
            </a:r>
          </a:p>
        </p:txBody>
      </p:sp>
      <p:sp>
        <p:nvSpPr>
          <p:cNvPr id="5" name="">
            <a:extLst xmlns:a="http://schemas.openxmlformats.org/drawingml/2006/main">
              <a:ext uri="{FF2B5EF4-FFF2-40B4-BE49-F238E27FC236}">
                <a16:creationId xmlns:a16="http://schemas.microsoft.com/office/drawing/2014/main" id="{82207D4B-239C-43D5-803B-479DF8804527}"/>
              </a:ext>
            </a:extLst>
          </p:cNvPr>
          <p:cNvSpPr>
            <a:spLocks xmlns:a="http://schemas.openxmlformats.org/drawingml/2006/main" noGrp="1"/>
          </p:cNvSpPr>
          <p:nvPr/>
        </p:nvSpPr>
        <p:spPr>
          <a:xfrm xmlns:a="http://schemas.openxmlformats.org/drawingml/2006/main">
            <a:off x="609600" y="5876925"/>
            <a:ext cx="5391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334A"/>
                </a:solidFill>
                <a:latin typeface="Arial"/>
                <a:ea typeface="Arial"/>
                <a:cs typeface="Arial"/>
              </a:defRPr>
            </a:defPPr>
          </a:lstStyle>
          <a:p xmlns:a="http://schemas.openxmlformats.org/drawingml/2006/main">
            <a:pPr>
              <a:buNone/>
              <a:defRPr sz="1800" b="0">
                <a:solidFill>
                  <a:srgbClr val="14334A"/>
                </a:solidFill>
                <a:latin typeface="Arial"/>
                <a:ea typeface="Arial"/>
                <a:cs typeface="Arial"/>
              </a:defRPr>
            </a:pPr>
            <a:r>
              <a:rPr sz="1800" b="0">
                <a:solidFill>
                  <a:srgbClr val="14334A"/>
                </a:solidFill>
                <a:latin typeface="Arial"/>
                <a:ea typeface="Arial"/>
                <a:cs typeface="Arial"/>
              </a:rPr>
              <a:t>T11-də dB(A) olan pəncərə</a:t>
            </a:r>
          </a:p>
        </p:txBody>
      </p:sp>
      <p:sp>
        <p:nvSpPr>
          <p:cNvPr id="6" name="">
            <a:extLst xmlns:a="http://schemas.openxmlformats.org/drawingml/2006/main">
              <a:ext uri="{FF2B5EF4-FFF2-40B4-BE49-F238E27FC236}">
                <a16:creationId xmlns:a16="http://schemas.microsoft.com/office/drawing/2014/main" id="{98F974A2-DA12-44EE-ADD2-9EE1B530C8F7}"/>
              </a:ext>
            </a:extLst>
          </p:cNvPr>
          <p:cNvSpPr>
            <a:spLocks xmlns:a="http://schemas.openxmlformats.org/drawingml/2006/main" noGrp="1"/>
          </p:cNvSpPr>
          <p:nvPr/>
        </p:nvSpPr>
        <p:spPr>
          <a:xfrm xmlns:a="http://schemas.openxmlformats.org/drawingml/2006/main">
            <a:off x="6972300" y="4953000"/>
            <a:ext cx="45815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75" b="1">
                <a:solidFill>
                  <a:srgbClr val="EE785C"/>
                </a:solidFill>
                <a:latin typeface="Arial"/>
                <a:ea typeface="Arial"/>
                <a:cs typeface="Arial"/>
              </a:defRPr>
            </a:defPPr>
          </a:lstStyle>
          <a:p xmlns:a="http://schemas.openxmlformats.org/drawingml/2006/main">
            <a:pPr>
              <a:buNone/>
              <a:defRPr sz="4275" b="1">
                <a:solidFill>
                  <a:srgbClr val="EE785C"/>
                </a:solidFill>
                <a:latin typeface="Arial"/>
                <a:ea typeface="Arial"/>
                <a:cs typeface="Arial"/>
              </a:defRPr>
            </a:pPr>
            <a:r>
              <a:rPr sz="4275" b="1">
                <a:solidFill>
                  <a:srgbClr val="EE785C"/>
                </a:solidFill>
                <a:latin typeface="Arial"/>
                <a:ea typeface="Arial"/>
                <a:cs typeface="Arial"/>
              </a:rPr>
              <a:t>99–100%</a:t>
            </a:r>
          </a:p>
        </p:txBody>
      </p:sp>
      <p:sp>
        <p:nvSpPr>
          <p:cNvPr id="7" name="">
            <a:extLst xmlns:a="http://schemas.openxmlformats.org/drawingml/2006/main">
              <a:ext uri="{FF2B5EF4-FFF2-40B4-BE49-F238E27FC236}">
                <a16:creationId xmlns:a16="http://schemas.microsoft.com/office/drawing/2014/main" id="{2BED689D-6F18-428F-A5B8-6C6D1D9EA24E}"/>
              </a:ext>
            </a:extLst>
          </p:cNvPr>
          <p:cNvSpPr>
            <a:spLocks xmlns:a="http://schemas.openxmlformats.org/drawingml/2006/main" noGrp="1"/>
          </p:cNvSpPr>
          <p:nvPr/>
        </p:nvSpPr>
        <p:spPr>
          <a:xfrm xmlns:a="http://schemas.openxmlformats.org/drawingml/2006/main">
            <a:off x="6972300" y="5876925"/>
            <a:ext cx="4581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334A"/>
                </a:solidFill>
                <a:latin typeface="Arial"/>
                <a:ea typeface="Arial"/>
                <a:cs typeface="Arial"/>
              </a:defRPr>
            </a:defPPr>
          </a:lstStyle>
          <a:p xmlns:a="http://schemas.openxmlformats.org/drawingml/2006/main">
            <a:pPr>
              <a:buNone/>
              <a:defRPr sz="1800" b="0">
                <a:solidFill>
                  <a:srgbClr val="14334A"/>
                </a:solidFill>
                <a:latin typeface="Arial"/>
                <a:ea typeface="Arial"/>
                <a:cs typeface="Arial"/>
              </a:defRPr>
            </a:pPr>
            <a:r>
              <a:rPr sz="1800" b="0">
                <a:solidFill>
                  <a:srgbClr val="14334A"/>
                </a:solidFill>
                <a:latin typeface="Arial"/>
                <a:ea typeface="Arial"/>
                <a:cs typeface="Arial"/>
              </a:rPr>
              <a:t>T11-də etibarlı audio · kliplər: 0</a:t>
            </a:r>
          </a:p>
        </p:txBody>
      </p:sp>
    </p:spTree>
    <p:extLst>
      <p:ext uri="{BB962C8B-B14F-4D97-AF65-F5344CB8AC3E}">
        <p14:creationId xmlns:p14="http://schemas.microsoft.com/office/powerpoint/2010/main" val="1593869646"/>
      </p:ext>
    </p:extLst>
  </p:cSld>
</p:sld>
</file>

<file path=ppt/slides/slide12.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24003CD-BBCD-4BD6-8D36-FD5F25832AC7}"/>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buNone/>
              <a:defRPr sz="3225" b="1">
                <a:solidFill>
                  <a:srgbClr val="14334A"/>
                </a:solidFill>
                <a:latin typeface="Arial"/>
                <a:ea typeface="Arial"/>
                <a:cs typeface="Arial"/>
              </a:defRPr>
            </a:pPr>
            <a:r>
              <a:rPr sz="3225" b="1">
                <a:solidFill>
                  <a:srgbClr val="14334A"/>
                </a:solidFill>
                <a:latin typeface="Arial"/>
                <a:ea typeface="Arial"/>
                <a:cs typeface="Arial"/>
              </a:rPr>
              <a:t>Bir nöqtədən müşahidə şəbəkəsinə</a:t>
            </a:r>
          </a:p>
        </p:txBody>
      </p:sp>
      <p:sp>
        <p:nvSpPr>
          <p:cNvPr id="2" name="">
            <a:extLst xmlns:a="http://schemas.openxmlformats.org/drawingml/2006/main">
              <a:ext uri="{FF2B5EF4-FFF2-40B4-BE49-F238E27FC236}">
                <a16:creationId xmlns:a16="http://schemas.microsoft.com/office/drawing/2014/main" id="{2DB67733-72AF-4E3C-B444-D2F23BB17AF0}"/>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buNone/>
              <a:defRPr sz="1125" b="0">
                <a:solidFill>
                  <a:srgbClr val="4D6575"/>
                </a:solidFill>
                <a:latin typeface="Arial"/>
                <a:ea typeface="Arial"/>
                <a:cs typeface="Arial"/>
              </a:defRPr>
            </a:pPr>
            <a:r>
              <a:rPr sz="1125" b="0">
                <a:solidFill>
                  <a:srgbClr val="4D6575"/>
                </a:solidFill>
                <a:latin typeface="Arial"/>
                <a:ea typeface="Arial"/>
                <a:cs typeface="Arial"/>
              </a:rPr>
              <a:t>12 / 18</a:t>
            </a:r>
          </a:p>
        </p:txBody>
      </p:sp>
      <p:pic>
        <p:nvPicPr>
          <p:cNvPr id="3" name="">
            <a:extLst xmlns:a="http://schemas.openxmlformats.org/drawingml/2006/main">
              <a:ext uri="{FF2B5EF4-FFF2-40B4-BE49-F238E27FC236}">
                <a16:creationId xmlns:a16="http://schemas.microsoft.com/office/drawing/2014/main" id="{67426941-A5CA-4DF0-B63A-0E11FF0FBE17}"/>
              </a:ext>
            </a:extLst>
          </p:cNvPr>
          <p:cNvPicPr>
            <a:picLocks xmlns:a="http://schemas.openxmlformats.org/drawingml/2006/main" noChangeAspect="1"/>
          </p:cNvPicPr>
          <p:nvPr/>
        </p:nvPicPr>
        <p:blipFill>
          <a:blip xmlns:r="http://schemas.openxmlformats.org/officeDocument/2006/relationships" xmlns:a="http://schemas.openxmlformats.org/drawingml/2006/main" r:embed="R005aa4f029d9469f"/>
          <a:stretch xmlns:a="http://schemas.openxmlformats.org/drawingml/2006/main"/>
        </p:blipFill>
        <p:spPr>
          <a:xfrm xmlns:a="http://schemas.openxmlformats.org/drawingml/2006/main">
            <a:off x="6467475" y="1804691"/>
            <a:ext cx="5114925" cy="342959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216043D-CFCD-4F89-ADF8-C262C24E1690}"/>
              </a:ext>
            </a:extLst>
          </p:cNvPr>
          <p:cNvSpPr>
            <a:spLocks xmlns:a="http://schemas.openxmlformats.org/drawingml/2006/main" noGrp="1"/>
          </p:cNvSpPr>
          <p:nvPr/>
        </p:nvSpPr>
        <p:spPr>
          <a:xfrm xmlns:a="http://schemas.openxmlformats.org/drawingml/2006/main">
            <a:off x="609600" y="1704975"/>
            <a:ext cx="5343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008F95"/>
                </a:solidFill>
                <a:latin typeface="Arial"/>
                <a:ea typeface="Arial"/>
                <a:cs typeface="Arial"/>
              </a:defRPr>
            </a:defPPr>
          </a:lstStyle>
          <a:p xmlns:a="http://schemas.openxmlformats.org/drawingml/2006/main">
            <a:pPr>
              <a:buNone/>
              <a:defRPr sz="2925" b="1">
                <a:solidFill>
                  <a:srgbClr val="008F95"/>
                </a:solidFill>
                <a:latin typeface="Arial"/>
                <a:ea typeface="Arial"/>
                <a:cs typeface="Arial"/>
              </a:defRPr>
            </a:pPr>
            <a:r>
              <a:rPr sz="2925" b="1">
                <a:solidFill>
                  <a:srgbClr val="008F95"/>
                </a:solidFill>
                <a:latin typeface="Arial"/>
                <a:ea typeface="Arial"/>
                <a:cs typeface="Arial"/>
              </a:rPr>
              <a:t>Hazırda</a:t>
            </a:r>
          </a:p>
        </p:txBody>
      </p:sp>
      <p:sp>
        <p:nvSpPr>
          <p:cNvPr id="5" name="">
            <a:extLst xmlns:a="http://schemas.openxmlformats.org/drawingml/2006/main">
              <a:ext uri="{FF2B5EF4-FFF2-40B4-BE49-F238E27FC236}">
                <a16:creationId xmlns:a16="http://schemas.microsoft.com/office/drawing/2014/main" id="{4E3ABD8F-59BD-41CE-9F0A-710B1218BFD6}"/>
              </a:ext>
            </a:extLst>
          </p:cNvPr>
          <p:cNvSpPr>
            <a:spLocks xmlns:a="http://schemas.openxmlformats.org/drawingml/2006/main" noGrp="1"/>
          </p:cNvSpPr>
          <p:nvPr/>
        </p:nvSpPr>
        <p:spPr>
          <a:xfrm xmlns:a="http://schemas.openxmlformats.org/drawingml/2006/main">
            <a:off x="609600" y="2428875"/>
            <a:ext cx="53530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buNone/>
              <a:defRPr sz="2250" b="0">
                <a:solidFill>
                  <a:srgbClr val="14334A"/>
                </a:solidFill>
                <a:latin typeface="Arial"/>
                <a:ea typeface="Arial"/>
                <a:cs typeface="Arial"/>
              </a:defRPr>
            </a:pPr>
            <a:r>
              <a:rPr sz="2250" b="0">
                <a:solidFill>
                  <a:srgbClr val="14334A"/>
                </a:solidFill>
                <a:latin typeface="Arial"/>
                <a:ea typeface="Arial"/>
                <a:cs typeface="Arial"/>
              </a:rPr>
              <a:t>Saxlanmış GPS koordinatı</a:t>
            </a:r>
          </a:p>
          <a:p xmlns:a="http://schemas.openxmlformats.org/drawingml/2006/main">
            <a:pPr>
              <a:buNone/>
              <a:defRPr sz="2250" b="0">
                <a:solidFill>
                  <a:srgbClr val="14334A"/>
                </a:solidFill>
                <a:latin typeface="Arial"/>
                <a:ea typeface="Arial"/>
                <a:cs typeface="Arial"/>
              </a:defRPr>
            </a:pPr>
            <a:r>
              <a:rPr sz="2250" b="0">
                <a:solidFill>
                  <a:srgbClr val="14334A"/>
                </a:solidFill>
                <a:latin typeface="Arial"/>
                <a:ea typeface="Arial"/>
                <a:cs typeface="Arial"/>
              </a:rPr>
              <a:t>Zaman üzrə DAY / EVE / NGT</a:t>
            </a:r>
          </a:p>
        </p:txBody>
      </p:sp>
      <p:sp>
        <p:nvSpPr>
          <p:cNvPr id="6" name="">
            <a:extLst xmlns:a="http://schemas.openxmlformats.org/drawingml/2006/main">
              <a:ext uri="{FF2B5EF4-FFF2-40B4-BE49-F238E27FC236}">
                <a16:creationId xmlns:a16="http://schemas.microsoft.com/office/drawing/2014/main" id="{4FA4058A-E4DD-4B63-8334-DB3EF74481A5}"/>
              </a:ext>
            </a:extLst>
          </p:cNvPr>
          <p:cNvSpPr>
            <a:spLocks xmlns:a="http://schemas.openxmlformats.org/drawingml/2006/main" noGrp="1"/>
          </p:cNvSpPr>
          <p:nvPr/>
        </p:nvSpPr>
        <p:spPr>
          <a:xfrm xmlns:a="http://schemas.openxmlformats.org/drawingml/2006/main">
            <a:off x="609600" y="3743325"/>
            <a:ext cx="5343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EE785C"/>
                </a:solidFill>
                <a:latin typeface="Arial"/>
                <a:ea typeface="Arial"/>
                <a:cs typeface="Arial"/>
              </a:defRPr>
            </a:defPPr>
          </a:lstStyle>
          <a:p xmlns:a="http://schemas.openxmlformats.org/drawingml/2006/main">
            <a:pPr>
              <a:buNone/>
              <a:defRPr sz="2925" b="1">
                <a:solidFill>
                  <a:srgbClr val="EE785C"/>
                </a:solidFill>
                <a:latin typeface="Arial"/>
                <a:ea typeface="Arial"/>
                <a:cs typeface="Arial"/>
              </a:defRPr>
            </a:pPr>
            <a:r>
              <a:rPr sz="2925" b="1">
                <a:solidFill>
                  <a:srgbClr val="EE785C"/>
                </a:solidFill>
                <a:latin typeface="Arial"/>
                <a:ea typeface="Arial"/>
                <a:cs typeface="Arial"/>
              </a:rPr>
              <a:t>Gələcəkdə</a:t>
            </a:r>
          </a:p>
        </p:txBody>
      </p:sp>
      <p:sp>
        <p:nvSpPr>
          <p:cNvPr id="7" name="">
            <a:extLst xmlns:a="http://schemas.openxmlformats.org/drawingml/2006/main">
              <a:ext uri="{FF2B5EF4-FFF2-40B4-BE49-F238E27FC236}">
                <a16:creationId xmlns:a16="http://schemas.microsoft.com/office/drawing/2014/main" id="{8FD76093-9C1D-419C-A50A-11260A19A13F}"/>
              </a:ext>
            </a:extLst>
          </p:cNvPr>
          <p:cNvSpPr>
            <a:spLocks xmlns:a="http://schemas.openxmlformats.org/drawingml/2006/main" noGrp="1"/>
          </p:cNvSpPr>
          <p:nvPr/>
        </p:nvSpPr>
        <p:spPr>
          <a:xfrm xmlns:a="http://schemas.openxmlformats.org/drawingml/2006/main">
            <a:off x="609600" y="4467225"/>
            <a:ext cx="53530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buNone/>
              <a:defRPr sz="2250" b="0">
                <a:solidFill>
                  <a:srgbClr val="14334A"/>
                </a:solidFill>
                <a:latin typeface="Arial"/>
                <a:ea typeface="Arial"/>
                <a:cs typeface="Arial"/>
              </a:defRPr>
            </a:pPr>
            <a:r>
              <a:rPr sz="2250" b="0">
                <a:solidFill>
                  <a:srgbClr val="14334A"/>
                </a:solidFill>
                <a:latin typeface="Arial"/>
                <a:ea typeface="Arial"/>
                <a:cs typeface="Arial"/>
              </a:rPr>
              <a:t>Bir neçə kalibrasiya edilmiş stansiya</a:t>
            </a:r>
          </a:p>
          <a:p xmlns:a="http://schemas.openxmlformats.org/drawingml/2006/main">
            <a:pPr>
              <a:buNone/>
              <a:defRPr sz="2250" b="0">
                <a:solidFill>
                  <a:srgbClr val="14334A"/>
                </a:solidFill>
                <a:latin typeface="Arial"/>
                <a:ea typeface="Arial"/>
                <a:cs typeface="Arial"/>
              </a:defRPr>
            </a:pPr>
            <a:r>
              <a:rPr sz="2250" b="0">
                <a:solidFill>
                  <a:srgbClr val="14334A"/>
                </a:solidFill>
                <a:latin typeface="Arial"/>
                <a:ea typeface="Arial"/>
                <a:cs typeface="Arial"/>
              </a:rPr>
              <a:t>Müqayisə olunan ölçmələr və xəritə</a:t>
            </a:r>
          </a:p>
        </p:txBody>
      </p:sp>
      <p:sp>
        <p:nvSpPr>
          <p:cNvPr id="8" name="">
            <a:extLst xmlns:a="http://schemas.openxmlformats.org/drawingml/2006/main">
              <a:ext uri="{FF2B5EF4-FFF2-40B4-BE49-F238E27FC236}">
                <a16:creationId xmlns:a16="http://schemas.microsoft.com/office/drawing/2014/main" id="{FDA9AA18-29E0-4B88-801E-09ECF18C0E9F}"/>
              </a:ext>
            </a:extLst>
          </p:cNvPr>
          <p:cNvSpPr>
            <a:spLocks xmlns:a="http://schemas.openxmlformats.org/drawingml/2006/main" noGrp="1"/>
          </p:cNvSpPr>
          <p:nvPr/>
        </p:nvSpPr>
        <p:spPr>
          <a:xfrm xmlns:a="http://schemas.openxmlformats.org/drawingml/2006/main">
            <a:off x="609600" y="600075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D6575"/>
                </a:solidFill>
                <a:latin typeface="Arial"/>
                <a:ea typeface="Arial"/>
                <a:cs typeface="Arial"/>
              </a:defRPr>
            </a:defPPr>
          </a:lstStyle>
          <a:p xmlns:a="http://schemas.openxmlformats.org/drawingml/2006/main">
            <a:pPr>
              <a:buNone/>
              <a:defRPr sz="1800" b="0">
                <a:solidFill>
                  <a:srgbClr val="4D6575"/>
                </a:solidFill>
                <a:latin typeface="Arial"/>
                <a:ea typeface="Arial"/>
                <a:cs typeface="Arial"/>
              </a:defRPr>
            </a:pPr>
            <a:r>
              <a:rPr sz="1800" b="0">
                <a:solidFill>
                  <a:srgbClr val="4D6575"/>
                </a:solidFill>
                <a:latin typeface="Arial"/>
                <a:ea typeface="Arial"/>
                <a:cs typeface="Arial"/>
              </a:rPr>
              <a:t>Xəritə pilot məkanı göstərir. Şəhər səs xəritəsi gələcək mərhələdir.</a:t>
            </a:r>
          </a:p>
        </p:txBody>
      </p:sp>
    </p:spTree>
    <p:extLst>
      <p:ext uri="{BB962C8B-B14F-4D97-AF65-F5344CB8AC3E}">
        <p14:creationId xmlns:p14="http://schemas.microsoft.com/office/powerpoint/2010/main" val="99812601"/>
      </p:ext>
    </p:extLst>
  </p:cSld>
</p:sld>
</file>

<file path=ppt/slides/slide13.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C645F5-AB87-4EE5-BA0D-2C6C8043A298}"/>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buNone/>
              <a:defRPr sz="1125" b="0">
                <a:solidFill>
                  <a:srgbClr val="BADEE2"/>
                </a:solidFill>
                <a:latin typeface="Arial"/>
                <a:ea typeface="Arial"/>
                <a:cs typeface="Arial"/>
              </a:defRPr>
            </a:pPr>
            <a:r>
              <a:rPr sz="1125" b="0">
                <a:solidFill>
                  <a:srgbClr val="BADEE2"/>
                </a:solidFill>
                <a:latin typeface="Arial"/>
                <a:ea typeface="Arial"/>
                <a:cs typeface="Arial"/>
              </a:rPr>
              <a:t>13 / 18</a:t>
            </a:r>
          </a:p>
        </p:txBody>
      </p:sp>
      <p:pic>
        <p:nvPicPr>
          <p:cNvPr id="2" name="">
            <a:extLst xmlns:a="http://schemas.openxmlformats.org/drawingml/2006/main">
              <a:ext uri="{FF2B5EF4-FFF2-40B4-BE49-F238E27FC236}">
                <a16:creationId xmlns:a16="http://schemas.microsoft.com/office/drawing/2014/main" id="{5A308E58-2883-44DD-ACE3-678AD2CA08A6}"/>
              </a:ext>
            </a:extLst>
          </p:cNvPr>
          <p:cNvPicPr>
            <a:picLocks xmlns:a="http://schemas.openxmlformats.org/drawingml/2006/main" noChangeAspect="1"/>
          </p:cNvPicPr>
          <p:nvPr/>
        </p:nvPicPr>
        <p:blipFill>
          <a:blip xmlns:r="http://schemas.openxmlformats.org/officeDocument/2006/relationships" xmlns:a="http://schemas.openxmlformats.org/drawingml/2006/main" r:embed="R05b1b7dc1ca74743"/>
          <a:stretch xmlns:a="http://schemas.openxmlformats.org/drawingml/2006/main"/>
        </p:blipFill>
        <p:spPr>
          <a:xfrm xmlns:a="http://schemas.openxmlformats.org/drawingml/2006/main">
            <a:off x="5314950" y="1570001"/>
            <a:ext cx="6877050" cy="387039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0322808-43EB-41EF-9282-AC416833BFF7}"/>
              </a:ext>
            </a:extLst>
          </p:cNvPr>
          <p:cNvSpPr>
            <a:spLocks xmlns:a="http://schemas.openxmlformats.org/drawingml/2006/main" noGrp="1"/>
          </p:cNvSpPr>
          <p:nvPr/>
        </p:nvSpPr>
        <p:spPr>
          <a:xfrm xmlns:a="http://schemas.openxmlformats.org/drawingml/2006/main">
            <a:off x="609600" y="771525"/>
            <a:ext cx="44291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stStyle>
          <a:p xmlns:a="http://schemas.openxmlformats.org/drawingml/2006/main">
            <a:pPr>
              <a:buNone/>
              <a:defRPr sz="3150" b="1">
                <a:solidFill>
                  <a:srgbClr val="FFFFFF"/>
                </a:solidFill>
                <a:latin typeface="Arial"/>
                <a:ea typeface="Arial"/>
                <a:cs typeface="Arial"/>
              </a:defRPr>
            </a:pPr>
            <a:r>
              <a:rPr sz="3150" b="1">
                <a:solidFill>
                  <a:srgbClr val="FFFFFF"/>
                </a:solidFill>
                <a:latin typeface="Arial"/>
                <a:ea typeface="Arial"/>
                <a:cs typeface="Arial"/>
              </a:rPr>
              <a:t>Məktəb yanında</a:t>
            </a:r>
          </a:p>
          <a:p xmlns:a="http://schemas.openxmlformats.org/drawingml/2006/main">
            <a:pPr>
              <a:buNone/>
              <a:defRPr sz="3150" b="1">
                <a:solidFill>
                  <a:srgbClr val="FFFFFF"/>
                </a:solidFill>
                <a:latin typeface="Arial"/>
                <a:ea typeface="Arial"/>
                <a:cs typeface="Arial"/>
              </a:defRPr>
            </a:pPr>
            <a:r>
              <a:rPr sz="3150" b="1">
                <a:solidFill>
                  <a:srgbClr val="FFFFFF"/>
                </a:solidFill>
                <a:latin typeface="Arial"/>
                <a:ea typeface="Arial"/>
                <a:cs typeface="Arial"/>
              </a:rPr>
              <a:t>səs monitorinqi</a:t>
            </a:r>
          </a:p>
        </p:txBody>
      </p:sp>
      <p:sp>
        <p:nvSpPr>
          <p:cNvPr id="4" name="">
            <a:extLst xmlns:a="http://schemas.openxmlformats.org/drawingml/2006/main">
              <a:ext uri="{FF2B5EF4-FFF2-40B4-BE49-F238E27FC236}">
                <a16:creationId xmlns:a16="http://schemas.microsoft.com/office/drawing/2014/main" id="{75C4DEDA-3E2C-4C85-A6A3-7B385EBB4B8A}"/>
              </a:ext>
            </a:extLst>
          </p:cNvPr>
          <p:cNvSpPr>
            <a:spLocks xmlns:a="http://schemas.openxmlformats.org/drawingml/2006/main" noGrp="1"/>
          </p:cNvSpPr>
          <p:nvPr/>
        </p:nvSpPr>
        <p:spPr>
          <a:xfrm xmlns:a="http://schemas.openxmlformats.org/drawingml/2006/main">
            <a:off x="609600" y="2647950"/>
            <a:ext cx="43910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C857"/>
                </a:solidFill>
                <a:latin typeface="Arial"/>
                <a:ea typeface="Arial"/>
                <a:cs typeface="Arial"/>
              </a:defRPr>
            </a:defPPr>
          </a:lstStyle>
          <a:p xmlns:a="http://schemas.openxmlformats.org/drawingml/2006/main">
            <a:pPr>
              <a:buNone/>
              <a:defRPr sz="2175" b="0">
                <a:solidFill>
                  <a:srgbClr val="FFC857"/>
                </a:solidFill>
                <a:latin typeface="Arial"/>
                <a:ea typeface="Arial"/>
                <a:cs typeface="Arial"/>
              </a:defRPr>
            </a:pPr>
            <a:r>
              <a:rPr sz="2175" b="0">
                <a:solidFill>
                  <a:srgbClr val="FFC857"/>
                </a:solidFill>
                <a:latin typeface="Arial"/>
                <a:ea typeface="Arial"/>
                <a:cs typeface="Arial"/>
              </a:rPr>
              <a:t>Gələcək quraşdırma</a:t>
            </a:r>
          </a:p>
          <a:p xmlns:a="http://schemas.openxmlformats.org/drawingml/2006/main">
            <a:pPr>
              <a:buNone/>
              <a:defRPr sz="2175" b="0">
                <a:solidFill>
                  <a:srgbClr val="FFC857"/>
                </a:solidFill>
                <a:latin typeface="Arial"/>
                <a:ea typeface="Arial"/>
                <a:cs typeface="Arial"/>
              </a:defRPr>
            </a:pPr>
            <a:r>
              <a:rPr sz="2175" b="0">
                <a:solidFill>
                  <a:srgbClr val="FFC857"/>
                </a:solidFill>
                <a:latin typeface="Arial"/>
                <a:ea typeface="Arial"/>
                <a:cs typeface="Arial"/>
              </a:rPr>
              <a:t>konsepti</a:t>
            </a:r>
          </a:p>
        </p:txBody>
      </p:sp>
      <p:sp>
        <p:nvSpPr>
          <p:cNvPr id="5" name="">
            <a:extLst xmlns:a="http://schemas.openxmlformats.org/drawingml/2006/main">
              <a:ext uri="{FF2B5EF4-FFF2-40B4-BE49-F238E27FC236}">
                <a16:creationId xmlns:a16="http://schemas.microsoft.com/office/drawing/2014/main" id="{F806622A-863C-4AA7-ACDE-688A32E2308E}"/>
              </a:ext>
            </a:extLst>
          </p:cNvPr>
          <p:cNvSpPr>
            <a:spLocks xmlns:a="http://schemas.openxmlformats.org/drawingml/2006/main" noGrp="1"/>
          </p:cNvSpPr>
          <p:nvPr/>
        </p:nvSpPr>
        <p:spPr>
          <a:xfrm xmlns:a="http://schemas.openxmlformats.org/drawingml/2006/main">
            <a:off x="609600" y="3943350"/>
            <a:ext cx="43910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FFFF"/>
                </a:solidFill>
                <a:latin typeface="Arial"/>
                <a:ea typeface="Arial"/>
                <a:cs typeface="Arial"/>
              </a:defRPr>
            </a:defPPr>
          </a:lstStyle>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Kiçik günəş paneli</a:t>
            </a:r>
          </a:p>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Qorunan korpus</a:t>
            </a:r>
          </a:p>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Zaman üzrə ölçmələr</a:t>
            </a:r>
          </a:p>
        </p:txBody>
      </p:sp>
      <p:sp>
        <p:nvSpPr>
          <p:cNvPr id="6" name="">
            <a:extLst xmlns:a="http://schemas.openxmlformats.org/drawingml/2006/main">
              <a:ext uri="{FF2B5EF4-FFF2-40B4-BE49-F238E27FC236}">
                <a16:creationId xmlns:a16="http://schemas.microsoft.com/office/drawing/2014/main" id="{A288D7A2-88CE-4FDA-BDD1-C208096B3BC2}"/>
              </a:ext>
            </a:extLst>
          </p:cNvPr>
          <p:cNvSpPr>
            <a:spLocks xmlns:a="http://schemas.openxmlformats.org/drawingml/2006/main" noGrp="1"/>
          </p:cNvSpPr>
          <p:nvPr/>
        </p:nvSpPr>
        <p:spPr>
          <a:xfrm xmlns:a="http://schemas.openxmlformats.org/drawingml/2006/main">
            <a:off x="609600" y="5857875"/>
            <a:ext cx="43910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3DED1"/>
                </a:solidFill>
                <a:latin typeface="Arial"/>
                <a:ea typeface="Arial"/>
                <a:cs typeface="Arial"/>
              </a:defRPr>
            </a:defPPr>
          </a:lstStyle>
          <a:p xmlns:a="http://schemas.openxmlformats.org/drawingml/2006/main">
            <a:pPr>
              <a:buNone/>
              <a:defRPr sz="1575" b="0">
                <a:solidFill>
                  <a:srgbClr val="63DED1"/>
                </a:solidFill>
                <a:latin typeface="Arial"/>
                <a:ea typeface="Arial"/>
                <a:cs typeface="Arial"/>
              </a:defRPr>
            </a:pPr>
            <a:r>
              <a:rPr sz="1575" b="0">
                <a:solidFill>
                  <a:srgbClr val="63DED1"/>
                </a:solidFill>
                <a:latin typeface="Arial"/>
                <a:ea typeface="Arial"/>
                <a:cs typeface="Arial"/>
              </a:rPr>
              <a:t>Süni intellektlə hazırlanmış</a:t>
            </a:r>
          </a:p>
          <a:p xmlns:a="http://schemas.openxmlformats.org/drawingml/2006/main">
            <a:pPr>
              <a:buNone/>
              <a:defRPr sz="1575" b="0">
                <a:solidFill>
                  <a:srgbClr val="63DED1"/>
                </a:solidFill>
                <a:latin typeface="Arial"/>
                <a:ea typeface="Arial"/>
                <a:cs typeface="Arial"/>
              </a:defRPr>
            </a:pPr>
            <a:r>
              <a:rPr sz="1575" b="0">
                <a:solidFill>
                  <a:srgbClr val="63DED1"/>
                </a:solidFill>
                <a:latin typeface="Arial"/>
                <a:ea typeface="Arial"/>
                <a:cs typeface="Arial"/>
              </a:rPr>
              <a:t>illüstrasiya</a:t>
            </a:r>
          </a:p>
        </p:txBody>
      </p:sp>
    </p:spTree>
    <p:extLst>
      <p:ext uri="{BB962C8B-B14F-4D97-AF65-F5344CB8AC3E}">
        <p14:creationId xmlns:p14="http://schemas.microsoft.com/office/powerpoint/2010/main" val="1183787832"/>
      </p:ext>
    </p:extLst>
  </p:cSld>
</p:sld>
</file>

<file path=ppt/slides/slide14.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1B013B-A83E-4ED0-9CBA-BDB4AAB68962}"/>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buNone/>
              <a:defRPr sz="1125" b="0">
                <a:solidFill>
                  <a:srgbClr val="BADEE2"/>
                </a:solidFill>
                <a:latin typeface="Arial"/>
                <a:ea typeface="Arial"/>
                <a:cs typeface="Arial"/>
              </a:defRPr>
            </a:pPr>
            <a:r>
              <a:rPr sz="1125" b="0">
                <a:solidFill>
                  <a:srgbClr val="BADEE2"/>
                </a:solidFill>
                <a:latin typeface="Arial"/>
                <a:ea typeface="Arial"/>
                <a:cs typeface="Arial"/>
              </a:rPr>
              <a:t>14 / 18</a:t>
            </a:r>
          </a:p>
        </p:txBody>
      </p:sp>
      <p:pic>
        <p:nvPicPr>
          <p:cNvPr id="2" name="">
            <a:extLst xmlns:a="http://schemas.openxmlformats.org/drawingml/2006/main">
              <a:ext uri="{FF2B5EF4-FFF2-40B4-BE49-F238E27FC236}">
                <a16:creationId xmlns:a16="http://schemas.microsoft.com/office/drawing/2014/main" id="{F83B5BAD-2EB4-489D-B326-99BB73FDADAF}"/>
              </a:ext>
            </a:extLst>
          </p:cNvPr>
          <p:cNvPicPr>
            <a:picLocks xmlns:a="http://schemas.openxmlformats.org/drawingml/2006/main" noChangeAspect="1"/>
          </p:cNvPicPr>
          <p:nvPr/>
        </p:nvPicPr>
        <p:blipFill>
          <a:blip xmlns:r="http://schemas.openxmlformats.org/officeDocument/2006/relationships" xmlns:a="http://schemas.openxmlformats.org/drawingml/2006/main" r:embed="R4c1e936fe121486c"/>
          <a:stretch xmlns:a="http://schemas.openxmlformats.org/drawingml/2006/main"/>
        </p:blipFill>
        <p:spPr>
          <a:xfrm xmlns:a="http://schemas.openxmlformats.org/drawingml/2006/main">
            <a:off x="5314950" y="1570001"/>
            <a:ext cx="6877050" cy="387039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01502D9-600E-45AF-BC80-2F844EC2E718}"/>
              </a:ext>
            </a:extLst>
          </p:cNvPr>
          <p:cNvSpPr>
            <a:spLocks xmlns:a="http://schemas.openxmlformats.org/drawingml/2006/main" noGrp="1"/>
          </p:cNvSpPr>
          <p:nvPr/>
        </p:nvSpPr>
        <p:spPr>
          <a:xfrm xmlns:a="http://schemas.openxmlformats.org/drawingml/2006/main">
            <a:off x="609600" y="771525"/>
            <a:ext cx="44196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stStyle>
          <a:p xmlns:a="http://schemas.openxmlformats.org/drawingml/2006/main">
            <a:pPr>
              <a:buNone/>
              <a:defRPr sz="3150" b="1">
                <a:solidFill>
                  <a:srgbClr val="FFFFFF"/>
                </a:solidFill>
                <a:latin typeface="Arial"/>
                <a:ea typeface="Arial"/>
                <a:cs typeface="Arial"/>
              </a:defRPr>
            </a:pPr>
            <a:r>
              <a:rPr sz="3150" b="1">
                <a:solidFill>
                  <a:srgbClr val="FFFFFF"/>
                </a:solidFill>
                <a:latin typeface="Arial"/>
                <a:ea typeface="Arial"/>
                <a:cs typeface="Arial"/>
              </a:rPr>
              <a:t>Vokzal ətrafında</a:t>
            </a:r>
          </a:p>
          <a:p xmlns:a="http://schemas.openxmlformats.org/drawingml/2006/main">
            <a:pPr>
              <a:buNone/>
              <a:defRPr sz="3150" b="1">
                <a:solidFill>
                  <a:srgbClr val="FFFFFF"/>
                </a:solidFill>
                <a:latin typeface="Arial"/>
                <a:ea typeface="Arial"/>
                <a:cs typeface="Arial"/>
              </a:defRPr>
            </a:pPr>
            <a:r>
              <a:rPr sz="3150" b="1">
                <a:solidFill>
                  <a:srgbClr val="FFFFFF"/>
                </a:solidFill>
                <a:latin typeface="Arial"/>
                <a:ea typeface="Arial"/>
                <a:cs typeface="Arial"/>
              </a:rPr>
              <a:t>səs monitorinqi</a:t>
            </a:r>
          </a:p>
        </p:txBody>
      </p:sp>
      <p:sp>
        <p:nvSpPr>
          <p:cNvPr id="4" name="">
            <a:extLst xmlns:a="http://schemas.openxmlformats.org/drawingml/2006/main">
              <a:ext uri="{FF2B5EF4-FFF2-40B4-BE49-F238E27FC236}">
                <a16:creationId xmlns:a16="http://schemas.microsoft.com/office/drawing/2014/main" id="{B7206E83-0BC7-46C5-BDD7-C7089F5839CB}"/>
              </a:ext>
            </a:extLst>
          </p:cNvPr>
          <p:cNvSpPr>
            <a:spLocks xmlns:a="http://schemas.openxmlformats.org/drawingml/2006/main" noGrp="1"/>
          </p:cNvSpPr>
          <p:nvPr/>
        </p:nvSpPr>
        <p:spPr>
          <a:xfrm xmlns:a="http://schemas.openxmlformats.org/drawingml/2006/main">
            <a:off x="609600" y="2647950"/>
            <a:ext cx="4419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C857"/>
                </a:solidFill>
                <a:latin typeface="Arial"/>
                <a:ea typeface="Arial"/>
                <a:cs typeface="Arial"/>
              </a:defRPr>
            </a:defPPr>
          </a:lstStyle>
          <a:p xmlns:a="http://schemas.openxmlformats.org/drawingml/2006/main">
            <a:pPr>
              <a:buNone/>
              <a:defRPr sz="2175" b="0">
                <a:solidFill>
                  <a:srgbClr val="FFC857"/>
                </a:solidFill>
                <a:latin typeface="Arial"/>
                <a:ea typeface="Arial"/>
                <a:cs typeface="Arial"/>
              </a:defRPr>
            </a:pPr>
            <a:r>
              <a:rPr sz="2175" b="0">
                <a:solidFill>
                  <a:srgbClr val="FFC857"/>
                </a:solidFill>
                <a:latin typeface="Arial"/>
                <a:ea typeface="Arial"/>
                <a:cs typeface="Arial"/>
              </a:rPr>
              <a:t>Gələcək tətbiq konsepti</a:t>
            </a:r>
          </a:p>
        </p:txBody>
      </p:sp>
      <p:sp>
        <p:nvSpPr>
          <p:cNvPr id="5" name="">
            <a:extLst xmlns:a="http://schemas.openxmlformats.org/drawingml/2006/main">
              <a:ext uri="{FF2B5EF4-FFF2-40B4-BE49-F238E27FC236}">
                <a16:creationId xmlns:a16="http://schemas.microsoft.com/office/drawing/2014/main" id="{DCFA268A-0410-45D6-954B-45B394268382}"/>
              </a:ext>
            </a:extLst>
          </p:cNvPr>
          <p:cNvSpPr>
            <a:spLocks xmlns:a="http://schemas.openxmlformats.org/drawingml/2006/main" noGrp="1"/>
          </p:cNvSpPr>
          <p:nvPr/>
        </p:nvSpPr>
        <p:spPr>
          <a:xfrm xmlns:a="http://schemas.openxmlformats.org/drawingml/2006/main">
            <a:off x="609600" y="3886200"/>
            <a:ext cx="44196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FFFF"/>
                </a:solidFill>
                <a:latin typeface="Arial"/>
                <a:ea typeface="Arial"/>
                <a:cs typeface="Arial"/>
              </a:defRPr>
            </a:defPPr>
          </a:lstStyle>
          <a:p xmlns:a="http://schemas.openxmlformats.org/drawingml/2006/main">
            <a:pPr>
              <a:buNone/>
              <a:defRPr sz="2175" b="0">
                <a:solidFill>
                  <a:srgbClr val="FFFFFF"/>
                </a:solidFill>
                <a:latin typeface="Arial"/>
                <a:ea typeface="Arial"/>
                <a:cs typeface="Arial"/>
              </a:defRPr>
            </a:pPr>
            <a:r>
              <a:rPr sz="2175" b="0">
                <a:solidFill>
                  <a:srgbClr val="FFFFFF"/>
                </a:solidFill>
                <a:latin typeface="Arial"/>
                <a:ea typeface="Arial"/>
                <a:cs typeface="Arial"/>
              </a:rPr>
              <a:t>Günün səsli vaxtları</a:t>
            </a:r>
          </a:p>
          <a:p xmlns:a="http://schemas.openxmlformats.org/drawingml/2006/main">
            <a:pPr>
              <a:buNone/>
              <a:defRPr sz="2175" b="0">
                <a:solidFill>
                  <a:srgbClr val="FFFFFF"/>
                </a:solidFill>
                <a:latin typeface="Arial"/>
                <a:ea typeface="Arial"/>
                <a:cs typeface="Arial"/>
              </a:defRPr>
            </a:pPr>
            <a:r>
              <a:rPr sz="2175" b="0">
                <a:solidFill>
                  <a:srgbClr val="FFFFFF"/>
                </a:solidFill>
                <a:latin typeface="Arial"/>
                <a:ea typeface="Arial"/>
                <a:cs typeface="Arial"/>
              </a:rPr>
              <a:t>Pik səviyyələrin izlənməsi</a:t>
            </a:r>
          </a:p>
          <a:p xmlns:a="http://schemas.openxmlformats.org/drawingml/2006/main">
            <a:pPr>
              <a:buNone/>
              <a:defRPr sz="2175" b="0">
                <a:solidFill>
                  <a:srgbClr val="FFFFFF"/>
                </a:solidFill>
                <a:latin typeface="Arial"/>
                <a:ea typeface="Arial"/>
                <a:cs typeface="Arial"/>
              </a:defRPr>
            </a:pPr>
            <a:r>
              <a:rPr sz="2175" b="0">
                <a:solidFill>
                  <a:srgbClr val="FFFFFF"/>
                </a:solidFill>
                <a:latin typeface="Arial"/>
                <a:ea typeface="Arial"/>
                <a:cs typeface="Arial"/>
              </a:rPr>
              <a:t>Təkrar ölçmə üçün vaxt seçimi</a:t>
            </a:r>
          </a:p>
        </p:txBody>
      </p:sp>
      <p:sp>
        <p:nvSpPr>
          <p:cNvPr id="6" name="">
            <a:extLst xmlns:a="http://schemas.openxmlformats.org/drawingml/2006/main">
              <a:ext uri="{FF2B5EF4-FFF2-40B4-BE49-F238E27FC236}">
                <a16:creationId xmlns:a16="http://schemas.microsoft.com/office/drawing/2014/main" id="{291E5DB4-9A3A-443E-A04C-6717E738405C}"/>
              </a:ext>
            </a:extLst>
          </p:cNvPr>
          <p:cNvSpPr>
            <a:spLocks xmlns:a="http://schemas.openxmlformats.org/drawingml/2006/main" noGrp="1"/>
          </p:cNvSpPr>
          <p:nvPr/>
        </p:nvSpPr>
        <p:spPr>
          <a:xfrm xmlns:a="http://schemas.openxmlformats.org/drawingml/2006/main">
            <a:off x="609600" y="5857875"/>
            <a:ext cx="441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3DED1"/>
                </a:solidFill>
                <a:latin typeface="Arial"/>
                <a:ea typeface="Arial"/>
                <a:cs typeface="Arial"/>
              </a:defRPr>
            </a:defPPr>
          </a:lstStyle>
          <a:p xmlns:a="http://schemas.openxmlformats.org/drawingml/2006/main">
            <a:pPr>
              <a:buNone/>
              <a:defRPr sz="1575" b="0">
                <a:solidFill>
                  <a:srgbClr val="63DED1"/>
                </a:solidFill>
                <a:latin typeface="Arial"/>
                <a:ea typeface="Arial"/>
                <a:cs typeface="Arial"/>
              </a:defRPr>
            </a:pPr>
            <a:r>
              <a:rPr sz="1575" b="0">
                <a:solidFill>
                  <a:srgbClr val="63DED1"/>
                </a:solidFill>
                <a:latin typeface="Arial"/>
                <a:ea typeface="Arial"/>
                <a:cs typeface="Arial"/>
              </a:rPr>
              <a:t>Süni intellektlə hazırlanmış</a:t>
            </a:r>
          </a:p>
          <a:p xmlns:a="http://schemas.openxmlformats.org/drawingml/2006/main">
            <a:pPr>
              <a:buNone/>
              <a:defRPr sz="1575" b="0">
                <a:solidFill>
                  <a:srgbClr val="63DED1"/>
                </a:solidFill>
                <a:latin typeface="Arial"/>
                <a:ea typeface="Arial"/>
                <a:cs typeface="Arial"/>
              </a:defRPr>
            </a:pPr>
            <a:r>
              <a:rPr sz="1575" b="0">
                <a:solidFill>
                  <a:srgbClr val="63DED1"/>
                </a:solidFill>
                <a:latin typeface="Arial"/>
                <a:ea typeface="Arial"/>
                <a:cs typeface="Arial"/>
              </a:rPr>
              <a:t>illüstrasiya</a:t>
            </a:r>
          </a:p>
        </p:txBody>
      </p:sp>
    </p:spTree>
    <p:extLst>
      <p:ext uri="{BB962C8B-B14F-4D97-AF65-F5344CB8AC3E}">
        <p14:creationId xmlns:p14="http://schemas.microsoft.com/office/powerpoint/2010/main" val="1301744413"/>
      </p:ext>
    </p:extLst>
  </p:cSld>
</p:sld>
</file>

<file path=ppt/slides/slide15.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04F768E-008D-4272-884A-B85D43A50A96}"/>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buNone/>
              <a:defRPr sz="1125" b="0">
                <a:solidFill>
                  <a:srgbClr val="BADEE2"/>
                </a:solidFill>
                <a:latin typeface="Arial"/>
                <a:ea typeface="Arial"/>
                <a:cs typeface="Arial"/>
              </a:defRPr>
            </a:pPr>
            <a:r>
              <a:rPr sz="1125" b="0">
                <a:solidFill>
                  <a:srgbClr val="BADEE2"/>
                </a:solidFill>
                <a:latin typeface="Arial"/>
                <a:ea typeface="Arial"/>
                <a:cs typeface="Arial"/>
              </a:rPr>
              <a:t>15 / 18</a:t>
            </a:r>
          </a:p>
        </p:txBody>
      </p:sp>
      <p:pic>
        <p:nvPicPr>
          <p:cNvPr id="2" name="">
            <a:extLst xmlns:a="http://schemas.openxmlformats.org/drawingml/2006/main">
              <a:ext uri="{FF2B5EF4-FFF2-40B4-BE49-F238E27FC236}">
                <a16:creationId xmlns:a16="http://schemas.microsoft.com/office/drawing/2014/main" id="{38B37A45-A9C7-451B-936B-3ED16889DD79}"/>
              </a:ext>
            </a:extLst>
          </p:cNvPr>
          <p:cNvPicPr>
            <a:picLocks xmlns:a="http://schemas.openxmlformats.org/drawingml/2006/main" noChangeAspect="1"/>
          </p:cNvPicPr>
          <p:nvPr/>
        </p:nvPicPr>
        <p:blipFill>
          <a:blip xmlns:r="http://schemas.openxmlformats.org/officeDocument/2006/relationships" xmlns:a="http://schemas.openxmlformats.org/drawingml/2006/main" r:embed="R24bc06cf66f74e61"/>
          <a:stretch xmlns:a="http://schemas.openxmlformats.org/drawingml/2006/main"/>
        </p:blipFill>
        <p:spPr>
          <a:xfrm xmlns:a="http://schemas.openxmlformats.org/drawingml/2006/main" flipH="0" flipV="0">
            <a:off x="5314950" y="1570001"/>
            <a:ext cx="6877050" cy="387039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A1B5B84-899D-493B-B839-EA1034AA145A}"/>
              </a:ext>
            </a:extLst>
          </p:cNvPr>
          <p:cNvSpPr>
            <a:spLocks xmlns:a="http://schemas.openxmlformats.org/drawingml/2006/main" noGrp="1"/>
          </p:cNvSpPr>
          <p:nvPr/>
        </p:nvSpPr>
        <p:spPr>
          <a:xfrm xmlns:a="http://schemas.openxmlformats.org/drawingml/2006/main">
            <a:off x="609600" y="771525"/>
            <a:ext cx="44196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stStyle>
          <a:p xmlns:a="http://schemas.openxmlformats.org/drawingml/2006/main">
            <a:pPr>
              <a:buNone/>
              <a:defRPr sz="3150" b="1">
                <a:solidFill>
                  <a:srgbClr val="FFFFFF"/>
                </a:solidFill>
                <a:latin typeface="Arial"/>
                <a:ea typeface="Arial"/>
                <a:cs typeface="Arial"/>
              </a:defRPr>
            </a:pPr>
            <a:r>
              <a:rPr sz="3150" b="1">
                <a:solidFill>
                  <a:srgbClr val="FFFFFF"/>
                </a:solidFill>
                <a:latin typeface="Arial"/>
                <a:ea typeface="Arial"/>
                <a:cs typeface="Arial"/>
              </a:rPr>
              <a:t>Xəstəxana yanında</a:t>
            </a:r>
          </a:p>
          <a:p xmlns:a="http://schemas.openxmlformats.org/drawingml/2006/main">
            <a:pPr>
              <a:buNone/>
              <a:defRPr sz="3150" b="1">
                <a:solidFill>
                  <a:srgbClr val="FFFFFF"/>
                </a:solidFill>
                <a:latin typeface="Arial"/>
                <a:ea typeface="Arial"/>
                <a:cs typeface="Arial"/>
              </a:defRPr>
            </a:pPr>
            <a:r>
              <a:rPr sz="3150" b="1">
                <a:solidFill>
                  <a:srgbClr val="FFFFFF"/>
                </a:solidFill>
                <a:latin typeface="Arial"/>
                <a:ea typeface="Arial"/>
                <a:cs typeface="Arial"/>
              </a:rPr>
              <a:t>səs monitorinqi</a:t>
            </a:r>
          </a:p>
        </p:txBody>
      </p:sp>
      <p:sp>
        <p:nvSpPr>
          <p:cNvPr id="4" name="">
            <a:extLst xmlns:a="http://schemas.openxmlformats.org/drawingml/2006/main">
              <a:ext uri="{FF2B5EF4-FFF2-40B4-BE49-F238E27FC236}">
                <a16:creationId xmlns:a16="http://schemas.microsoft.com/office/drawing/2014/main" id="{5085B155-931E-4163-A3FB-3D7D0F80A313}"/>
              </a:ext>
            </a:extLst>
          </p:cNvPr>
          <p:cNvSpPr>
            <a:spLocks xmlns:a="http://schemas.openxmlformats.org/drawingml/2006/main" noGrp="1"/>
          </p:cNvSpPr>
          <p:nvPr/>
        </p:nvSpPr>
        <p:spPr>
          <a:xfrm xmlns:a="http://schemas.openxmlformats.org/drawingml/2006/main">
            <a:off x="609600" y="2647950"/>
            <a:ext cx="4419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C857"/>
                </a:solidFill>
                <a:latin typeface="Arial"/>
                <a:ea typeface="Arial"/>
                <a:cs typeface="Arial"/>
              </a:defRPr>
            </a:defPPr>
          </a:lstStyle>
          <a:p xmlns:a="http://schemas.openxmlformats.org/drawingml/2006/main">
            <a:pPr>
              <a:buNone/>
              <a:defRPr sz="2175" b="0">
                <a:solidFill>
                  <a:srgbClr val="FFC857"/>
                </a:solidFill>
                <a:latin typeface="Arial"/>
                <a:ea typeface="Arial"/>
                <a:cs typeface="Arial"/>
              </a:defRPr>
            </a:pPr>
            <a:r>
              <a:rPr sz="2175" b="0">
                <a:solidFill>
                  <a:srgbClr val="FFC857"/>
                </a:solidFill>
                <a:latin typeface="Arial"/>
                <a:ea typeface="Arial"/>
                <a:cs typeface="Arial"/>
              </a:rPr>
              <a:t>Gələcək tətbiq konsepti</a:t>
            </a:r>
          </a:p>
        </p:txBody>
      </p:sp>
      <p:sp>
        <p:nvSpPr>
          <p:cNvPr id="5" name="">
            <a:extLst xmlns:a="http://schemas.openxmlformats.org/drawingml/2006/main">
              <a:ext uri="{FF2B5EF4-FFF2-40B4-BE49-F238E27FC236}">
                <a16:creationId xmlns:a16="http://schemas.microsoft.com/office/drawing/2014/main" id="{622C7B9D-EB31-4B73-9D24-8C0CD78B8E77}"/>
              </a:ext>
            </a:extLst>
          </p:cNvPr>
          <p:cNvSpPr>
            <a:spLocks xmlns:a="http://schemas.openxmlformats.org/drawingml/2006/main" noGrp="1"/>
          </p:cNvSpPr>
          <p:nvPr/>
        </p:nvSpPr>
        <p:spPr>
          <a:xfrm xmlns:a="http://schemas.openxmlformats.org/drawingml/2006/main">
            <a:off x="609600" y="3886200"/>
            <a:ext cx="44196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FFFF"/>
                </a:solidFill>
                <a:latin typeface="Arial"/>
                <a:ea typeface="Arial"/>
                <a:cs typeface="Arial"/>
              </a:defRPr>
            </a:defPPr>
          </a:lstStyle>
          <a:p xmlns:a="http://schemas.openxmlformats.org/drawingml/2006/main">
            <a:pPr>
              <a:buNone/>
              <a:defRPr sz="2175" b="0">
                <a:solidFill>
                  <a:srgbClr val="FFFFFF"/>
                </a:solidFill>
                <a:latin typeface="Arial"/>
                <a:ea typeface="Arial"/>
                <a:cs typeface="Arial"/>
              </a:defRPr>
            </a:pPr>
            <a:r>
              <a:rPr sz="2175" b="0">
                <a:solidFill>
                  <a:srgbClr val="FFFFFF"/>
                </a:solidFill>
                <a:latin typeface="Arial"/>
                <a:ea typeface="Arial"/>
                <a:cs typeface="Arial"/>
              </a:rPr>
              <a:t>Yol tərəfinin müşahidəsi</a:t>
            </a:r>
          </a:p>
          <a:p xmlns:a="http://schemas.openxmlformats.org/drawingml/2006/main">
            <a:pPr>
              <a:buNone/>
              <a:defRPr sz="2175" b="0">
                <a:solidFill>
                  <a:srgbClr val="FFFFFF"/>
                </a:solidFill>
                <a:latin typeface="Arial"/>
                <a:ea typeface="Arial"/>
                <a:cs typeface="Arial"/>
              </a:defRPr>
            </a:pPr>
            <a:r>
              <a:rPr sz="2175" b="0">
                <a:solidFill>
                  <a:srgbClr val="FFFFFF"/>
                </a:solidFill>
                <a:latin typeface="Arial"/>
                <a:ea typeface="Arial"/>
                <a:cs typeface="Arial"/>
              </a:rPr>
              <a:t>Gündüz–gecə müqayisəsi</a:t>
            </a:r>
          </a:p>
          <a:p xmlns:a="http://schemas.openxmlformats.org/drawingml/2006/main">
            <a:pPr>
              <a:buNone/>
              <a:defRPr sz="2175" b="0">
                <a:solidFill>
                  <a:srgbClr val="FFFFFF"/>
                </a:solidFill>
                <a:latin typeface="Arial"/>
                <a:ea typeface="Arial"/>
                <a:cs typeface="Arial"/>
              </a:defRPr>
            </a:pPr>
            <a:r>
              <a:rPr sz="2175" b="0">
                <a:solidFill>
                  <a:srgbClr val="FFFFFF"/>
                </a:solidFill>
                <a:latin typeface="Arial"/>
                <a:ea typeface="Arial"/>
                <a:cs typeface="Arial"/>
              </a:rPr>
              <a:t>Daha sakit aralıqların müəyyən edilməsi</a:t>
            </a:r>
          </a:p>
        </p:txBody>
      </p:sp>
      <p:sp>
        <p:nvSpPr>
          <p:cNvPr id="6" name="">
            <a:extLst xmlns:a="http://schemas.openxmlformats.org/drawingml/2006/main">
              <a:ext uri="{FF2B5EF4-FFF2-40B4-BE49-F238E27FC236}">
                <a16:creationId xmlns:a16="http://schemas.microsoft.com/office/drawing/2014/main" id="{1ACB1016-B951-4A0B-B5AA-0090415D2792}"/>
              </a:ext>
            </a:extLst>
          </p:cNvPr>
          <p:cNvSpPr>
            <a:spLocks xmlns:a="http://schemas.openxmlformats.org/drawingml/2006/main" noGrp="1"/>
          </p:cNvSpPr>
          <p:nvPr/>
        </p:nvSpPr>
        <p:spPr>
          <a:xfrm xmlns:a="http://schemas.openxmlformats.org/drawingml/2006/main">
            <a:off x="609600" y="5857875"/>
            <a:ext cx="441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3DED1"/>
                </a:solidFill>
                <a:latin typeface="Arial"/>
                <a:ea typeface="Arial"/>
                <a:cs typeface="Arial"/>
              </a:defRPr>
            </a:defPPr>
          </a:lstStyle>
          <a:p xmlns:a="http://schemas.openxmlformats.org/drawingml/2006/main">
            <a:pPr>
              <a:buNone/>
              <a:defRPr sz="1575" b="0">
                <a:solidFill>
                  <a:srgbClr val="63DED1"/>
                </a:solidFill>
                <a:latin typeface="Arial"/>
                <a:ea typeface="Arial"/>
                <a:cs typeface="Arial"/>
              </a:defRPr>
            </a:pPr>
            <a:r>
              <a:rPr sz="1575" b="0">
                <a:solidFill>
                  <a:srgbClr val="63DED1"/>
                </a:solidFill>
                <a:latin typeface="Arial"/>
                <a:ea typeface="Arial"/>
                <a:cs typeface="Arial"/>
              </a:rPr>
              <a:t>Süni intellektlə hazırlanmış</a:t>
            </a:r>
          </a:p>
          <a:p xmlns:a="http://schemas.openxmlformats.org/drawingml/2006/main">
            <a:pPr>
              <a:buNone/>
              <a:defRPr sz="1575" b="0">
                <a:solidFill>
                  <a:srgbClr val="63DED1"/>
                </a:solidFill>
                <a:latin typeface="Arial"/>
                <a:ea typeface="Arial"/>
                <a:cs typeface="Arial"/>
              </a:defRPr>
            </a:pPr>
            <a:r>
              <a:rPr sz="1575" b="0">
                <a:solidFill>
                  <a:srgbClr val="63DED1"/>
                </a:solidFill>
                <a:latin typeface="Arial"/>
                <a:ea typeface="Arial"/>
                <a:cs typeface="Arial"/>
              </a:rPr>
              <a:t>illüstrasiya</a:t>
            </a:r>
          </a:p>
        </p:txBody>
      </p:sp>
    </p:spTree>
    <p:extLst>
      <p:ext uri="{BB962C8B-B14F-4D97-AF65-F5344CB8AC3E}">
        <p14:creationId xmlns:p14="http://schemas.microsoft.com/office/powerpoint/2010/main" val="1847757001"/>
      </p:ext>
    </p:extLst>
  </p:cSld>
</p:sld>
</file>

<file path=ppt/slides/slide16.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0BCDE9A-A150-4F2B-B53D-21126B377C73}"/>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buNone/>
              <a:defRPr sz="1125" b="0">
                <a:solidFill>
                  <a:srgbClr val="BADEE2"/>
                </a:solidFill>
                <a:latin typeface="Arial"/>
                <a:ea typeface="Arial"/>
                <a:cs typeface="Arial"/>
              </a:defRPr>
            </a:pPr>
            <a:r>
              <a:rPr sz="1125" b="0">
                <a:solidFill>
                  <a:srgbClr val="BADEE2"/>
                </a:solidFill>
                <a:latin typeface="Arial"/>
                <a:ea typeface="Arial"/>
                <a:cs typeface="Arial"/>
              </a:rPr>
              <a:t>16 / 18</a:t>
            </a:r>
          </a:p>
        </p:txBody>
      </p:sp>
      <p:pic>
        <p:nvPicPr>
          <p:cNvPr id="2" name="">
            <a:extLst xmlns:a="http://schemas.openxmlformats.org/drawingml/2006/main">
              <a:ext uri="{FF2B5EF4-FFF2-40B4-BE49-F238E27FC236}">
                <a16:creationId xmlns:a16="http://schemas.microsoft.com/office/drawing/2014/main" id="{6E2FDC0E-4436-43DC-A17A-EE749BF71D27}"/>
              </a:ext>
            </a:extLst>
          </p:cNvPr>
          <p:cNvPicPr>
            <a:picLocks xmlns:a="http://schemas.openxmlformats.org/drawingml/2006/main" noChangeAspect="1"/>
          </p:cNvPicPr>
          <p:nvPr/>
        </p:nvPicPr>
        <p:blipFill>
          <a:blip xmlns:r="http://schemas.openxmlformats.org/officeDocument/2006/relationships" xmlns:a="http://schemas.openxmlformats.org/drawingml/2006/main" r:embed="R5519e00a831b4ead"/>
          <a:stretch xmlns:a="http://schemas.openxmlformats.org/drawingml/2006/main"/>
        </p:blipFill>
        <p:spPr>
          <a:xfrm xmlns:a="http://schemas.openxmlformats.org/drawingml/2006/main">
            <a:off x="5314950" y="1570001"/>
            <a:ext cx="6877050" cy="387039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DC10365-89DC-422F-A867-2C155DAEF589}"/>
              </a:ext>
            </a:extLst>
          </p:cNvPr>
          <p:cNvSpPr>
            <a:spLocks xmlns:a="http://schemas.openxmlformats.org/drawingml/2006/main" noGrp="1"/>
          </p:cNvSpPr>
          <p:nvPr/>
        </p:nvSpPr>
        <p:spPr>
          <a:xfrm xmlns:a="http://schemas.openxmlformats.org/drawingml/2006/main">
            <a:off x="609600" y="771525"/>
            <a:ext cx="44196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stStyle>
          <a:p xmlns:a="http://schemas.openxmlformats.org/drawingml/2006/main">
            <a:pPr>
              <a:buNone/>
              <a:defRPr sz="3150" b="1">
                <a:solidFill>
                  <a:srgbClr val="FFFFFF"/>
                </a:solidFill>
                <a:latin typeface="Arial"/>
                <a:ea typeface="Arial"/>
                <a:cs typeface="Arial"/>
              </a:defRPr>
            </a:pPr>
            <a:r>
              <a:rPr sz="3150" b="1">
                <a:solidFill>
                  <a:srgbClr val="FFFFFF"/>
                </a:solidFill>
                <a:latin typeface="Arial"/>
                <a:ea typeface="Arial"/>
                <a:cs typeface="Arial"/>
              </a:rPr>
              <a:t>Yaşlılar evi yanında</a:t>
            </a:r>
          </a:p>
          <a:p xmlns:a="http://schemas.openxmlformats.org/drawingml/2006/main">
            <a:pPr>
              <a:buNone/>
              <a:defRPr sz="3150" b="1">
                <a:solidFill>
                  <a:srgbClr val="FFFFFF"/>
                </a:solidFill>
                <a:latin typeface="Arial"/>
                <a:ea typeface="Arial"/>
                <a:cs typeface="Arial"/>
              </a:defRPr>
            </a:pPr>
            <a:r>
              <a:rPr sz="3150" b="1">
                <a:solidFill>
                  <a:srgbClr val="FFFFFF"/>
                </a:solidFill>
                <a:latin typeface="Arial"/>
                <a:ea typeface="Arial"/>
                <a:cs typeface="Arial"/>
              </a:rPr>
              <a:t>səs monitorinqi</a:t>
            </a:r>
          </a:p>
        </p:txBody>
      </p:sp>
      <p:sp>
        <p:nvSpPr>
          <p:cNvPr id="4" name="">
            <a:extLst xmlns:a="http://schemas.openxmlformats.org/drawingml/2006/main">
              <a:ext uri="{FF2B5EF4-FFF2-40B4-BE49-F238E27FC236}">
                <a16:creationId xmlns:a16="http://schemas.microsoft.com/office/drawing/2014/main" id="{D2A7D3EF-4BBF-4966-B1FB-9498E5E27869}"/>
              </a:ext>
            </a:extLst>
          </p:cNvPr>
          <p:cNvSpPr>
            <a:spLocks xmlns:a="http://schemas.openxmlformats.org/drawingml/2006/main" noGrp="1"/>
          </p:cNvSpPr>
          <p:nvPr/>
        </p:nvSpPr>
        <p:spPr>
          <a:xfrm xmlns:a="http://schemas.openxmlformats.org/drawingml/2006/main">
            <a:off x="609600" y="2647950"/>
            <a:ext cx="4419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C857"/>
                </a:solidFill>
                <a:latin typeface="Arial"/>
                <a:ea typeface="Arial"/>
                <a:cs typeface="Arial"/>
              </a:defRPr>
            </a:defPPr>
          </a:lstStyle>
          <a:p xmlns:a="http://schemas.openxmlformats.org/drawingml/2006/main">
            <a:pPr>
              <a:buNone/>
              <a:defRPr sz="2175" b="0">
                <a:solidFill>
                  <a:srgbClr val="FFC857"/>
                </a:solidFill>
                <a:latin typeface="Arial"/>
                <a:ea typeface="Arial"/>
                <a:cs typeface="Arial"/>
              </a:defRPr>
            </a:pPr>
            <a:r>
              <a:rPr sz="2175" b="0">
                <a:solidFill>
                  <a:srgbClr val="FFC857"/>
                </a:solidFill>
                <a:latin typeface="Arial"/>
                <a:ea typeface="Arial"/>
                <a:cs typeface="Arial"/>
              </a:rPr>
              <a:t>Gələcək tətbiq konsepti</a:t>
            </a:r>
          </a:p>
        </p:txBody>
      </p:sp>
      <p:sp>
        <p:nvSpPr>
          <p:cNvPr id="5" name="">
            <a:extLst xmlns:a="http://schemas.openxmlformats.org/drawingml/2006/main">
              <a:ext uri="{FF2B5EF4-FFF2-40B4-BE49-F238E27FC236}">
                <a16:creationId xmlns:a16="http://schemas.microsoft.com/office/drawing/2014/main" id="{16F24DCC-E281-467F-88AA-73D23EAEA328}"/>
              </a:ext>
            </a:extLst>
          </p:cNvPr>
          <p:cNvSpPr>
            <a:spLocks xmlns:a="http://schemas.openxmlformats.org/drawingml/2006/main" noGrp="1"/>
          </p:cNvSpPr>
          <p:nvPr/>
        </p:nvSpPr>
        <p:spPr>
          <a:xfrm xmlns:a="http://schemas.openxmlformats.org/drawingml/2006/main">
            <a:off x="609600" y="3886200"/>
            <a:ext cx="44196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FFFF"/>
                </a:solidFill>
                <a:latin typeface="Arial"/>
                <a:ea typeface="Arial"/>
                <a:cs typeface="Arial"/>
              </a:defRPr>
            </a:defPPr>
          </a:lstStyle>
          <a:p xmlns:a="http://schemas.openxmlformats.org/drawingml/2006/main">
            <a:pPr>
              <a:buNone/>
              <a:defRPr sz="2175" b="0">
                <a:solidFill>
                  <a:srgbClr val="FFFFFF"/>
                </a:solidFill>
                <a:latin typeface="Arial"/>
                <a:ea typeface="Arial"/>
                <a:cs typeface="Arial"/>
              </a:defRPr>
            </a:pPr>
            <a:r>
              <a:rPr sz="2175" b="0">
                <a:solidFill>
                  <a:srgbClr val="FFFFFF"/>
                </a:solidFill>
                <a:latin typeface="Arial"/>
                <a:ea typeface="Arial"/>
                <a:cs typeface="Arial"/>
              </a:rPr>
              <a:t>Yaşayış ərazisinin müşahidəsi</a:t>
            </a:r>
          </a:p>
          <a:p xmlns:a="http://schemas.openxmlformats.org/drawingml/2006/main">
            <a:pPr>
              <a:buNone/>
              <a:defRPr sz="2175" b="0">
                <a:solidFill>
                  <a:srgbClr val="FFFFFF"/>
                </a:solidFill>
                <a:latin typeface="Arial"/>
                <a:ea typeface="Arial"/>
                <a:cs typeface="Arial"/>
              </a:defRPr>
            </a:pPr>
            <a:r>
              <a:rPr sz="2175" b="0">
                <a:solidFill>
                  <a:srgbClr val="FFFFFF"/>
                </a:solidFill>
                <a:latin typeface="Arial"/>
                <a:ea typeface="Arial"/>
                <a:cs typeface="Arial"/>
              </a:rPr>
              <a:t>Axşam və gecə səviyyələri</a:t>
            </a:r>
          </a:p>
          <a:p xmlns:a="http://schemas.openxmlformats.org/drawingml/2006/main">
            <a:pPr>
              <a:buNone/>
              <a:defRPr sz="2175" b="0">
                <a:solidFill>
                  <a:srgbClr val="FFFFFF"/>
                </a:solidFill>
                <a:latin typeface="Arial"/>
                <a:ea typeface="Arial"/>
                <a:cs typeface="Arial"/>
              </a:defRPr>
            </a:pPr>
            <a:r>
              <a:rPr sz="2175" b="0">
                <a:solidFill>
                  <a:srgbClr val="FFFFFF"/>
                </a:solidFill>
                <a:latin typeface="Arial"/>
                <a:ea typeface="Arial"/>
                <a:cs typeface="Arial"/>
              </a:rPr>
              <a:t>Dəyişiklikdən əvvəl və sonra müqayisə</a:t>
            </a:r>
          </a:p>
        </p:txBody>
      </p:sp>
      <p:sp>
        <p:nvSpPr>
          <p:cNvPr id="6" name="">
            <a:extLst xmlns:a="http://schemas.openxmlformats.org/drawingml/2006/main">
              <a:ext uri="{FF2B5EF4-FFF2-40B4-BE49-F238E27FC236}">
                <a16:creationId xmlns:a16="http://schemas.microsoft.com/office/drawing/2014/main" id="{4E583E34-77C7-4746-ABFC-02FFBED42149}"/>
              </a:ext>
            </a:extLst>
          </p:cNvPr>
          <p:cNvSpPr>
            <a:spLocks xmlns:a="http://schemas.openxmlformats.org/drawingml/2006/main" noGrp="1"/>
          </p:cNvSpPr>
          <p:nvPr/>
        </p:nvSpPr>
        <p:spPr>
          <a:xfrm xmlns:a="http://schemas.openxmlformats.org/drawingml/2006/main">
            <a:off x="609600" y="5857875"/>
            <a:ext cx="441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3DED1"/>
                </a:solidFill>
                <a:latin typeface="Arial"/>
                <a:ea typeface="Arial"/>
                <a:cs typeface="Arial"/>
              </a:defRPr>
            </a:defPPr>
          </a:lstStyle>
          <a:p xmlns:a="http://schemas.openxmlformats.org/drawingml/2006/main">
            <a:pPr>
              <a:buNone/>
              <a:defRPr sz="1575" b="0">
                <a:solidFill>
                  <a:srgbClr val="63DED1"/>
                </a:solidFill>
                <a:latin typeface="Arial"/>
                <a:ea typeface="Arial"/>
                <a:cs typeface="Arial"/>
              </a:defRPr>
            </a:pPr>
            <a:r>
              <a:rPr sz="1575" b="0">
                <a:solidFill>
                  <a:srgbClr val="63DED1"/>
                </a:solidFill>
                <a:latin typeface="Arial"/>
                <a:ea typeface="Arial"/>
                <a:cs typeface="Arial"/>
              </a:rPr>
              <a:t>Süni intellektlə hazırlanmış</a:t>
            </a:r>
          </a:p>
          <a:p xmlns:a="http://schemas.openxmlformats.org/drawingml/2006/main">
            <a:pPr>
              <a:buNone/>
              <a:defRPr sz="1575" b="0">
                <a:solidFill>
                  <a:srgbClr val="63DED1"/>
                </a:solidFill>
                <a:latin typeface="Arial"/>
                <a:ea typeface="Arial"/>
                <a:cs typeface="Arial"/>
              </a:defRPr>
            </a:pPr>
            <a:r>
              <a:rPr sz="1575" b="0">
                <a:solidFill>
                  <a:srgbClr val="63DED1"/>
                </a:solidFill>
                <a:latin typeface="Arial"/>
                <a:ea typeface="Arial"/>
                <a:cs typeface="Arial"/>
              </a:rPr>
              <a:t>illüstrasiya</a:t>
            </a:r>
          </a:p>
        </p:txBody>
      </p:sp>
    </p:spTree>
    <p:extLst>
      <p:ext uri="{BB962C8B-B14F-4D97-AF65-F5344CB8AC3E}">
        <p14:creationId xmlns:p14="http://schemas.microsoft.com/office/powerpoint/2010/main" val="1332772176"/>
      </p:ext>
    </p:extLst>
  </p:cSld>
</p:sld>
</file>

<file path=ppt/slides/slide17.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07435A2-AF1C-49EB-A580-F20BAC10C8E4}"/>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Növbəti sınaq: real enerji davamlılığı</a:t>
            </a:r>
          </a:p>
        </p:txBody>
      </p:sp>
      <p:sp>
        <p:nvSpPr>
          <p:cNvPr id="2" name="">
            <a:extLst xmlns:a="http://schemas.openxmlformats.org/drawingml/2006/main">
              <a:ext uri="{FF2B5EF4-FFF2-40B4-BE49-F238E27FC236}">
                <a16:creationId xmlns:a16="http://schemas.microsoft.com/office/drawing/2014/main" id="{D5ECAEE3-0540-48DE-AEB7-0FE9F6C981F9}"/>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buNone/>
              <a:defRPr sz="1125" b="0">
                <a:solidFill>
                  <a:srgbClr val="BADEE2"/>
                </a:solidFill>
                <a:latin typeface="Arial"/>
                <a:ea typeface="Arial"/>
                <a:cs typeface="Arial"/>
              </a:defRPr>
            </a:pPr>
            <a:r>
              <a:rPr sz="1125" b="0">
                <a:solidFill>
                  <a:srgbClr val="BADEE2"/>
                </a:solidFill>
                <a:latin typeface="Arial"/>
                <a:ea typeface="Arial"/>
                <a:cs typeface="Arial"/>
              </a:rPr>
              <a:t>17 / 18</a:t>
            </a:r>
          </a:p>
        </p:txBody>
      </p:sp>
      <p:sp>
        <p:nvSpPr>
          <p:cNvPr id="3" name="">
            <a:extLst xmlns:a="http://schemas.openxmlformats.org/drawingml/2006/main">
              <a:ext uri="{FF2B5EF4-FFF2-40B4-BE49-F238E27FC236}">
                <a16:creationId xmlns:a16="http://schemas.microsoft.com/office/drawing/2014/main" id="{FD2C044C-7448-4B9C-B41B-73CE7C035772}"/>
              </a:ext>
            </a:extLst>
          </p:cNvPr>
          <p:cNvSpPr>
            <a:spLocks xmlns:a="http://schemas.openxmlformats.org/drawingml/2006/main" noGrp="1"/>
          </p:cNvSpPr>
          <p:nvPr/>
        </p:nvSpPr>
        <p:spPr>
          <a:xfrm xmlns:a="http://schemas.openxmlformats.org/drawingml/2006/main">
            <a:off x="609600" y="1628775"/>
            <a:ext cx="109156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300" b="1">
                <a:solidFill>
                  <a:srgbClr val="FFC857"/>
                </a:solidFill>
                <a:latin typeface="Arial"/>
                <a:ea typeface="Arial"/>
                <a:cs typeface="Arial"/>
              </a:defRPr>
            </a:defPPr>
          </a:lstStyle>
          <a:p xmlns:a="http://schemas.openxmlformats.org/drawingml/2006/main">
            <a:pPr>
              <a:buNone/>
              <a:defRPr sz="6300" b="1">
                <a:solidFill>
                  <a:srgbClr val="FFC857"/>
                </a:solidFill>
                <a:latin typeface="Arial"/>
                <a:ea typeface="Arial"/>
                <a:cs typeface="Arial"/>
              </a:defRPr>
            </a:pPr>
            <a:r>
              <a:rPr sz="6300" b="1">
                <a:solidFill>
                  <a:srgbClr val="FFC857"/>
                </a:solidFill>
                <a:latin typeface="Arial"/>
                <a:ea typeface="Arial"/>
                <a:cs typeface="Arial"/>
              </a:rPr>
              <a:t>12–24 saat</a:t>
            </a:r>
          </a:p>
        </p:txBody>
      </p:sp>
      <p:sp>
        <p:nvSpPr>
          <p:cNvPr id="4" name="">
            <a:extLst xmlns:a="http://schemas.openxmlformats.org/drawingml/2006/main">
              <a:ext uri="{FF2B5EF4-FFF2-40B4-BE49-F238E27FC236}">
                <a16:creationId xmlns:a16="http://schemas.microsoft.com/office/drawing/2014/main" id="{06C3462D-F890-4F4D-9CB8-25A0ACD3756F}"/>
              </a:ext>
            </a:extLst>
          </p:cNvPr>
          <p:cNvSpPr>
            <a:spLocks xmlns:a="http://schemas.openxmlformats.org/drawingml/2006/main" noGrp="1"/>
          </p:cNvSpPr>
          <p:nvPr/>
        </p:nvSpPr>
        <p:spPr>
          <a:xfrm xmlns:a="http://schemas.openxmlformats.org/drawingml/2006/main">
            <a:off x="609600" y="3171825"/>
            <a:ext cx="108394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Arial"/>
                <a:ea typeface="Arial"/>
                <a:cs typeface="Arial"/>
              </a:defRPr>
            </a:defPPr>
          </a:lstStyle>
          <a:p xmlns:a="http://schemas.openxmlformats.org/drawingml/2006/main">
            <a:pPr>
              <a:buNone/>
              <a:defRPr sz="2550" b="0">
                <a:solidFill>
                  <a:srgbClr val="FFFFFF"/>
                </a:solidFill>
                <a:latin typeface="Arial"/>
                <a:ea typeface="Arial"/>
                <a:cs typeface="Arial"/>
              </a:defRPr>
            </a:pPr>
            <a:r>
              <a:rPr sz="2550" b="0">
                <a:solidFill>
                  <a:srgbClr val="FFFFFF"/>
                </a:solidFill>
                <a:latin typeface="Arial"/>
                <a:ea typeface="Arial"/>
                <a:cs typeface="Arial"/>
              </a:rPr>
              <a:t>Ortaq batareya və çevirici ilə gecə sınağı</a:t>
            </a:r>
          </a:p>
        </p:txBody>
      </p:sp>
      <p:sp>
        <p:nvSpPr>
          <p:cNvPr id="5" name="">
            <a:extLst xmlns:a="http://schemas.openxmlformats.org/drawingml/2006/main">
              <a:ext uri="{FF2B5EF4-FFF2-40B4-BE49-F238E27FC236}">
                <a16:creationId xmlns:a16="http://schemas.microsoft.com/office/drawing/2014/main" id="{A082A55A-D1B4-439E-8865-225BB256030E}"/>
              </a:ext>
            </a:extLst>
          </p:cNvPr>
          <p:cNvSpPr>
            <a:spLocks xmlns:a="http://schemas.openxmlformats.org/drawingml/2006/main" noGrp="1"/>
          </p:cNvSpPr>
          <p:nvPr/>
        </p:nvSpPr>
        <p:spPr>
          <a:xfrm xmlns:a="http://schemas.openxmlformats.org/drawingml/2006/main">
            <a:off x="609600" y="4219575"/>
            <a:ext cx="10839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Xarici dB(A) çıxışlarının və avtomatik AP bərpasının qəbulu</a:t>
            </a:r>
          </a:p>
        </p:txBody>
      </p:sp>
      <p:sp>
        <p:nvSpPr>
          <p:cNvPr id="6" name="">
            <a:extLst xmlns:a="http://schemas.openxmlformats.org/drawingml/2006/main">
              <a:ext uri="{FF2B5EF4-FFF2-40B4-BE49-F238E27FC236}">
                <a16:creationId xmlns:a16="http://schemas.microsoft.com/office/drawing/2014/main" id="{3F99B932-FC5C-4209-B7BC-E37F8F6213C8}"/>
              </a:ext>
            </a:extLst>
          </p:cNvPr>
          <p:cNvSpPr>
            <a:spLocks xmlns:a="http://schemas.openxmlformats.org/drawingml/2006/main" noGrp="1"/>
          </p:cNvSpPr>
          <p:nvPr/>
        </p:nvSpPr>
        <p:spPr>
          <a:xfrm xmlns:a="http://schemas.openxmlformats.org/drawingml/2006/main">
            <a:off x="609600" y="4819650"/>
            <a:ext cx="10839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Təhlükəsiz təmizləmədən sonra yeddi günlük səs sınağı</a:t>
            </a:r>
          </a:p>
        </p:txBody>
      </p:sp>
      <p:sp>
        <p:nvSpPr>
          <p:cNvPr id="7" name="">
            <a:extLst xmlns:a="http://schemas.openxmlformats.org/drawingml/2006/main">
              <a:ext uri="{FF2B5EF4-FFF2-40B4-BE49-F238E27FC236}">
                <a16:creationId xmlns:a16="http://schemas.microsoft.com/office/drawing/2014/main" id="{5B7D24ED-5EAB-4AF4-B3B2-2E813D1165E9}"/>
              </a:ext>
            </a:extLst>
          </p:cNvPr>
          <p:cNvSpPr>
            <a:spLocks xmlns:a="http://schemas.openxmlformats.org/drawingml/2006/main" noGrp="1"/>
          </p:cNvSpPr>
          <p:nvPr/>
        </p:nvSpPr>
        <p:spPr>
          <a:xfrm xmlns:a="http://schemas.openxmlformats.org/drawingml/2006/main">
            <a:off x="609600" y="5419725"/>
            <a:ext cx="10839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Daimi montaj və yekun inteqrasiya yoxlaması</a:t>
            </a:r>
          </a:p>
        </p:txBody>
      </p:sp>
      <p:sp>
        <p:nvSpPr>
          <p:cNvPr id="8" name="">
            <a:extLst xmlns:a="http://schemas.openxmlformats.org/drawingml/2006/main">
              <a:ext uri="{FF2B5EF4-FFF2-40B4-BE49-F238E27FC236}">
                <a16:creationId xmlns:a16="http://schemas.microsoft.com/office/drawing/2014/main" id="{E6B71271-8C02-4025-BED8-4FA4225932C2}"/>
              </a:ext>
            </a:extLst>
          </p:cNvPr>
          <p:cNvSpPr>
            <a:spLocks xmlns:a="http://schemas.openxmlformats.org/drawingml/2006/main" noGrp="1"/>
          </p:cNvSpPr>
          <p:nvPr/>
        </p:nvSpPr>
        <p:spPr>
          <a:xfrm xmlns:a="http://schemas.openxmlformats.org/drawingml/2006/main">
            <a:off x="609600" y="6067425"/>
            <a:ext cx="108394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3DED1"/>
                </a:solidFill>
                <a:latin typeface="Arial"/>
                <a:ea typeface="Arial"/>
                <a:cs typeface="Arial"/>
              </a:defRPr>
            </a:defPPr>
          </a:lstStyle>
          <a:p xmlns:a="http://schemas.openxmlformats.org/drawingml/2006/main">
            <a:pPr>
              <a:buNone/>
              <a:defRPr sz="1725" b="0">
                <a:solidFill>
                  <a:srgbClr val="63DED1"/>
                </a:solidFill>
                <a:latin typeface="Arial"/>
                <a:ea typeface="Arial"/>
                <a:cs typeface="Arial"/>
              </a:defRPr>
            </a:pPr>
            <a:r>
              <a:rPr sz="1725" b="0">
                <a:solidFill>
                  <a:srgbClr val="63DED1"/>
                </a:solidFill>
                <a:latin typeface="Arial"/>
                <a:ea typeface="Arial"/>
                <a:cs typeface="Arial"/>
              </a:rPr>
              <a:t>Layihənin ümumi hazırlığı: 60% — ekspert qiymətləndirməsi</a:t>
            </a:r>
          </a:p>
        </p:txBody>
      </p:sp>
    </p:spTree>
    <p:extLst>
      <p:ext uri="{BB962C8B-B14F-4D97-AF65-F5344CB8AC3E}">
        <p14:creationId xmlns:p14="http://schemas.microsoft.com/office/powerpoint/2010/main" val="1341158402"/>
      </p:ext>
    </p:extLst>
  </p:cSld>
</p:sld>
</file>

<file path=ppt/slides/slide18.xml><?xml version="1.0" encoding="utf-8"?>
<p:sld xmlns:p="http://schemas.openxmlformats.org/presentationml/2006/main">
  <p:cSld>
    <p:bg>
      <p:bgPr>
        <a:solidFill xmlns:a="http://schemas.openxmlformats.org/drawingml/2006/main">
          <a:srgbClr val="008F9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7D6716-990B-48FC-9FEE-73772B74A16A}"/>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Ölçülə bilən nəticə, aydın inkişaf planı</a:t>
            </a:r>
          </a:p>
        </p:txBody>
      </p:sp>
      <p:sp>
        <p:nvSpPr>
          <p:cNvPr id="2" name="">
            <a:extLst xmlns:a="http://schemas.openxmlformats.org/drawingml/2006/main">
              <a:ext uri="{FF2B5EF4-FFF2-40B4-BE49-F238E27FC236}">
                <a16:creationId xmlns:a16="http://schemas.microsoft.com/office/drawing/2014/main" id="{8249EDFD-9297-4780-BB6F-F1DE03CB8537}"/>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buNone/>
              <a:defRPr sz="1125" b="0">
                <a:solidFill>
                  <a:srgbClr val="BADEE2"/>
                </a:solidFill>
                <a:latin typeface="Arial"/>
                <a:ea typeface="Arial"/>
                <a:cs typeface="Arial"/>
              </a:defRPr>
            </a:pPr>
            <a:r>
              <a:rPr sz="1125" b="0">
                <a:solidFill>
                  <a:srgbClr val="BADEE2"/>
                </a:solidFill>
                <a:latin typeface="Arial"/>
                <a:ea typeface="Arial"/>
                <a:cs typeface="Arial"/>
              </a:rPr>
              <a:t>18 / 18</a:t>
            </a:r>
          </a:p>
        </p:txBody>
      </p:sp>
      <p:sp>
        <p:nvSpPr>
          <p:cNvPr id="3" name="">
            <a:extLst xmlns:a="http://schemas.openxmlformats.org/drawingml/2006/main">
              <a:ext uri="{FF2B5EF4-FFF2-40B4-BE49-F238E27FC236}">
                <a16:creationId xmlns:a16="http://schemas.microsoft.com/office/drawing/2014/main" id="{7B20572E-393A-490F-B183-1D92E6C29199}"/>
              </a:ext>
            </a:extLst>
          </p:cNvPr>
          <p:cNvSpPr>
            <a:spLocks xmlns:a="http://schemas.openxmlformats.org/drawingml/2006/main" noGrp="1"/>
          </p:cNvSpPr>
          <p:nvPr/>
        </p:nvSpPr>
        <p:spPr>
          <a:xfrm xmlns:a="http://schemas.openxmlformats.org/drawingml/2006/main">
            <a:off x="609600" y="1752600"/>
            <a:ext cx="10572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FFFFFF"/>
                </a:solidFill>
                <a:latin typeface="Arial"/>
                <a:ea typeface="Arial"/>
                <a:cs typeface="Arial"/>
              </a:defRPr>
            </a:defPPr>
          </a:lstStyle>
          <a:p xmlns:a="http://schemas.openxmlformats.org/drawingml/2006/main">
            <a:pPr>
              <a:buNone/>
              <a:defRPr sz="3825" b="1">
                <a:solidFill>
                  <a:srgbClr val="FFFFFF"/>
                </a:solidFill>
                <a:latin typeface="Arial"/>
                <a:ea typeface="Arial"/>
                <a:cs typeface="Arial"/>
              </a:defRPr>
            </a:pPr>
            <a:r>
              <a:rPr sz="3825" b="1">
                <a:solidFill>
                  <a:srgbClr val="FFFFFF"/>
                </a:solidFill>
                <a:latin typeface="Arial"/>
                <a:ea typeface="Arial"/>
                <a:cs typeface="Arial"/>
              </a:rPr>
              <a:t>Real prototip</a:t>
            </a:r>
          </a:p>
        </p:txBody>
      </p:sp>
      <p:sp>
        <p:nvSpPr>
          <p:cNvPr id="4" name="">
            <a:extLst xmlns:a="http://schemas.openxmlformats.org/drawingml/2006/main">
              <a:ext uri="{FF2B5EF4-FFF2-40B4-BE49-F238E27FC236}">
                <a16:creationId xmlns:a16="http://schemas.microsoft.com/office/drawing/2014/main" id="{152D7344-2C78-4744-AC23-21B4F20DFDD4}"/>
              </a:ext>
            </a:extLst>
          </p:cNvPr>
          <p:cNvSpPr>
            <a:spLocks xmlns:a="http://schemas.openxmlformats.org/drawingml/2006/main" noGrp="1"/>
          </p:cNvSpPr>
          <p:nvPr/>
        </p:nvSpPr>
        <p:spPr>
          <a:xfrm xmlns:a="http://schemas.openxmlformats.org/drawingml/2006/main">
            <a:off x="609600" y="2647950"/>
            <a:ext cx="10572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FFFFFF"/>
                </a:solidFill>
                <a:latin typeface="Arial"/>
                <a:ea typeface="Arial"/>
                <a:cs typeface="Arial"/>
              </a:defRPr>
            </a:defPPr>
          </a:lstStyle>
          <a:p xmlns:a="http://schemas.openxmlformats.org/drawingml/2006/main">
            <a:pPr>
              <a:buNone/>
              <a:defRPr sz="3825" b="1">
                <a:solidFill>
                  <a:srgbClr val="FFFFFF"/>
                </a:solidFill>
                <a:latin typeface="Arial"/>
                <a:ea typeface="Arial"/>
                <a:cs typeface="Arial"/>
              </a:defRPr>
            </a:pPr>
            <a:r>
              <a:rPr sz="3825" b="1">
                <a:solidFill>
                  <a:srgbClr val="FFFFFF"/>
                </a:solidFill>
                <a:latin typeface="Arial"/>
                <a:ea typeface="Arial"/>
                <a:cs typeface="Arial"/>
              </a:rPr>
              <a:t>Kalibrasiya edilmiş dB(A)</a:t>
            </a:r>
          </a:p>
        </p:txBody>
      </p:sp>
      <p:sp>
        <p:nvSpPr>
          <p:cNvPr id="5" name="">
            <a:extLst xmlns:a="http://schemas.openxmlformats.org/drawingml/2006/main">
              <a:ext uri="{FF2B5EF4-FFF2-40B4-BE49-F238E27FC236}">
                <a16:creationId xmlns:a16="http://schemas.microsoft.com/office/drawing/2014/main" id="{867573A0-F230-4281-8D2C-BE2D1F3C6B96}"/>
              </a:ext>
            </a:extLst>
          </p:cNvPr>
          <p:cNvSpPr>
            <a:spLocks xmlns:a="http://schemas.openxmlformats.org/drawingml/2006/main" noGrp="1"/>
          </p:cNvSpPr>
          <p:nvPr/>
        </p:nvSpPr>
        <p:spPr>
          <a:xfrm xmlns:a="http://schemas.openxmlformats.org/drawingml/2006/main">
            <a:off x="609600" y="3543300"/>
            <a:ext cx="10572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FFFFFF"/>
                </a:solidFill>
                <a:latin typeface="Arial"/>
                <a:ea typeface="Arial"/>
                <a:cs typeface="Arial"/>
              </a:defRPr>
            </a:defPPr>
          </a:lstStyle>
          <a:p xmlns:a="http://schemas.openxmlformats.org/drawingml/2006/main">
            <a:pPr>
              <a:buNone/>
              <a:defRPr sz="3825" b="1">
                <a:solidFill>
                  <a:srgbClr val="FFFFFF"/>
                </a:solidFill>
                <a:latin typeface="Arial"/>
                <a:ea typeface="Arial"/>
                <a:cs typeface="Arial"/>
              </a:defRPr>
            </a:pPr>
            <a:r>
              <a:rPr sz="3825" b="1">
                <a:solidFill>
                  <a:srgbClr val="FFFFFF"/>
                </a:solidFill>
                <a:latin typeface="Arial"/>
                <a:ea typeface="Arial"/>
                <a:cs typeface="Arial"/>
              </a:rPr>
              <a:t>Günün hissələri üzrə nəticələr</a:t>
            </a:r>
          </a:p>
        </p:txBody>
      </p:sp>
      <p:sp>
        <p:nvSpPr>
          <p:cNvPr id="6" name="">
            <a:extLst xmlns:a="http://schemas.openxmlformats.org/drawingml/2006/main">
              <a:ext uri="{FF2B5EF4-FFF2-40B4-BE49-F238E27FC236}">
                <a16:creationId xmlns:a16="http://schemas.microsoft.com/office/drawing/2014/main" id="{8F2D328B-DD14-425B-B827-2621FA14412D}"/>
              </a:ext>
            </a:extLst>
          </p:cNvPr>
          <p:cNvSpPr>
            <a:spLocks xmlns:a="http://schemas.openxmlformats.org/drawingml/2006/main" noGrp="1"/>
          </p:cNvSpPr>
          <p:nvPr/>
        </p:nvSpPr>
        <p:spPr>
          <a:xfrm xmlns:a="http://schemas.openxmlformats.org/drawingml/2006/main">
            <a:off x="609600" y="4600575"/>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FFC857"/>
                </a:solidFill>
                <a:latin typeface="Arial"/>
                <a:ea typeface="Arial"/>
                <a:cs typeface="Arial"/>
              </a:defRPr>
            </a:defPPr>
          </a:lstStyle>
          <a:p xmlns:a="http://schemas.openxmlformats.org/drawingml/2006/main">
            <a:pPr>
              <a:buNone/>
              <a:defRPr sz="2475" b="0">
                <a:solidFill>
                  <a:srgbClr val="FFC857"/>
                </a:solidFill>
                <a:latin typeface="Arial"/>
                <a:ea typeface="Arial"/>
                <a:cs typeface="Arial"/>
              </a:defRPr>
            </a:pPr>
            <a:r>
              <a:rPr sz="2475" b="0">
                <a:solidFill>
                  <a:srgbClr val="FFC857"/>
                </a:solidFill>
                <a:latin typeface="Arial"/>
                <a:ea typeface="Arial"/>
                <a:cs typeface="Arial"/>
              </a:rPr>
              <a:t>Məktəblər və yaşayış əraziləri üçün</a:t>
            </a:r>
          </a:p>
          <a:p xmlns:a="http://schemas.openxmlformats.org/drawingml/2006/main">
            <a:pPr>
              <a:buNone/>
              <a:defRPr sz="2475" b="0">
                <a:solidFill>
                  <a:srgbClr val="FFC857"/>
                </a:solidFill>
                <a:latin typeface="Arial"/>
                <a:ea typeface="Arial"/>
                <a:cs typeface="Arial"/>
              </a:defRPr>
            </a:pPr>
            <a:r>
              <a:rPr sz="2475" b="0">
                <a:solidFill>
                  <a:srgbClr val="FFC857"/>
                </a:solidFill>
                <a:latin typeface="Arial"/>
                <a:ea typeface="Arial"/>
                <a:cs typeface="Arial"/>
              </a:rPr>
              <a:t>davamlı müşahidə perspektivi</a:t>
            </a:r>
          </a:p>
        </p:txBody>
      </p:sp>
      <p:sp>
        <p:nvSpPr>
          <p:cNvPr id="7" name="">
            <a:extLst xmlns:a="http://schemas.openxmlformats.org/drawingml/2006/main">
              <a:ext uri="{FF2B5EF4-FFF2-40B4-BE49-F238E27FC236}">
                <a16:creationId xmlns:a16="http://schemas.microsoft.com/office/drawing/2014/main" id="{57D8EC8D-C4D9-44D6-BD6C-0595F3E51F82}"/>
              </a:ext>
            </a:extLst>
          </p:cNvPr>
          <p:cNvSpPr>
            <a:spLocks xmlns:a="http://schemas.openxmlformats.org/drawingml/2006/main" noGrp="1"/>
          </p:cNvSpPr>
          <p:nvPr/>
        </p:nvSpPr>
        <p:spPr>
          <a:xfrm xmlns:a="http://schemas.openxmlformats.org/drawingml/2006/main">
            <a:off x="609600" y="589597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Arial"/>
                <a:ea typeface="Arial"/>
                <a:cs typeface="Arial"/>
              </a:defRPr>
            </a:defPPr>
          </a:lstStyle>
          <a:p xmlns:a="http://schemas.openxmlformats.org/drawingml/2006/main">
            <a:pPr>
              <a:buNone/>
              <a:defRPr sz="2550" b="0">
                <a:solidFill>
                  <a:srgbClr val="FFFFFF"/>
                </a:solidFill>
                <a:latin typeface="Arial"/>
                <a:ea typeface="Arial"/>
                <a:cs typeface="Arial"/>
              </a:defRPr>
            </a:pPr>
            <a:r>
              <a:rPr sz="2550" b="0">
                <a:solidFill>
                  <a:srgbClr val="FFFFFF"/>
                </a:solidFill>
                <a:latin typeface="Arial"/>
                <a:ea typeface="Arial"/>
                <a:cs typeface="Arial"/>
              </a:rPr>
              <a:t>Diqqətiniz üçün təşəkkür edirik</a:t>
            </a:r>
          </a:p>
        </p:txBody>
      </p:sp>
    </p:spTree>
    <p:extLst>
      <p:ext uri="{BB962C8B-B14F-4D97-AF65-F5344CB8AC3E}">
        <p14:creationId xmlns:p14="http://schemas.microsoft.com/office/powerpoint/2010/main" val="2540101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2026-10-11T13:53:55.8250000Z</dcterms:created>
  <dcterms:modified xsi:type="dcterms:W3CDTF">2026-10-11T13:53:55.8250000Z</dcterms:modified>
</coreProperties>
</file>