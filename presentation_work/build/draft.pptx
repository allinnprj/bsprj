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690c195c654ee9" /><Relationship Type="http://schemas.openxmlformats.org/officeDocument/2006/relationships/extended-properties" Target="/docProps/app.xml" Id="Rbc79f546a3004273" /><Relationship Type="http://schemas.openxmlformats.org/officeDocument/2006/relationships/officeDocument" Target="/ppt/presentation.xml" Id="Rf18201c3f01b4a7e" /></Relationships>
</file>

<file path=ppt/presentation.xml><?xml version="1.0" encoding="utf-8"?>
<p:presentation xmlns:p="http://schemas.openxmlformats.org/presentationml/2006/main">
  <p:sldMasterIdLst>
    <p:sldMasterId xmlns:r="http://schemas.openxmlformats.org/officeDocument/2006/relationships" id="2147483648" r:id="Rf32b642788044094"/>
  </p:sldMasterIdLst>
  <p:notesMasterIdLst>
    <p:notesMasterId xmlns:r="http://schemas.openxmlformats.org/officeDocument/2006/relationships" r:id="R88d87bc5a603462a"/>
  </p:notesMasterIdLst>
  <p:sldIdLst>
    <p:sldId xmlns:r="http://schemas.openxmlformats.org/officeDocument/2006/relationships" id="256" r:id="R37c2adb3b69f43bc"/>
    <p:sldId xmlns:r="http://schemas.openxmlformats.org/officeDocument/2006/relationships" id="257" r:id="R92700673ea294d3c"/>
    <p:sldId xmlns:r="http://schemas.openxmlformats.org/officeDocument/2006/relationships" id="258" r:id="R2c1bdcade6874988"/>
    <p:sldId xmlns:r="http://schemas.openxmlformats.org/officeDocument/2006/relationships" id="259" r:id="R2d59aef3c14c4085"/>
    <p:sldId xmlns:r="http://schemas.openxmlformats.org/officeDocument/2006/relationships" id="260" r:id="Re7e3a01e97d741d0"/>
    <p:sldId xmlns:r="http://schemas.openxmlformats.org/officeDocument/2006/relationships" id="261" r:id="R5648b8a6e0d04fb4"/>
    <p:sldId xmlns:r="http://schemas.openxmlformats.org/officeDocument/2006/relationships" id="262" r:id="Rb99b734bd44140cc"/>
    <p:sldId xmlns:r="http://schemas.openxmlformats.org/officeDocument/2006/relationships" id="263" r:id="R6b4ce821697747a1"/>
    <p:sldId xmlns:r="http://schemas.openxmlformats.org/officeDocument/2006/relationships" id="264" r:id="R02141eca19024f50"/>
    <p:sldId xmlns:r="http://schemas.openxmlformats.org/officeDocument/2006/relationships" id="265" r:id="Ra9a7503036624d5c"/>
    <p:sldId xmlns:r="http://schemas.openxmlformats.org/officeDocument/2006/relationships" id="266" r:id="R425584cbc1154a24"/>
    <p:sldId xmlns:r="http://schemas.openxmlformats.org/officeDocument/2006/relationships" id="267" r:id="R53a09f460ce04dd1"/>
    <p:sldId xmlns:r="http://schemas.openxmlformats.org/officeDocument/2006/relationships" id="268" r:id="Rd2dd43c4a8014f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32c74ebc064ba8" /><Relationship Type="http://schemas.openxmlformats.org/officeDocument/2006/relationships/slideMaster" Target="/ppt/slideMasters/slideMaster1.xml" Id="Rf32b642788044094" /><Relationship Type="http://schemas.openxmlformats.org/officeDocument/2006/relationships/notesMaster" Target="/ppt/notesMasters/notesMaster1.xml" Id="R88d87bc5a603462a" /><Relationship Type="http://schemas.openxmlformats.org/officeDocument/2006/relationships/presProps" Target="/ppt/presProps.xml" Id="R311ffe72ff0d4347" /><Relationship Type="http://schemas.openxmlformats.org/officeDocument/2006/relationships/tableStyles" Target="/ppt/tableStyles.xml" Id="R88ad469efdcb4294" /><Relationship Type="http://schemas.openxmlformats.org/officeDocument/2006/relationships/slide" Target="/ppt/slides/slide1.xml" Id="R37c2adb3b69f43bc" /><Relationship Type="http://schemas.openxmlformats.org/officeDocument/2006/relationships/slide" Target="/ppt/slides/slide2.xml" Id="R92700673ea294d3c" /><Relationship Type="http://schemas.openxmlformats.org/officeDocument/2006/relationships/slide" Target="/ppt/slides/slide3.xml" Id="R2c1bdcade6874988" /><Relationship Type="http://schemas.openxmlformats.org/officeDocument/2006/relationships/slide" Target="/ppt/slides/slide4.xml" Id="R2d59aef3c14c4085" /><Relationship Type="http://schemas.openxmlformats.org/officeDocument/2006/relationships/slide" Target="/ppt/slides/slide5.xml" Id="Re7e3a01e97d741d0" /><Relationship Type="http://schemas.openxmlformats.org/officeDocument/2006/relationships/slide" Target="/ppt/slides/slide6.xml" Id="R5648b8a6e0d04fb4" /><Relationship Type="http://schemas.openxmlformats.org/officeDocument/2006/relationships/slide" Target="/ppt/slides/slide7.xml" Id="Rb99b734bd44140cc" /><Relationship Type="http://schemas.openxmlformats.org/officeDocument/2006/relationships/slide" Target="/ppt/slides/slide8.xml" Id="R6b4ce821697747a1" /><Relationship Type="http://schemas.openxmlformats.org/officeDocument/2006/relationships/slide" Target="/ppt/slides/slide9.xml" Id="R02141eca19024f50" /><Relationship Type="http://schemas.openxmlformats.org/officeDocument/2006/relationships/slide" Target="/ppt/slides/slide10.xml" Id="Ra9a7503036624d5c" /><Relationship Type="http://schemas.openxmlformats.org/officeDocument/2006/relationships/slide" Target="/ppt/slides/slide11.xml" Id="R425584cbc1154a24" /><Relationship Type="http://schemas.openxmlformats.org/officeDocument/2006/relationships/slide" Target="/ppt/slides/slide12.xml" Id="R53a09f460ce04dd1" /><Relationship Type="http://schemas.openxmlformats.org/officeDocument/2006/relationships/slide" Target="/ppt/slides/slide13.xml" Id="Rd2dd43c4a8014f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f09b60f38c48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161d5ca0f14cd9" /><Relationship Type="http://schemas.openxmlformats.org/officeDocument/2006/relationships/notesMaster" Target="/ppt/notesMasters/notesMaster1.xml" Id="Rf0e067750f6d4b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18381720dd492f" /><Relationship Type="http://schemas.openxmlformats.org/officeDocument/2006/relationships/notesMaster" Target="/ppt/notesMasters/notesMaster1.xml" Id="R6ebb2e7510c344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04800b24294d4b" /><Relationship Type="http://schemas.openxmlformats.org/officeDocument/2006/relationships/notesMaster" Target="/ppt/notesMasters/notesMaster1.xml" Id="R2ad6348235ab4b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924560cf1b475a" /><Relationship Type="http://schemas.openxmlformats.org/officeDocument/2006/relationships/notesMaster" Target="/ppt/notesMasters/notesMaster1.xml" Id="Rb7fd19dcdedb41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27b214841d4597" /><Relationship Type="http://schemas.openxmlformats.org/officeDocument/2006/relationships/notesMaster" Target="/ppt/notesMasters/notesMaster1.xml" Id="R58597230620147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f61f13c32e408a" /><Relationship Type="http://schemas.openxmlformats.org/officeDocument/2006/relationships/notesMaster" Target="/ppt/notesMasters/notesMaster1.xml" Id="R8a452b6e9a7e4a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80148b58354af7" /><Relationship Type="http://schemas.openxmlformats.org/officeDocument/2006/relationships/notesMaster" Target="/ppt/notesMasters/notesMaster1.xml" Id="Rfeac2ff7df2642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3a2b1923664d53" /><Relationship Type="http://schemas.openxmlformats.org/officeDocument/2006/relationships/notesMaster" Target="/ppt/notesMasters/notesMaster1.xml" Id="Rdad5a238637e42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f94c4d239c4d6f" /><Relationship Type="http://schemas.openxmlformats.org/officeDocument/2006/relationships/notesMaster" Target="/ppt/notesMasters/notesMaster1.xml" Id="Re73cfdf6dc8842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3ccc0bb6d74527" /><Relationship Type="http://schemas.openxmlformats.org/officeDocument/2006/relationships/notesMaster" Target="/ppt/notesMasters/notesMaster1.xml" Id="R44b5b5e97c5143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da24939e8f44bc" /><Relationship Type="http://schemas.openxmlformats.org/officeDocument/2006/relationships/notesMaster" Target="/ppt/notesMasters/notesMaster1.xml" Id="Rf995a0019a2b42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77598256a348e6" /><Relationship Type="http://schemas.openxmlformats.org/officeDocument/2006/relationships/notesMaster" Target="/ppt/notesMasters/notesMaster1.xml" Id="R78f8de4f486b44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84105983e94555" /><Relationship Type="http://schemas.openxmlformats.org/officeDocument/2006/relationships/notesMaster" Target="/ppt/notesMasters/notesMaster1.xml" Id="R8bb27c296eee4d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Əsas sualımız budur: müşahidə nöqtəsində gündüz, axşam və gecə üçün tipik səs səviyyəsi nədir? Bunun üçün kalibrasiya edilmiş dB(A) qiymətləndirməsindən və etibarlı ölçmə müddətindən istifadə edirik. Orta səviyyə ilə yanaşı, ən çox müşahidə olunan sinfi göstəririk. Son məqsəd bu nəticələri məkanla əlaqələndirmək və cihazın real batareya rejimində davamlı işləməsini təsdiqləməkdir. Mənbə: istifadəçinin təqdim etdiyi ilkin PPTX və BSPRJ layihə qeydləri (memory.md, 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slaydda işləyən hissələrlə gələcək funksiyaları ayırırıq. Hazırda mikrofon siqnalı emal olunur, dB(A) qiymətləndirməsi və on dəqiqəlik statistikalar alınır, yerli jurnal və Google Sheets işləyir. Telegram diaqnostika və nəticələrə çıxış verir. GPS-dən əvvəlcədən saxlanmış sabit koordinat istifadə olunur. Çoxsaylı ölçmə nöqtələri, şəhər səs xəritəsi, anomaliya aşkarlanması və maşın təlimi ayrıca gələcək işlərdir. Mənbə: istifadəçinin təqdim etdiyi ilkin PPTX və BSPRJ layihə qeydləri (memory.md, 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50 saniyə. Mikrofonun xam siqnalını birbaşa dB kimi təqdim etmirik. Sistem A-vəznləmə tətbiq edir, qəbul edilmiş kalibrasiya ofsetindən istifadə edir və etibarlı nümunələr üzrə səs enerjisini toplayır. On dəqiqəlik Leq həmin müddətin ekvivalent səviyyəsidir. DAY, EVE və NGT hesablamalarında etibarlı ölçmə müddəti çəkidir. dB qiymətlərinin sadə ədədi ortası səs enerjisini düzgün ifadə etmir. Mikrofonun LOW və CLIP diaqnostikası ayrıca nəzarətdə qalır. Mənbə: istifadəçinin təqdim etdiyi ilkin PPTX və BSPRJ layihə qeydləri (memory.md, progress.md). Mikrofon konstruksiyasının fotosu ilkin PPTX-dəndir.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Pilot nöqtə ilkin təqdimatda Bakı, Mir Cəlal küçəsi, Zərifə Əliyeva parkının yaxınlığı kimi göstərilib. Lokal on dəqiqəlik jurnal əsas ölçmə ardıcıllığını saxlayır. T11 paketində build 158 üzrə 312 pəncərənin hamısında dB məlumatı var, etibarlı audio 99–100 faizdir, klip yoxdur və lokal nəticələr Google Sheets ilə eynidir. Enerji kəsintiləri və natamam dövrlər isə ayrıca işarələnir. Üç yüz on iki pəncərəni bütöv fasiləsiz avtonom sınaq kimi təqdim etmirik. Mənbə: ilkin PPTX, slayd 11; BSPRJ memory.md, 2026-09-26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ilkin təqdimatda olan real Summary ekranının yuxarı hissəsidir. İstifadəçi orta dB(A), tipik səviyyə, həmin səviyyənin payı və məlumatın tamlığını görür. OK, PARTIAL və NO DATA fərqli vəziyyətlərdir. PARTIAL olduqda dövrün tam ölçüldüyünü iddia etmək olmaz. Sheets-də Summary, Measurements və Charts əsas istifadəçi görünüşləridir. Telegram nəticələrə və cihazın vəziyyətinə çıxış verir. MQTT, Datacake və AppSheet üzrə tam qəbul yoxlamaları ayrıca açıq qalır. Mənbə: ilkin PPTX, image22.jpg; GOOGLE_SHEETS_MANUAL.md; BSPRJ memory.md, tasks 110 və 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955ef03d24f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bba3e0dc134d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413ffd251b4a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1cd1f945674d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ad0324bb784c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81e0d1ed9c41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3B1B74-3C8E-4AE8-B2F6-FD35272642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42C6D4-F0B7-453C-9048-1C49C9F2F2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226CEC-AD4B-4971-9C68-17D48AA35B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E103C0-2003-4EF4-A5A1-09B87200A7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CF2A0D-BFEB-4E8F-86C5-832ADC87C6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3B295B-CC0C-45F8-8E4B-3B0B3A55EA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9E93EB-BECC-434B-BBF3-D9C8CEAB79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DC2F64-9F96-448F-9677-AC9C53B706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6EF1FB-03E1-461A-A09A-6A86C4629F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66110-22F5-42F5-9423-B6215CDDEE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72e547cc16436d" /><Relationship Type="http://schemas.openxmlformats.org/officeDocument/2006/relationships/slideLayout" Target="/ppt/slideLayouts/slideLayout1.xml" Id="R66793fc8bdcc4873" /><Relationship Type="http://schemas.openxmlformats.org/officeDocument/2006/relationships/slideLayout" Target="/ppt/slideLayouts/slideLayout2.xml" Id="Rb9f9d9b0e4624819" /><Relationship Type="http://schemas.openxmlformats.org/officeDocument/2006/relationships/slideLayout" Target="/ppt/slideLayouts/slideLayout3.xml" Id="R67d7568008844e80" /><Relationship Type="http://schemas.openxmlformats.org/officeDocument/2006/relationships/slideLayout" Target="/ppt/slideLayouts/slideLayout4.xml" Id="Rcefdd10a84df41f4" /><Relationship Type="http://schemas.openxmlformats.org/officeDocument/2006/relationships/slideLayout" Target="/ppt/slideLayouts/slideLayout5.xml" Id="Rd7e70a188e3e4ea9" /><Relationship Type="http://schemas.openxmlformats.org/officeDocument/2006/relationships/slideLayout" Target="/ppt/slideLayouts/slideLayout6.xml" Id="Re13e6614ee1f4f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793fc8bdcc4873"/>
    <p:sldLayoutId xmlns:r="http://schemas.openxmlformats.org/officeDocument/2006/relationships" id="2147483650" r:id="Rb9f9d9b0e4624819"/>
    <p:sldLayoutId xmlns:r="http://schemas.openxmlformats.org/officeDocument/2006/relationships" id="2147483651" r:id="R67d7568008844e80"/>
    <p:sldLayoutId xmlns:r="http://schemas.openxmlformats.org/officeDocument/2006/relationships" id="2147483652" r:id="Rcefdd10a84df41f4"/>
    <p:sldLayoutId xmlns:r="http://schemas.openxmlformats.org/officeDocument/2006/relationships" id="2147483653" r:id="Rd7e70a188e3e4ea9"/>
    <p:sldLayoutId xmlns:r="http://schemas.openxmlformats.org/officeDocument/2006/relationships" id="2147483654" r:id="Re13e6614ee1f4f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a06a86952741cc" /><Relationship Type="http://schemas.openxmlformats.org/officeDocument/2006/relationships/image" Target="/ppt/media/image.jpeg" Id="R0b06ff563abd4155" /><Relationship Type="http://schemas.openxmlformats.org/officeDocument/2006/relationships/image" Target="/ppt/media/image.png" Id="R139d3cd5aa124766" /><Relationship Type="http://schemas.openxmlformats.org/officeDocument/2006/relationships/notesSlide" Target="/ppt/notesSlides/notesSlide1.xml" Id="R82ebfc6215fe4e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48264453b141ba" /><Relationship Type="http://schemas.openxmlformats.org/officeDocument/2006/relationships/image" Target="/ppt/media/image2.jpeg" Id="R2e4a15ef6d894cf4" /><Relationship Type="http://schemas.openxmlformats.org/officeDocument/2006/relationships/notesSlide" Target="/ppt/notesSlides/notesSlide2.xml" Id="R7731b76895584e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687e96576f7437c" /><Relationship Type="http://schemas.openxmlformats.org/officeDocument/2006/relationships/notesSlide" Target="/ppt/notesSlides/notesSlide3.xml" Id="R3cc7a00e915246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0dbf7d2a574aec" /><Relationship Type="http://schemas.openxmlformats.org/officeDocument/2006/relationships/notesSlide" Target="/ppt/notesSlides/notesSlide4.xml" Id="Rc1dc25007eca48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979a967bee4f73" /><Relationship Type="http://schemas.openxmlformats.org/officeDocument/2006/relationships/image" Target="/ppt/media/image2.png" Id="Rf336501d013143f5" /><Relationship Type="http://schemas.openxmlformats.org/officeDocument/2006/relationships/notesSlide" Target="/ppt/notesSlides/notesSlide5.xml" Id="Rc52d2a12117940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7ccc7a91c34d50" /><Relationship Type="http://schemas.openxmlformats.org/officeDocument/2006/relationships/image" Target="/ppt/media/image3.png" Id="Rd7298b875fd84348" /><Relationship Type="http://schemas.openxmlformats.org/officeDocument/2006/relationships/notesSlide" Target="/ppt/notesSlides/notesSlide6.xml" Id="R84687626bd3e4c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c1d5fe1ba8646af" /><Relationship Type="http://schemas.openxmlformats.org/officeDocument/2006/relationships/notesSlide" Target="/ppt/notesSlides/notesSlide7.xml" Id="Rf140ee2a0d3342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da0e8d04a94ac5" /><Relationship Type="http://schemas.openxmlformats.org/officeDocument/2006/relationships/notesSlide" Target="/ppt/notesSlides/notesSlide8.xml" Id="Re9f015b271ad40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444112f5c44625" /><Relationship Type="http://schemas.openxmlformats.org/officeDocument/2006/relationships/chart" Target="/ppt/slides/charts/chart1.xml" Id="Rfcb9a096d65945f6" /><Relationship Type="http://schemas.openxmlformats.org/officeDocument/2006/relationships/notesSlide" Target="/ppt/notesSlides/notesSlide9.xml" Id="R157941c5531e47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c6be4ad1ce14f5f" /><Relationship Type="http://schemas.openxmlformats.org/officeDocument/2006/relationships/image" Target="/ppt/media/image4.png" Id="Rd20959e52d0646e2" /><Relationship Type="http://schemas.openxmlformats.org/officeDocument/2006/relationships/notesSlide" Target="/ppt/notesSlides/notesSlide10.xml" Id="Rc4733617bc8c44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e6a78d7a8546df" /><Relationship Type="http://schemas.openxmlformats.org/officeDocument/2006/relationships/image" Target="/ppt/media/image3.jpeg" Id="R7b1225b8e27547e3" /><Relationship Type="http://schemas.openxmlformats.org/officeDocument/2006/relationships/notesSlide" Target="/ppt/notesSlides/notesSlide11.xml" Id="R7ac37cb60b2b4f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eee00e411e4367" /><Relationship Type="http://schemas.openxmlformats.org/officeDocument/2006/relationships/notesSlide" Target="/ppt/notesSlides/notesSlide12.xml" Id="Rc29b7bb8af9340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3fe596501a4873" /><Relationship Type="http://schemas.openxmlformats.org/officeDocument/2006/relationships/image" Target="/ppt/media/image4.jpeg" Id="R8f6eedc6631f494a" /><Relationship Type="http://schemas.openxmlformats.org/officeDocument/2006/relationships/notesSlide" Target="/ppt/notesSlides/notesSlide13.xml" Id="R2d1fc5e8baf945df" /></Relationships>
</file>

<file path=ppt/slides/charts/chart1.xml><?xml version="1.0" encoding="utf-8"?>
<c:chartSpace xmlns:c="http://schemas.openxmlformats.org/drawingml/2006/chart">
  <c:lang val="en-US"/>
  <c:chart>
    <c:plotArea>
      <c:barChart>
        <c:barDir val="col"/>
        <c:grouping val="clustered"/>
        <c:varyColors val="0"/>
        <c:ser>
          <c:idx val="0"/>
          <c:order val="0"/>
          <c:tx>
            <c:v>Leq, dB(A)</c:v>
          </c:tx>
          <c:spPr>
            <a:solidFill xmlns:a="http://schemas.openxmlformats.org/drawingml/2006/main">
              <a:srgbClr val="087F83"/>
            </a:solidFill>
          </c:spPr>
          <c:invertIfNegative val="0"/>
          <c:cat>
            <c:strLit>
              <c:ptCount val="3"/>
              <c:pt idx="0">
                <c:v>DAY</c:v>
              </c:pt>
              <c:pt idx="1">
                <c:v>EVE</c:v>
              </c:pt>
              <c:pt idx="2">
                <c:v>NGT</c:v>
              </c:pt>
            </c:strLit>
          </c:cat>
          <c:val>
            <c:numLit>
              <c:formatCode>0</c:formatCode>
              <c:ptCount val="3"/>
              <c:pt idx="0">
                <c:v>61.5</c:v>
              </c:pt>
              <c:pt idx="1">
                <c:v>59.2</c:v>
              </c:pt>
              <c:pt idx="2">
                <c:v>53.6</c:v>
              </c:pt>
            </c:numLit>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2F40"/>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B6BF"/>
            </a:solidFill>
          </a:ln>
        </c:spPr>
        <c:txPr>
          <a:bodyPr xmlns:a="http://schemas.openxmlformats.org/drawingml/2006/main" anchorCtr="1"/>
          <a:lstStyle xmlns:a="http://schemas.openxmlformats.org/drawingml/2006/main"/>
          <a:p xmlns:a="http://schemas.openxmlformats.org/drawingml/2006/main">
            <a:pPr>
              <a:defRPr sz="1725">
                <a:solidFill>
                  <a:srgbClr val="172F40"/>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E3"/>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674"/>
                </a:solidFill>
                <a:latin typeface="Arial"/>
                <a:ea typeface="Arial"/>
                <a:cs typeface="Arial"/>
              </a:defRPr>
            </a:pPr>
          </a:p>
        </c:txPr>
        <c:crossAx val="48650112"/>
        <c:crossBetween val="between"/>
        <c:majorUnit val="10"/>
      </c:valAx>
      <c:spPr>
        <a:solidFill xmlns:a="http://schemas.openxmlformats.org/drawingml/2006/main">
          <a:srgbClr val="F7F7F2"/>
        </a:solidFill>
      </c:spPr>
    </c:plotArea>
    <c:plotVisOnly val="1"/>
  </c:chart>
  <c:spPr>
    <a:solidFill xmlns:a="http://schemas.openxmlformats.org/drawingml/2006/main">
      <a:srgbClr val="F7F7F2"/>
    </a:solidFill>
  </c:spPr>
</c:chartSpace>
</file>

<file path=ppt/slides/slide1.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94F5DF-5BFF-4BF7-84F2-EAF39E84D01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7CFD8"/>
                </a:solidFill>
                <a:latin typeface="Arial"/>
                <a:ea typeface="Arial"/>
                <a:cs typeface="Arial"/>
              </a:defRPr>
            </a:defPPr>
          </a:lstStyle>
          <a:p xmlns:a="http://schemas.openxmlformats.org/drawingml/2006/main">
            <a:pPr>
              <a:defRPr sz="1200" b="0">
                <a:solidFill>
                  <a:srgbClr val="B7CFD8"/>
                </a:solidFill>
                <a:latin typeface="Arial"/>
                <a:ea typeface="Arial"/>
                <a:cs typeface="Arial"/>
              </a:defRPr>
            </a:pPr>
            <a:r>
              <a:rPr sz="1200" b="0">
                <a:solidFill>
                  <a:srgbClr val="B7CFD8"/>
                </a:solidFill>
                <a:latin typeface="Arial"/>
                <a:ea typeface="Arial"/>
                <a:cs typeface="Arial"/>
              </a:rPr>
              <a:t>01 / 13</a:t>
            </a:r>
          </a:p>
        </p:txBody>
      </p:sp>
      <p:pic>
        <p:nvPicPr>
          <p:cNvPr id="2" name="">
            <a:extLst xmlns:a="http://schemas.openxmlformats.org/drawingml/2006/main">
              <a:ext uri="{FF2B5EF4-FFF2-40B4-BE49-F238E27FC236}">
                <a16:creationId xmlns:a16="http://schemas.microsoft.com/office/drawing/2014/main" id="{60FF0421-2977-4E50-8968-E7EF055FCCA9}"/>
              </a:ext>
            </a:extLst>
          </p:cNvPr>
          <p:cNvPicPr>
            <a:picLocks xmlns:a="http://schemas.openxmlformats.org/drawingml/2006/main" noChangeAspect="1"/>
          </p:cNvPicPr>
          <p:nvPr/>
        </p:nvPicPr>
        <p:blipFill>
          <a:blip xmlns:r="http://schemas.openxmlformats.org/officeDocument/2006/relationships" xmlns:a="http://schemas.openxmlformats.org/drawingml/2006/main" r:embed="R0b06ff563abd4155"/>
          <a:srcRect xmlns:a="http://schemas.openxmlformats.org/drawingml/2006/main" l="28719" t="0" r="28719" b="0"/>
          <a:stretch xmlns:a="http://schemas.openxmlformats.org/drawingml/2006/main">
            <a:fillRect l="0" t="0" r="0" b="0"/>
          </a:stretch>
        </p:blipFill>
        <p:spPr>
          <a:xfrm xmlns:a="http://schemas.openxmlformats.org/drawingml/2006/main">
            <a:off x="6477000" y="0"/>
            <a:ext cx="5715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24A760-8C4D-4710-A291-9C1B47E1F070}"/>
              </a:ext>
            </a:extLst>
          </p:cNvPr>
          <p:cNvSpPr>
            <a:spLocks xmlns:a="http://schemas.openxmlformats.org/drawingml/2006/main" noGrp="1"/>
          </p:cNvSpPr>
          <p:nvPr/>
        </p:nvSpPr>
        <p:spPr>
          <a:xfrm xmlns:a="http://schemas.openxmlformats.org/drawingml/2006/main">
            <a:off x="609600" y="1219200"/>
            <a:ext cx="561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FFFFFF"/>
                </a:solidFill>
                <a:latin typeface="Arial"/>
                <a:ea typeface="Arial"/>
                <a:cs typeface="Arial"/>
              </a:defRPr>
            </a:defPPr>
          </a:lstStyle>
          <a:p xmlns:a="http://schemas.openxmlformats.org/drawingml/2006/main">
            <a:pPr>
              <a:defRPr sz="3975" b="1">
                <a:solidFill>
                  <a:srgbClr val="FFFFFF"/>
                </a:solidFill>
                <a:latin typeface="Arial"/>
                <a:ea typeface="Arial"/>
                <a:cs typeface="Arial"/>
              </a:defRPr>
            </a:pPr>
            <a:r>
              <a:rPr sz="3975" b="1">
                <a:solidFill>
                  <a:srgbClr val="FFFFFF"/>
                </a:solidFill>
                <a:latin typeface="Arial"/>
                <a:ea typeface="Arial"/>
                <a:cs typeface="Arial"/>
              </a:rPr>
              <a:t>Şəhər mühitində</a:t>
            </a:r>
          </a:p>
          <a:p xmlns:a="http://schemas.openxmlformats.org/drawingml/2006/main">
            <a:pPr>
              <a:defRPr sz="3975" b="1">
                <a:solidFill>
                  <a:srgbClr val="FFFFFF"/>
                </a:solidFill>
                <a:latin typeface="Arial"/>
                <a:ea typeface="Arial"/>
                <a:cs typeface="Arial"/>
              </a:defRPr>
            </a:pPr>
            <a:r>
              <a:rPr sz="3975" b="1">
                <a:solidFill>
                  <a:srgbClr val="FFFFFF"/>
                </a:solidFill>
                <a:latin typeface="Arial"/>
                <a:ea typeface="Arial"/>
                <a:cs typeface="Arial"/>
              </a:rPr>
              <a:t>akustik monitorinq</a:t>
            </a:r>
          </a:p>
        </p:txBody>
      </p:sp>
      <p:sp>
        <p:nvSpPr>
          <p:cNvPr id="4" name="">
            <a:extLst xmlns:a="http://schemas.openxmlformats.org/drawingml/2006/main">
              <a:ext uri="{FF2B5EF4-FFF2-40B4-BE49-F238E27FC236}">
                <a16:creationId xmlns:a16="http://schemas.microsoft.com/office/drawing/2014/main" id="{80A4854F-2DA5-48DD-8341-998A47D666DA}"/>
              </a:ext>
            </a:extLst>
          </p:cNvPr>
          <p:cNvSpPr>
            <a:spLocks xmlns:a="http://schemas.openxmlformats.org/drawingml/2006/main" noGrp="1"/>
          </p:cNvSpPr>
          <p:nvPr/>
        </p:nvSpPr>
        <p:spPr>
          <a:xfrm xmlns:a="http://schemas.openxmlformats.org/drawingml/2006/main">
            <a:off x="609600" y="320992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C8E3E6"/>
                </a:solidFill>
                <a:latin typeface="Arial"/>
                <a:ea typeface="Arial"/>
                <a:cs typeface="Arial"/>
              </a:defRPr>
            </a:defPPr>
          </a:lstStyle>
          <a:p xmlns:a="http://schemas.openxmlformats.org/drawingml/2006/main">
            <a:pPr>
              <a:defRPr sz="2400" b="0">
                <a:solidFill>
                  <a:srgbClr val="C8E3E6"/>
                </a:solidFill>
                <a:latin typeface="Arial"/>
                <a:ea typeface="Arial"/>
                <a:cs typeface="Arial"/>
              </a:defRPr>
            </a:pPr>
            <a:r>
              <a:rPr sz="2400" b="0">
                <a:solidFill>
                  <a:srgbClr val="C8E3E6"/>
                </a:solidFill>
                <a:latin typeface="Arial"/>
                <a:ea typeface="Arial"/>
                <a:cs typeface="Arial"/>
              </a:rPr>
              <a:t>Zaman üzrə təhlil və</a:t>
            </a:r>
          </a:p>
          <a:p xmlns:a="http://schemas.openxmlformats.org/drawingml/2006/main">
            <a:pPr>
              <a:defRPr sz="2400" b="0">
                <a:solidFill>
                  <a:srgbClr val="C8E3E6"/>
                </a:solidFill>
                <a:latin typeface="Arial"/>
                <a:ea typeface="Arial"/>
                <a:cs typeface="Arial"/>
              </a:defRPr>
            </a:pPr>
            <a:r>
              <a:rPr sz="2400" b="0">
                <a:solidFill>
                  <a:srgbClr val="C8E3E6"/>
                </a:solidFill>
                <a:latin typeface="Arial"/>
                <a:ea typeface="Arial"/>
                <a:cs typeface="Arial"/>
              </a:rPr>
              <a:t>xəritələmə perspektivi</a:t>
            </a:r>
          </a:p>
        </p:txBody>
      </p:sp>
      <p:sp>
        <p:nvSpPr>
          <p:cNvPr id="5" name="">
            <a:extLst xmlns:a="http://schemas.openxmlformats.org/drawingml/2006/main">
              <a:ext uri="{FF2B5EF4-FFF2-40B4-BE49-F238E27FC236}">
                <a16:creationId xmlns:a16="http://schemas.microsoft.com/office/drawing/2014/main" id="{7B25B25B-6EEF-43C0-9D48-A0E80B2BB819}"/>
              </a:ext>
            </a:extLst>
          </p:cNvPr>
          <p:cNvSpPr>
            <a:spLocks xmlns:a="http://schemas.openxmlformats.org/drawingml/2006/main" noGrp="1"/>
          </p:cNvSpPr>
          <p:nvPr/>
        </p:nvSpPr>
        <p:spPr>
          <a:xfrm xmlns:a="http://schemas.openxmlformats.org/drawingml/2006/main">
            <a:off x="609600" y="762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8E3E6"/>
                </a:solidFill>
                <a:latin typeface="Arial"/>
                <a:ea typeface="Arial"/>
                <a:cs typeface="Arial"/>
              </a:defRPr>
            </a:defPPr>
          </a:lstStyle>
          <a:p xmlns:a="http://schemas.openxmlformats.org/drawingml/2006/main">
            <a:pPr>
              <a:defRPr sz="1500" b="0">
                <a:solidFill>
                  <a:srgbClr val="C8E3E6"/>
                </a:solidFill>
                <a:latin typeface="Arial"/>
                <a:ea typeface="Arial"/>
                <a:cs typeface="Arial"/>
              </a:defRPr>
            </a:pPr>
            <a:r>
              <a:rPr sz="1500" b="0">
                <a:solidFill>
                  <a:srgbClr val="C8E3E6"/>
                </a:solidFill>
                <a:latin typeface="Arial"/>
                <a:ea typeface="Arial"/>
                <a:cs typeface="Arial"/>
              </a:rPr>
              <a:t>BSPRJ • Tədqiqat prototipi</a:t>
            </a:r>
          </a:p>
        </p:txBody>
      </p:sp>
      <p:sp>
        <p:nvSpPr>
          <p:cNvPr id="6" name="">
            <a:extLst xmlns:a="http://schemas.openxmlformats.org/drawingml/2006/main">
              <a:ext uri="{FF2B5EF4-FFF2-40B4-BE49-F238E27FC236}">
                <a16:creationId xmlns:a16="http://schemas.microsoft.com/office/drawing/2014/main" id="{211527B7-A64F-4F99-901A-347741048693}"/>
              </a:ext>
            </a:extLst>
          </p:cNvPr>
          <p:cNvSpPr>
            <a:spLocks xmlns:a="http://schemas.openxmlformats.org/drawingml/2006/main" noGrp="1"/>
          </p:cNvSpPr>
          <p:nvPr/>
        </p:nvSpPr>
        <p:spPr>
          <a:xfrm xmlns:a="http://schemas.openxmlformats.org/drawingml/2006/main">
            <a:off x="609600" y="539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986D30A0-759F-44A2-8D5F-E947173894BA}"/>
              </a:ext>
            </a:extLst>
          </p:cNvPr>
          <p:cNvPicPr>
            <a:picLocks xmlns:a="http://schemas.openxmlformats.org/drawingml/2006/main" noChangeAspect="1"/>
          </p:cNvPicPr>
          <p:nvPr/>
        </p:nvPicPr>
        <p:blipFill>
          <a:blip xmlns:r="http://schemas.openxmlformats.org/officeDocument/2006/relationships" xmlns:a="http://schemas.openxmlformats.org/drawingml/2006/main" r:embed="R139d3cd5aa124766"/>
          <a:stretch xmlns:a="http://schemas.openxmlformats.org/drawingml/2006/main"/>
        </p:blipFill>
        <p:spPr>
          <a:xfrm xmlns:a="http://schemas.openxmlformats.org/drawingml/2006/main">
            <a:off x="643086" y="5924550"/>
            <a:ext cx="599777" cy="571500"/>
          </a:xfrm>
          <a:prstGeom xmlns:a="http://schemas.openxmlformats.org/drawingml/2006/main" prst="rect">
            <a:avLst/>
          </a:prstGeom>
        </p:spPr>
      </p:pic>
    </p:spTree>
    <p:extLst>
      <p:ext uri="{BB962C8B-B14F-4D97-AF65-F5344CB8AC3E}">
        <p14:creationId xmlns:p14="http://schemas.microsoft.com/office/powerpoint/2010/main" val="1080952757"/>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ADE810-D1CA-40EC-AB0E-1E6FA960DD1A}"/>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Tədqiqat problemi</a:t>
            </a:r>
          </a:p>
        </p:txBody>
      </p:sp>
      <p:sp>
        <p:nvSpPr>
          <p:cNvPr id="2" name="">
            <a:extLst xmlns:a="http://schemas.openxmlformats.org/drawingml/2006/main">
              <a:ext uri="{FF2B5EF4-FFF2-40B4-BE49-F238E27FC236}">
                <a16:creationId xmlns:a16="http://schemas.microsoft.com/office/drawing/2014/main" id="{0A433433-2765-4347-BC31-477C307189F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02 / 13</a:t>
            </a:r>
          </a:p>
        </p:txBody>
      </p:sp>
      <p:pic>
        <p:nvPicPr>
          <p:cNvPr id="3" name="">
            <a:extLst xmlns:a="http://schemas.openxmlformats.org/drawingml/2006/main">
              <a:ext uri="{FF2B5EF4-FFF2-40B4-BE49-F238E27FC236}">
                <a16:creationId xmlns:a16="http://schemas.microsoft.com/office/drawing/2014/main" id="{070715AB-3CD6-41E5-B086-3FC76AAE3755}"/>
              </a:ext>
            </a:extLst>
          </p:cNvPr>
          <p:cNvPicPr>
            <a:picLocks xmlns:a="http://schemas.openxmlformats.org/drawingml/2006/main" noChangeAspect="1"/>
          </p:cNvPicPr>
          <p:nvPr/>
        </p:nvPicPr>
        <p:blipFill>
          <a:blip xmlns:r="http://schemas.openxmlformats.org/officeDocument/2006/relationships" xmlns:a="http://schemas.openxmlformats.org/drawingml/2006/main" r:embed="R2e4a15ef6d894cf4"/>
          <a:srcRect xmlns:a="http://schemas.openxmlformats.org/drawingml/2006/main" l="11998" t="0" r="11998" b="0"/>
          <a:stretch xmlns:a="http://schemas.openxmlformats.org/drawingml/2006/main">
            <a:fillRect l="0" t="0" r="0" b="0"/>
          </a:stretch>
        </p:blipFill>
        <p:spPr>
          <a:xfrm xmlns:a="http://schemas.openxmlformats.org/drawingml/2006/main">
            <a:off x="6477000" y="1619250"/>
            <a:ext cx="5105400" cy="3962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6F159D-DD39-44F3-B6CF-FAAD811ED625}"/>
              </a:ext>
            </a:extLst>
          </p:cNvPr>
          <p:cNvSpPr>
            <a:spLocks xmlns:a="http://schemas.openxmlformats.org/drawingml/2006/main" noGrp="1"/>
          </p:cNvSpPr>
          <p:nvPr/>
        </p:nvSpPr>
        <p:spPr>
          <a:xfrm xmlns:a="http://schemas.openxmlformats.org/drawingml/2006/main">
            <a:off x="609600" y="1695450"/>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Eyni məkanın səs səviyyəsi gün ərzində dəyişir.</a:t>
            </a:r>
          </a:p>
        </p:txBody>
      </p:sp>
      <p:sp>
        <p:nvSpPr>
          <p:cNvPr id="5" name="">
            <a:extLst xmlns:a="http://schemas.openxmlformats.org/drawingml/2006/main">
              <a:ext uri="{FF2B5EF4-FFF2-40B4-BE49-F238E27FC236}">
                <a16:creationId xmlns:a16="http://schemas.microsoft.com/office/drawing/2014/main" id="{9AFB4439-167E-41ED-82C3-6ABD8108F1AD}"/>
              </a:ext>
            </a:extLst>
          </p:cNvPr>
          <p:cNvSpPr>
            <a:spLocks xmlns:a="http://schemas.openxmlformats.org/drawingml/2006/main" noGrp="1"/>
          </p:cNvSpPr>
          <p:nvPr/>
        </p:nvSpPr>
        <p:spPr>
          <a:xfrm xmlns:a="http://schemas.openxmlformats.org/drawingml/2006/main">
            <a:off x="609600" y="3019425"/>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Qısa ölçmə sutkalıq mənzərəni tam göstərmir.</a:t>
            </a:r>
          </a:p>
        </p:txBody>
      </p:sp>
      <p:sp>
        <p:nvSpPr>
          <p:cNvPr id="6" name="">
            <a:extLst xmlns:a="http://schemas.openxmlformats.org/drawingml/2006/main">
              <a:ext uri="{FF2B5EF4-FFF2-40B4-BE49-F238E27FC236}">
                <a16:creationId xmlns:a16="http://schemas.microsoft.com/office/drawing/2014/main" id="{74A586C9-63CA-4EF7-BC2C-0E202599B678}"/>
              </a:ext>
            </a:extLst>
          </p:cNvPr>
          <p:cNvSpPr>
            <a:spLocks xmlns:a="http://schemas.openxmlformats.org/drawingml/2006/main" noGrp="1"/>
          </p:cNvSpPr>
          <p:nvPr/>
        </p:nvSpPr>
        <p:spPr>
          <a:xfrm xmlns:a="http://schemas.openxmlformats.org/drawingml/2006/main">
            <a:off x="609600" y="4343400"/>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Müqayisə üçün davamlı və keyfiyyəti yoxlanmış məlumat lazımdır.</a:t>
            </a:r>
          </a:p>
        </p:txBody>
      </p:sp>
    </p:spTree>
    <p:extLst>
      <p:ext uri="{BB962C8B-B14F-4D97-AF65-F5344CB8AC3E}">
        <p14:creationId xmlns:p14="http://schemas.microsoft.com/office/powerpoint/2010/main" val="1404180586"/>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9ACBBD-0C52-4562-A9E3-92A308A65528}"/>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Layihənin məqsədi</a:t>
            </a:r>
          </a:p>
        </p:txBody>
      </p:sp>
      <p:sp>
        <p:nvSpPr>
          <p:cNvPr id="2" name="">
            <a:extLst xmlns:a="http://schemas.openxmlformats.org/drawingml/2006/main">
              <a:ext uri="{FF2B5EF4-FFF2-40B4-BE49-F238E27FC236}">
                <a16:creationId xmlns:a16="http://schemas.microsoft.com/office/drawing/2014/main" id="{5D1048BE-9502-462F-83CF-D9CF4446A22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03 / 13</a:t>
            </a:r>
          </a:p>
        </p:txBody>
      </p:sp>
      <p:sp>
        <p:nvSpPr>
          <p:cNvPr id="3" name="">
            <a:extLst xmlns:a="http://schemas.openxmlformats.org/drawingml/2006/main">
              <a:ext uri="{FF2B5EF4-FFF2-40B4-BE49-F238E27FC236}">
                <a16:creationId xmlns:a16="http://schemas.microsoft.com/office/drawing/2014/main" id="{B958048E-47B0-4099-B0E1-B2DE2DE73729}"/>
              </a:ext>
            </a:extLst>
          </p:cNvPr>
          <p:cNvSpPr>
            <a:spLocks xmlns:a="http://schemas.openxmlformats.org/drawingml/2006/main" noGrp="1"/>
          </p:cNvSpPr>
          <p:nvPr/>
        </p:nvSpPr>
        <p:spPr>
          <a:xfrm xmlns:a="http://schemas.openxmlformats.org/drawingml/2006/main">
            <a:off x="609600" y="1657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87F83"/>
                </a:solidFill>
                <a:latin typeface="Arial"/>
                <a:ea typeface="Arial"/>
                <a:cs typeface="Arial"/>
              </a:defRPr>
            </a:defPPr>
          </a:lstStyle>
          <a:p xmlns:a="http://schemas.openxmlformats.org/drawingml/2006/main">
            <a:pPr>
              <a:defRPr sz="3225" b="1">
                <a:solidFill>
                  <a:srgbClr val="087F83"/>
                </a:solidFill>
                <a:latin typeface="Arial"/>
                <a:ea typeface="Arial"/>
                <a:cs typeface="Arial"/>
              </a:defRPr>
            </a:pPr>
            <a:r>
              <a:rPr sz="3225" b="1">
                <a:solidFill>
                  <a:srgbClr val="087F83"/>
                </a:solidFill>
                <a:latin typeface="Arial"/>
                <a:ea typeface="Arial"/>
                <a:cs typeface="Arial"/>
              </a:rPr>
              <a:t>Günün hansı hissəsində səs-küy daha yüksəkdir?</a:t>
            </a:r>
          </a:p>
        </p:txBody>
      </p:sp>
      <p:sp>
        <p:nvSpPr>
          <p:cNvPr id="4" name="">
            <a:extLst xmlns:a="http://schemas.openxmlformats.org/drawingml/2006/main">
              <a:ext uri="{FF2B5EF4-FFF2-40B4-BE49-F238E27FC236}">
                <a16:creationId xmlns:a16="http://schemas.microsoft.com/office/drawing/2014/main" id="{68CF9A75-D255-4BC1-A46B-C7FD99B7C1B5}"/>
              </a:ext>
            </a:extLst>
          </p:cNvPr>
          <p:cNvSpPr>
            <a:spLocks xmlns:a="http://schemas.openxmlformats.org/drawingml/2006/main" noGrp="1"/>
          </p:cNvSpPr>
          <p:nvPr/>
        </p:nvSpPr>
        <p:spPr>
          <a:xfrm xmlns:a="http://schemas.openxmlformats.org/drawingml/2006/main">
            <a:off x="609600" y="305752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DAY — gündüz     EVE — axşam     NGT — gecə</a:t>
            </a:r>
          </a:p>
        </p:txBody>
      </p:sp>
      <p:sp>
        <p:nvSpPr>
          <p:cNvPr id="5" name="">
            <a:extLst xmlns:a="http://schemas.openxmlformats.org/drawingml/2006/main">
              <a:ext uri="{FF2B5EF4-FFF2-40B4-BE49-F238E27FC236}">
                <a16:creationId xmlns:a16="http://schemas.microsoft.com/office/drawing/2014/main" id="{0788BEC2-2257-4281-AF17-CEF4577FCD9E}"/>
              </a:ext>
            </a:extLst>
          </p:cNvPr>
          <p:cNvSpPr>
            <a:spLocks xmlns:a="http://schemas.openxmlformats.org/drawingml/2006/main" noGrp="1"/>
          </p:cNvSpPr>
          <p:nvPr/>
        </p:nvSpPr>
        <p:spPr>
          <a:xfrm xmlns:a="http://schemas.openxmlformats.org/drawingml/2006/main">
            <a:off x="609600" y="40195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Hər dövr üçün enerji üzrə orta dB(A), tipik sinif və məlumat əhatəsi</a:t>
            </a:r>
          </a:p>
        </p:txBody>
      </p:sp>
      <p:sp>
        <p:nvSpPr>
          <p:cNvPr id="6" name="">
            <a:extLst xmlns:a="http://schemas.openxmlformats.org/drawingml/2006/main">
              <a:ext uri="{FF2B5EF4-FFF2-40B4-BE49-F238E27FC236}">
                <a16:creationId xmlns:a16="http://schemas.microsoft.com/office/drawing/2014/main" id="{52492680-14D7-472E-B6BA-A57CE172FD49}"/>
              </a:ext>
            </a:extLst>
          </p:cNvPr>
          <p:cNvSpPr>
            <a:spLocks xmlns:a="http://schemas.openxmlformats.org/drawingml/2006/main" noGrp="1"/>
          </p:cNvSpPr>
          <p:nvPr/>
        </p:nvSpPr>
        <p:spPr>
          <a:xfrm xmlns:a="http://schemas.openxmlformats.org/drawingml/2006/main">
            <a:off x="609600" y="498157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Sabit müşahidə nöqtəsi və yoxlanmış avtonom iş</a:t>
            </a:r>
          </a:p>
        </p:txBody>
      </p:sp>
    </p:spTree>
    <p:extLst>
      <p:ext uri="{BB962C8B-B14F-4D97-AF65-F5344CB8AC3E}">
        <p14:creationId xmlns:p14="http://schemas.microsoft.com/office/powerpoint/2010/main" val="707570035"/>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47C10E-4671-4B72-A399-7726AF41F8F3}"/>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Hazırkı prototip və inkişaf istiqaməti</a:t>
            </a:r>
          </a:p>
        </p:txBody>
      </p:sp>
      <p:sp>
        <p:nvSpPr>
          <p:cNvPr id="2" name="">
            <a:extLst xmlns:a="http://schemas.openxmlformats.org/drawingml/2006/main">
              <a:ext uri="{FF2B5EF4-FFF2-40B4-BE49-F238E27FC236}">
                <a16:creationId xmlns:a16="http://schemas.microsoft.com/office/drawing/2014/main" id="{AA978729-8719-462F-B40B-5BBDD3C71668}"/>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04 / 13</a:t>
            </a:r>
          </a:p>
        </p:txBody>
      </p:sp>
      <p:sp>
        <p:nvSpPr>
          <p:cNvPr id="3" name="">
            <a:extLst xmlns:a="http://schemas.openxmlformats.org/drawingml/2006/main">
              <a:ext uri="{FF2B5EF4-FFF2-40B4-BE49-F238E27FC236}">
                <a16:creationId xmlns:a16="http://schemas.microsoft.com/office/drawing/2014/main" id="{E0FECF16-AEF2-4BC3-BEA1-07E4D5F956EE}"/>
              </a:ext>
            </a:extLst>
          </p:cNvPr>
          <p:cNvSpPr>
            <a:spLocks xmlns:a="http://schemas.openxmlformats.org/drawingml/2006/main" noGrp="1"/>
          </p:cNvSpPr>
          <p:nvPr/>
        </p:nvSpPr>
        <p:spPr>
          <a:xfrm xmlns:a="http://schemas.openxmlformats.org/drawingml/2006/main">
            <a:off x="609600" y="16287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latin typeface="Arial"/>
                <a:ea typeface="Arial"/>
                <a:cs typeface="Arial"/>
              </a:defRPr>
            </a:defPPr>
          </a:lstStyle>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Hazırda işləyən hissələr</a:t>
            </a:r>
          </a:p>
        </p:txBody>
      </p:sp>
      <p:sp>
        <p:nvSpPr>
          <p:cNvPr id="4" name="">
            <a:extLst xmlns:a="http://schemas.openxmlformats.org/drawingml/2006/main">
              <a:ext uri="{FF2B5EF4-FFF2-40B4-BE49-F238E27FC236}">
                <a16:creationId xmlns:a16="http://schemas.microsoft.com/office/drawing/2014/main" id="{31A4B9C9-243B-4896-9931-B973AA34C171}"/>
              </a:ext>
            </a:extLst>
          </p:cNvPr>
          <p:cNvSpPr>
            <a:spLocks xmlns:a="http://schemas.openxmlformats.org/drawingml/2006/main" noGrp="1"/>
          </p:cNvSpPr>
          <p:nvPr/>
        </p:nvSpPr>
        <p:spPr>
          <a:xfrm xmlns:a="http://schemas.openxmlformats.org/drawingml/2006/main">
            <a:off x="6572250" y="1628775"/>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latin typeface="Arial"/>
                <a:ea typeface="Arial"/>
                <a:cs typeface="Arial"/>
              </a:defRPr>
            </a:defPPr>
          </a:lstStyle>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Sonrakı mərhələlər</a:t>
            </a:r>
          </a:p>
        </p:txBody>
      </p:sp>
      <p:sp>
        <p:nvSpPr>
          <p:cNvPr id="5" name="">
            <a:extLst xmlns:a="http://schemas.openxmlformats.org/drawingml/2006/main">
              <a:ext uri="{FF2B5EF4-FFF2-40B4-BE49-F238E27FC236}">
                <a16:creationId xmlns:a16="http://schemas.microsoft.com/office/drawing/2014/main" id="{69A183C1-4C07-4688-8C21-B1D8B99FA55A}"/>
              </a:ext>
            </a:extLst>
          </p:cNvPr>
          <p:cNvSpPr>
            <a:spLocks xmlns:a="http://schemas.openxmlformats.org/drawingml/2006/main" noGrp="1"/>
          </p:cNvSpPr>
          <p:nvPr/>
        </p:nvSpPr>
        <p:spPr>
          <a:xfrm xmlns:a="http://schemas.openxmlformats.org/drawingml/2006/main">
            <a:off x="609600" y="24384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dB(A) ölçmə və zaman statistikası</a:t>
            </a:r>
          </a:p>
        </p:txBody>
      </p:sp>
      <p:sp>
        <p:nvSpPr>
          <p:cNvPr id="6" name="">
            <a:extLst xmlns:a="http://schemas.openxmlformats.org/drawingml/2006/main">
              <a:ext uri="{FF2B5EF4-FFF2-40B4-BE49-F238E27FC236}">
                <a16:creationId xmlns:a16="http://schemas.microsoft.com/office/drawing/2014/main" id="{C495F2E0-FA45-47CB-9182-34E212BBF341}"/>
              </a:ext>
            </a:extLst>
          </p:cNvPr>
          <p:cNvSpPr>
            <a:spLocks xmlns:a="http://schemas.openxmlformats.org/drawingml/2006/main" noGrp="1"/>
          </p:cNvSpPr>
          <p:nvPr/>
        </p:nvSpPr>
        <p:spPr>
          <a:xfrm xmlns:a="http://schemas.openxmlformats.org/drawingml/2006/main">
            <a:off x="609600" y="34290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Yerli jurnal, Google Sheets, Telegram</a:t>
            </a:r>
          </a:p>
        </p:txBody>
      </p:sp>
      <p:sp>
        <p:nvSpPr>
          <p:cNvPr id="7" name="">
            <a:extLst xmlns:a="http://schemas.openxmlformats.org/drawingml/2006/main">
              <a:ext uri="{FF2B5EF4-FFF2-40B4-BE49-F238E27FC236}">
                <a16:creationId xmlns:a16="http://schemas.microsoft.com/office/drawing/2014/main" id="{167958A7-2793-4458-9E16-AB6DCB37366B}"/>
              </a:ext>
            </a:extLst>
          </p:cNvPr>
          <p:cNvSpPr>
            <a:spLocks xmlns:a="http://schemas.openxmlformats.org/drawingml/2006/main" noGrp="1"/>
          </p:cNvSpPr>
          <p:nvPr/>
        </p:nvSpPr>
        <p:spPr>
          <a:xfrm xmlns:a="http://schemas.openxmlformats.org/drawingml/2006/main">
            <a:off x="609600" y="44196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Saxlanmış GPS koordinatı</a:t>
            </a:r>
          </a:p>
        </p:txBody>
      </p:sp>
      <p:sp>
        <p:nvSpPr>
          <p:cNvPr id="8" name="">
            <a:extLst xmlns:a="http://schemas.openxmlformats.org/drawingml/2006/main">
              <a:ext uri="{FF2B5EF4-FFF2-40B4-BE49-F238E27FC236}">
                <a16:creationId xmlns:a16="http://schemas.microsoft.com/office/drawing/2014/main" id="{5C16B890-E969-4009-AF03-71D11442EA1E}"/>
              </a:ext>
            </a:extLst>
          </p:cNvPr>
          <p:cNvSpPr>
            <a:spLocks xmlns:a="http://schemas.openxmlformats.org/drawingml/2006/main" noGrp="1"/>
          </p:cNvSpPr>
          <p:nvPr/>
        </p:nvSpPr>
        <p:spPr>
          <a:xfrm xmlns:a="http://schemas.openxmlformats.org/drawingml/2006/main">
            <a:off x="6572250" y="24384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Bir neçə müşahidə stansiyası</a:t>
            </a:r>
          </a:p>
        </p:txBody>
      </p:sp>
      <p:sp>
        <p:nvSpPr>
          <p:cNvPr id="9" name="">
            <a:extLst xmlns:a="http://schemas.openxmlformats.org/drawingml/2006/main">
              <a:ext uri="{FF2B5EF4-FFF2-40B4-BE49-F238E27FC236}">
                <a16:creationId xmlns:a16="http://schemas.microsoft.com/office/drawing/2014/main" id="{73F6818E-ED35-4AD4-A590-603F4E67DACD}"/>
              </a:ext>
            </a:extLst>
          </p:cNvPr>
          <p:cNvSpPr>
            <a:spLocks xmlns:a="http://schemas.openxmlformats.org/drawingml/2006/main" noGrp="1"/>
          </p:cNvSpPr>
          <p:nvPr/>
        </p:nvSpPr>
        <p:spPr>
          <a:xfrm xmlns:a="http://schemas.openxmlformats.org/drawingml/2006/main">
            <a:off x="6572250" y="34290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Şəhər üzrə səs xəritəsi</a:t>
            </a:r>
          </a:p>
        </p:txBody>
      </p:sp>
      <p:sp>
        <p:nvSpPr>
          <p:cNvPr id="10" name="">
            <a:extLst xmlns:a="http://schemas.openxmlformats.org/drawingml/2006/main">
              <a:ext uri="{FF2B5EF4-FFF2-40B4-BE49-F238E27FC236}">
                <a16:creationId xmlns:a16="http://schemas.microsoft.com/office/drawing/2014/main" id="{C7E38016-59E0-49D5-BA2C-4C1210F8D54E}"/>
              </a:ext>
            </a:extLst>
          </p:cNvPr>
          <p:cNvSpPr>
            <a:spLocks xmlns:a="http://schemas.openxmlformats.org/drawingml/2006/main" noGrp="1"/>
          </p:cNvSpPr>
          <p:nvPr/>
        </p:nvSpPr>
        <p:spPr>
          <a:xfrm xmlns:a="http://schemas.openxmlformats.org/drawingml/2006/main">
            <a:off x="6572250" y="44196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Anomaliya aşkarlanması və maşın təlimi</a:t>
            </a:r>
          </a:p>
        </p:txBody>
      </p:sp>
      <p:sp>
        <p:nvSpPr>
          <p:cNvPr id="11" name="">
            <a:extLst xmlns:a="http://schemas.openxmlformats.org/drawingml/2006/main">
              <a:ext uri="{FF2B5EF4-FFF2-40B4-BE49-F238E27FC236}">
                <a16:creationId xmlns:a16="http://schemas.microsoft.com/office/drawing/2014/main" id="{121DB2A9-C472-4968-BEB4-8FB1936155DD}"/>
              </a:ext>
            </a:extLst>
          </p:cNvPr>
          <p:cNvSpPr>
            <a:spLocks xmlns:a="http://schemas.openxmlformats.org/drawingml/2006/main" noGrp="1"/>
          </p:cNvSpPr>
          <p:nvPr/>
        </p:nvSpPr>
        <p:spPr>
          <a:xfrm xmlns:a="http://schemas.openxmlformats.org/drawingml/2006/main">
            <a:off x="609600" y="5724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İlk mərhələ: bir cihazın nəticələrini və enerji davamlılığını təsdiqləmək</a:t>
            </a:r>
          </a:p>
        </p:txBody>
      </p:sp>
    </p:spTree>
    <p:extLst>
      <p:ext uri="{BB962C8B-B14F-4D97-AF65-F5344CB8AC3E}">
        <p14:creationId xmlns:p14="http://schemas.microsoft.com/office/powerpoint/2010/main" val="325302741"/>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EDCF44-B569-4CC4-840E-B6B683C59B91}"/>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Texniki prototip</a:t>
            </a:r>
          </a:p>
        </p:txBody>
      </p:sp>
      <p:sp>
        <p:nvSpPr>
          <p:cNvPr id="2" name="">
            <a:extLst xmlns:a="http://schemas.openxmlformats.org/drawingml/2006/main">
              <a:ext uri="{FF2B5EF4-FFF2-40B4-BE49-F238E27FC236}">
                <a16:creationId xmlns:a16="http://schemas.microsoft.com/office/drawing/2014/main" id="{C01933E5-2FAE-4E6F-A6F6-8F11BC0F1E26}"/>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05 / 13</a:t>
            </a:r>
          </a:p>
        </p:txBody>
      </p:sp>
      <p:pic>
        <p:nvPicPr>
          <p:cNvPr id="3" name="">
            <a:extLst xmlns:a="http://schemas.openxmlformats.org/drawingml/2006/main">
              <a:ext uri="{FF2B5EF4-FFF2-40B4-BE49-F238E27FC236}">
                <a16:creationId xmlns:a16="http://schemas.microsoft.com/office/drawing/2014/main" id="{6C0A2A5A-B73F-4C74-8D37-7959D89C0FB0}"/>
              </a:ext>
            </a:extLst>
          </p:cNvPr>
          <p:cNvPicPr>
            <a:picLocks xmlns:a="http://schemas.openxmlformats.org/drawingml/2006/main" noChangeAspect="1"/>
          </p:cNvPicPr>
          <p:nvPr/>
        </p:nvPicPr>
        <p:blipFill>
          <a:blip xmlns:r="http://schemas.openxmlformats.org/officeDocument/2006/relationships" xmlns:a="http://schemas.openxmlformats.org/drawingml/2006/main" r:embed="Rf336501d013143f5"/>
          <a:stretch xmlns:a="http://schemas.openxmlformats.org/drawingml/2006/main"/>
        </p:blipFill>
        <p:spPr>
          <a:xfrm xmlns:a="http://schemas.openxmlformats.org/drawingml/2006/main">
            <a:off x="7620000" y="1417176"/>
            <a:ext cx="3352800" cy="479517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D8AA6F-644B-4604-8999-A606FAE4B220}"/>
              </a:ext>
            </a:extLst>
          </p:cNvPr>
          <p:cNvSpPr>
            <a:spLocks xmlns:a="http://schemas.openxmlformats.org/drawingml/2006/main" noGrp="1"/>
          </p:cNvSpPr>
          <p:nvPr/>
        </p:nvSpPr>
        <p:spPr>
          <a:xfrm xmlns:a="http://schemas.openxmlformats.org/drawingml/2006/main">
            <a:off x="609600" y="1590675"/>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ESP32 + INMP441</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I2S vasitəsilə səsin qəbulu</a:t>
            </a:r>
          </a:p>
        </p:txBody>
      </p:sp>
      <p:sp>
        <p:nvSpPr>
          <p:cNvPr id="5" name="">
            <a:extLst xmlns:a="http://schemas.openxmlformats.org/drawingml/2006/main">
              <a:ext uri="{FF2B5EF4-FFF2-40B4-BE49-F238E27FC236}">
                <a16:creationId xmlns:a16="http://schemas.microsoft.com/office/drawing/2014/main" id="{54E3CFB6-BD04-4E83-9353-2094D95A7D0B}"/>
              </a:ext>
            </a:extLst>
          </p:cNvPr>
          <p:cNvSpPr>
            <a:spLocks xmlns:a="http://schemas.openxmlformats.org/drawingml/2006/main" noGrp="1"/>
          </p:cNvSpPr>
          <p:nvPr/>
        </p:nvSpPr>
        <p:spPr>
          <a:xfrm xmlns:a="http://schemas.openxmlformats.org/drawingml/2006/main">
            <a:off x="609600" y="2686050"/>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OLED 128×64</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Yerli göstəricilər</a:t>
            </a:r>
          </a:p>
        </p:txBody>
      </p:sp>
      <p:sp>
        <p:nvSpPr>
          <p:cNvPr id="6" name="">
            <a:extLst xmlns:a="http://schemas.openxmlformats.org/drawingml/2006/main">
              <a:ext uri="{FF2B5EF4-FFF2-40B4-BE49-F238E27FC236}">
                <a16:creationId xmlns:a16="http://schemas.microsoft.com/office/drawing/2014/main" id="{0B524C80-B1C8-4184-AA77-FD9EFAE31EA4}"/>
              </a:ext>
            </a:extLst>
          </p:cNvPr>
          <p:cNvSpPr>
            <a:spLocks xmlns:a="http://schemas.openxmlformats.org/drawingml/2006/main" noGrp="1"/>
          </p:cNvSpPr>
          <p:nvPr/>
        </p:nvSpPr>
        <p:spPr>
          <a:xfrm xmlns:a="http://schemas.openxmlformats.org/drawingml/2006/main">
            <a:off x="609600" y="3781425"/>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ESP32-C3 + INA3221 + GPS</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Enerji və məkan məlumatı</a:t>
            </a:r>
          </a:p>
        </p:txBody>
      </p:sp>
      <p:sp>
        <p:nvSpPr>
          <p:cNvPr id="7" name="">
            <a:extLst xmlns:a="http://schemas.openxmlformats.org/drawingml/2006/main">
              <a:ext uri="{FF2B5EF4-FFF2-40B4-BE49-F238E27FC236}">
                <a16:creationId xmlns:a16="http://schemas.microsoft.com/office/drawing/2014/main" id="{A25DBFAF-2E83-4734-A033-B89C365722D4}"/>
              </a:ext>
            </a:extLst>
          </p:cNvPr>
          <p:cNvSpPr>
            <a:spLocks xmlns:a="http://schemas.openxmlformats.org/drawingml/2006/main" noGrp="1"/>
          </p:cNvSpPr>
          <p:nvPr/>
        </p:nvSpPr>
        <p:spPr>
          <a:xfrm xmlns:a="http://schemas.openxmlformats.org/drawingml/2006/main">
            <a:off x="609600" y="4876800"/>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UART</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Kontrollerlər arasında əlaqə</a:t>
            </a:r>
          </a:p>
        </p:txBody>
      </p:sp>
    </p:spTree>
    <p:extLst>
      <p:ext uri="{BB962C8B-B14F-4D97-AF65-F5344CB8AC3E}">
        <p14:creationId xmlns:p14="http://schemas.microsoft.com/office/powerpoint/2010/main" val="542798129"/>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A678E4-DCF5-441E-8F7D-C2C724180CD8}"/>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Səsin emalı və statistikası</a:t>
            </a:r>
          </a:p>
        </p:txBody>
      </p:sp>
      <p:sp>
        <p:nvSpPr>
          <p:cNvPr id="2" name="">
            <a:extLst xmlns:a="http://schemas.openxmlformats.org/drawingml/2006/main">
              <a:ext uri="{FF2B5EF4-FFF2-40B4-BE49-F238E27FC236}">
                <a16:creationId xmlns:a16="http://schemas.microsoft.com/office/drawing/2014/main" id="{E8031ED0-55D9-4670-ACD8-661D743C8747}"/>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06 / 13</a:t>
            </a:r>
          </a:p>
        </p:txBody>
      </p:sp>
      <p:pic>
        <p:nvPicPr>
          <p:cNvPr id="3" name="">
            <a:extLst xmlns:a="http://schemas.openxmlformats.org/drawingml/2006/main">
              <a:ext uri="{FF2B5EF4-FFF2-40B4-BE49-F238E27FC236}">
                <a16:creationId xmlns:a16="http://schemas.microsoft.com/office/drawing/2014/main" id="{8BFE554B-CB41-4C9F-BD46-8653AD276B42}"/>
              </a:ext>
            </a:extLst>
          </p:cNvPr>
          <p:cNvPicPr>
            <a:picLocks xmlns:a="http://schemas.openxmlformats.org/drawingml/2006/main" noChangeAspect="1"/>
          </p:cNvPicPr>
          <p:nvPr/>
        </p:nvPicPr>
        <p:blipFill>
          <a:blip xmlns:r="http://schemas.openxmlformats.org/officeDocument/2006/relationships" xmlns:a="http://schemas.openxmlformats.org/drawingml/2006/main" r:embed="Rd7298b875fd84348"/>
          <a:stretch xmlns:a="http://schemas.openxmlformats.org/drawingml/2006/main"/>
        </p:blipFill>
        <p:spPr>
          <a:xfrm xmlns:a="http://schemas.openxmlformats.org/drawingml/2006/main">
            <a:off x="8058445" y="1533525"/>
            <a:ext cx="3142661" cy="4000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1D0C017-32AA-49A4-AC60-3791062CE699}"/>
              </a:ext>
            </a:extLst>
          </p:cNvPr>
          <p:cNvSpPr>
            <a:spLocks xmlns:a="http://schemas.openxmlformats.org/drawingml/2006/main" noGrp="1"/>
          </p:cNvSpPr>
          <p:nvPr/>
        </p:nvSpPr>
        <p:spPr>
          <a:xfrm xmlns:a="http://schemas.openxmlformats.org/drawingml/2006/main">
            <a:off x="609600" y="165735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1. INMP441: davamlı rəqəmsal siqnal</a:t>
            </a:r>
          </a:p>
        </p:txBody>
      </p:sp>
      <p:sp>
        <p:nvSpPr>
          <p:cNvPr id="5" name="">
            <a:extLst xmlns:a="http://schemas.openxmlformats.org/drawingml/2006/main">
              <a:ext uri="{FF2B5EF4-FFF2-40B4-BE49-F238E27FC236}">
                <a16:creationId xmlns:a16="http://schemas.microsoft.com/office/drawing/2014/main" id="{FC20D44E-6946-4D37-8C2F-C124F2946737}"/>
              </a:ext>
            </a:extLst>
          </p:cNvPr>
          <p:cNvSpPr>
            <a:spLocks xmlns:a="http://schemas.openxmlformats.org/drawingml/2006/main" noGrp="1"/>
          </p:cNvSpPr>
          <p:nvPr/>
        </p:nvSpPr>
        <p:spPr>
          <a:xfrm xmlns:a="http://schemas.openxmlformats.org/drawingml/2006/main">
            <a:off x="609600" y="259080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2. A-vəznləmə və kalibrasiya ofseti</a:t>
            </a:r>
          </a:p>
        </p:txBody>
      </p:sp>
      <p:sp>
        <p:nvSpPr>
          <p:cNvPr id="6" name="">
            <a:extLst xmlns:a="http://schemas.openxmlformats.org/drawingml/2006/main">
              <a:ext uri="{FF2B5EF4-FFF2-40B4-BE49-F238E27FC236}">
                <a16:creationId xmlns:a16="http://schemas.microsoft.com/office/drawing/2014/main" id="{874BCDB0-D402-4996-A372-170EA0D98495}"/>
              </a:ext>
            </a:extLst>
          </p:cNvPr>
          <p:cNvSpPr>
            <a:spLocks xmlns:a="http://schemas.openxmlformats.org/drawingml/2006/main" noGrp="1"/>
          </p:cNvSpPr>
          <p:nvPr/>
        </p:nvSpPr>
        <p:spPr>
          <a:xfrm xmlns:a="http://schemas.openxmlformats.org/drawingml/2006/main">
            <a:off x="609600" y="352425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3. Etibarlı nümunələrdən 10 dəqiqəlik Leq</a:t>
            </a:r>
          </a:p>
        </p:txBody>
      </p:sp>
      <p:sp>
        <p:nvSpPr>
          <p:cNvPr id="7" name="">
            <a:extLst xmlns:a="http://schemas.openxmlformats.org/drawingml/2006/main">
              <a:ext uri="{FF2B5EF4-FFF2-40B4-BE49-F238E27FC236}">
                <a16:creationId xmlns:a16="http://schemas.microsoft.com/office/drawing/2014/main" id="{F9A1A875-3E73-400C-A67D-CA32A02766C4}"/>
              </a:ext>
            </a:extLst>
          </p:cNvPr>
          <p:cNvSpPr>
            <a:spLocks xmlns:a="http://schemas.openxmlformats.org/drawingml/2006/main" noGrp="1"/>
          </p:cNvSpPr>
          <p:nvPr/>
        </p:nvSpPr>
        <p:spPr>
          <a:xfrm xmlns:a="http://schemas.openxmlformats.org/drawingml/2006/main">
            <a:off x="609600" y="445770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4. DAY / EVE / NGT üçün enerji üzrə orta</a:t>
            </a:r>
          </a:p>
        </p:txBody>
      </p:sp>
      <p:sp>
        <p:nvSpPr>
          <p:cNvPr id="8" name="">
            <a:extLst xmlns:a="http://schemas.openxmlformats.org/drawingml/2006/main">
              <a:ext uri="{FF2B5EF4-FFF2-40B4-BE49-F238E27FC236}">
                <a16:creationId xmlns:a16="http://schemas.microsoft.com/office/drawing/2014/main" id="{C3031E0E-79D1-4611-BC47-9D64498868A8}"/>
              </a:ext>
            </a:extLst>
          </p:cNvPr>
          <p:cNvSpPr>
            <a:spLocks xmlns:a="http://schemas.openxmlformats.org/drawingml/2006/main" noGrp="1"/>
          </p:cNvSpPr>
          <p:nvPr/>
        </p:nvSpPr>
        <p:spPr>
          <a:xfrm xmlns:a="http://schemas.openxmlformats.org/drawingml/2006/main">
            <a:off x="609600" y="5667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latin typeface="Arial"/>
                <a:ea typeface="Arial"/>
                <a:cs typeface="Arial"/>
              </a:defRPr>
            </a:defPPr>
          </a:lstStyle>
          <a:p xmlns:a="http://schemas.openxmlformats.org/drawingml/2006/main">
            <a:pPr>
              <a:defRPr sz="1800" b="0">
                <a:solidFill>
                  <a:srgbClr val="526674"/>
                </a:solidFill>
                <a:latin typeface="Arial"/>
                <a:ea typeface="Arial"/>
                <a:cs typeface="Arial"/>
              </a:defRPr>
            </a:pPr>
            <a:r>
              <a:rPr sz="1800" b="0">
                <a:solidFill>
                  <a:srgbClr val="526674"/>
                </a:solidFill>
                <a:latin typeface="Arial"/>
                <a:ea typeface="Arial"/>
                <a:cs typeface="Arial"/>
              </a:rPr>
              <a:t>Çəki: etibarlı ölçmə müddəti. dB-lərin sadə ədədi ortası istifadə edilmir.</a:t>
            </a:r>
          </a:p>
        </p:txBody>
      </p:sp>
    </p:spTree>
    <p:extLst>
      <p:ext uri="{BB962C8B-B14F-4D97-AF65-F5344CB8AC3E}">
        <p14:creationId xmlns:p14="http://schemas.microsoft.com/office/powerpoint/2010/main" val="1667246751"/>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D56C4A-6A8F-4C58-817C-1AC853D7CF81}"/>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Kalibrasiya və ölçmə sərhədləri</a:t>
            </a:r>
          </a:p>
        </p:txBody>
      </p:sp>
      <p:sp>
        <p:nvSpPr>
          <p:cNvPr id="2" name="">
            <a:extLst xmlns:a="http://schemas.openxmlformats.org/drawingml/2006/main">
              <a:ext uri="{FF2B5EF4-FFF2-40B4-BE49-F238E27FC236}">
                <a16:creationId xmlns:a16="http://schemas.microsoft.com/office/drawing/2014/main" id="{16A82DA3-BC81-4782-970E-8D83CA00F6D0}"/>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07 / 13</a:t>
            </a:r>
          </a:p>
        </p:txBody>
      </p:sp>
      <p:sp>
        <p:nvSpPr>
          <p:cNvPr id="3" name="">
            <a:extLst xmlns:a="http://schemas.openxmlformats.org/drawingml/2006/main">
              <a:ext uri="{FF2B5EF4-FFF2-40B4-BE49-F238E27FC236}">
                <a16:creationId xmlns:a16="http://schemas.microsoft.com/office/drawing/2014/main" id="{F91F8C54-4BE0-48CE-9888-7D1F571D65EC}"/>
              </a:ext>
            </a:extLst>
          </p:cNvPr>
          <p:cNvSpPr>
            <a:spLocks xmlns:a="http://schemas.openxmlformats.org/drawingml/2006/main" noGrp="1"/>
          </p:cNvSpPr>
          <p:nvPr/>
        </p:nvSpPr>
        <p:spPr>
          <a:xfrm xmlns:a="http://schemas.openxmlformats.org/drawingml/2006/main">
            <a:off x="609600" y="16954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225" b="1">
                <a:solidFill>
                  <a:srgbClr val="087F83"/>
                </a:solidFill>
                <a:latin typeface="Arial"/>
                <a:ea typeface="Arial"/>
                <a:cs typeface="Arial"/>
              </a:defRPr>
            </a:defPPr>
          </a:lstStyle>
          <a:p xmlns:a="http://schemas.openxmlformats.org/drawingml/2006/main">
            <a:pPr>
              <a:defRPr sz="6225" b="1">
                <a:solidFill>
                  <a:srgbClr val="087F83"/>
                </a:solidFill>
                <a:latin typeface="Arial"/>
                <a:ea typeface="Arial"/>
                <a:cs typeface="Arial"/>
              </a:defRPr>
            </a:pPr>
            <a:r>
              <a:rPr sz="6225" b="1">
                <a:solidFill>
                  <a:srgbClr val="087F83"/>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0F28CAE0-01B7-4F51-A17C-B9D59085B531}"/>
              </a:ext>
            </a:extLst>
          </p:cNvPr>
          <p:cNvSpPr>
            <a:spLocks xmlns:a="http://schemas.openxmlformats.org/drawingml/2006/main" noGrp="1"/>
          </p:cNvSpPr>
          <p:nvPr/>
        </p:nvSpPr>
        <p:spPr>
          <a:xfrm xmlns:a="http://schemas.openxmlformats.org/drawingml/2006/main">
            <a:off x="609600" y="30099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F40"/>
                </a:solidFill>
                <a:latin typeface="Arial"/>
                <a:ea typeface="Arial"/>
                <a:cs typeface="Arial"/>
              </a:defRPr>
            </a:defPPr>
          </a:lstStyle>
          <a:p xmlns:a="http://schemas.openxmlformats.org/drawingml/2006/main">
            <a:pPr>
              <a:defRPr sz="2250" b="0">
                <a:solidFill>
                  <a:srgbClr val="172F40"/>
                </a:solidFill>
                <a:latin typeface="Arial"/>
                <a:ea typeface="Arial"/>
                <a:cs typeface="Arial"/>
              </a:defRPr>
            </a:pPr>
            <a:r>
              <a:rPr sz="2250" b="0">
                <a:solidFill>
                  <a:srgbClr val="172F40"/>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5B2FDD22-D215-41EE-A377-60BEDA72E171}"/>
              </a:ext>
            </a:extLst>
          </p:cNvPr>
          <p:cNvSpPr>
            <a:spLocks xmlns:a="http://schemas.openxmlformats.org/drawingml/2006/main" noGrp="1"/>
          </p:cNvSpPr>
          <p:nvPr/>
        </p:nvSpPr>
        <p:spPr>
          <a:xfrm xmlns:a="http://schemas.openxmlformats.org/drawingml/2006/main">
            <a:off x="6572250" y="18097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45 sabit istinad cütü</a:t>
            </a:r>
          </a:p>
        </p:txBody>
      </p:sp>
      <p:sp>
        <p:nvSpPr>
          <p:cNvPr id="6" name="">
            <a:extLst xmlns:a="http://schemas.openxmlformats.org/drawingml/2006/main">
              <a:ext uri="{FF2B5EF4-FFF2-40B4-BE49-F238E27FC236}">
                <a16:creationId xmlns:a16="http://schemas.microsoft.com/office/drawing/2014/main" id="{8D6F08E8-2A02-49F6-BDF4-D3680D74D16A}"/>
              </a:ext>
            </a:extLst>
          </p:cNvPr>
          <p:cNvSpPr>
            <a:spLocks xmlns:a="http://schemas.openxmlformats.org/drawingml/2006/main" noGrp="1"/>
          </p:cNvSpPr>
          <p:nvPr/>
        </p:nvSpPr>
        <p:spPr>
          <a:xfrm xmlns:a="http://schemas.openxmlformats.org/drawingml/2006/main">
            <a:off x="6572250" y="28003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84,4% ölçmə ±2 dB daxilində</a:t>
            </a:r>
          </a:p>
        </p:txBody>
      </p:sp>
      <p:sp>
        <p:nvSpPr>
          <p:cNvPr id="7" name="">
            <a:extLst xmlns:a="http://schemas.openxmlformats.org/drawingml/2006/main">
              <a:ext uri="{FF2B5EF4-FFF2-40B4-BE49-F238E27FC236}">
                <a16:creationId xmlns:a16="http://schemas.microsoft.com/office/drawing/2014/main" id="{3A144499-F1C9-4604-9412-6A16BADA2B35}"/>
              </a:ext>
            </a:extLst>
          </p:cNvPr>
          <p:cNvSpPr>
            <a:spLocks xmlns:a="http://schemas.openxmlformats.org/drawingml/2006/main" noGrp="1"/>
          </p:cNvSpPr>
          <p:nvPr/>
        </p:nvSpPr>
        <p:spPr>
          <a:xfrm xmlns:a="http://schemas.openxmlformats.org/drawingml/2006/main">
            <a:off x="6572250" y="37909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Yoxlanmış diapazon: 53,2–65,9 dB(A)</a:t>
            </a:r>
          </a:p>
        </p:txBody>
      </p:sp>
      <p:sp>
        <p:nvSpPr>
          <p:cNvPr id="8" name="">
            <a:extLst xmlns:a="http://schemas.openxmlformats.org/drawingml/2006/main">
              <a:ext uri="{FF2B5EF4-FFF2-40B4-BE49-F238E27FC236}">
                <a16:creationId xmlns:a16="http://schemas.microsoft.com/office/drawing/2014/main" id="{955AF5F7-B469-4961-ABB2-035ADA7FA2FB}"/>
              </a:ext>
            </a:extLst>
          </p:cNvPr>
          <p:cNvSpPr>
            <a:spLocks xmlns:a="http://schemas.openxmlformats.org/drawingml/2006/main" noGrp="1"/>
          </p:cNvSpPr>
          <p:nvPr/>
        </p:nvSpPr>
        <p:spPr>
          <a:xfrm xmlns:a="http://schemas.openxmlformats.org/drawingml/2006/main">
            <a:off x="609600" y="52006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674"/>
                </a:solidFill>
                <a:latin typeface="Arial"/>
                <a:ea typeface="Arial"/>
                <a:cs typeface="Arial"/>
              </a:defRPr>
            </a:defPPr>
          </a:lstStyle>
          <a:p xmlns:a="http://schemas.openxmlformats.org/drawingml/2006/main">
            <a:pPr>
              <a:defRPr sz="2100" b="0">
                <a:solidFill>
                  <a:srgbClr val="526674"/>
                </a:solidFill>
                <a:latin typeface="Arial"/>
                <a:ea typeface="Arial"/>
                <a:cs typeface="Arial"/>
              </a:defRPr>
            </a:pPr>
            <a:r>
              <a:rPr sz="2100" b="0">
                <a:solidFill>
                  <a:srgbClr val="526674"/>
                </a:solidFill>
                <a:latin typeface="Arial"/>
                <a:ea typeface="Arial"/>
                <a:cs typeface="Arial"/>
              </a:rPr>
              <a:t>Nəticələr kalibrasiya edilmiş qiymətləndirmədir. Diapazondan kənar dəqiqlik ayrıca yoxlanmalıdır.</a:t>
            </a:r>
          </a:p>
        </p:txBody>
      </p:sp>
    </p:spTree>
    <p:extLst>
      <p:ext uri="{BB962C8B-B14F-4D97-AF65-F5344CB8AC3E}">
        <p14:creationId xmlns:p14="http://schemas.microsoft.com/office/powerpoint/2010/main" val="2138569847"/>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EFF69E-27E8-4783-8223-FCA030FF4822}"/>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Eksperiment və məlumat keyfiyyəti</a:t>
            </a:r>
          </a:p>
        </p:txBody>
      </p:sp>
      <p:sp>
        <p:nvSpPr>
          <p:cNvPr id="2" name="">
            <a:extLst xmlns:a="http://schemas.openxmlformats.org/drawingml/2006/main">
              <a:ext uri="{FF2B5EF4-FFF2-40B4-BE49-F238E27FC236}">
                <a16:creationId xmlns:a16="http://schemas.microsoft.com/office/drawing/2014/main" id="{AF049DAB-1294-4B3F-9E57-DBC70FD34B10}"/>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08 / 13</a:t>
            </a:r>
          </a:p>
        </p:txBody>
      </p:sp>
      <p:sp>
        <p:nvSpPr>
          <p:cNvPr id="3" name="">
            <a:extLst xmlns:a="http://schemas.openxmlformats.org/drawingml/2006/main">
              <a:ext uri="{FF2B5EF4-FFF2-40B4-BE49-F238E27FC236}">
                <a16:creationId xmlns:a16="http://schemas.microsoft.com/office/drawing/2014/main" id="{1C889447-FCAF-43CC-B210-4280625963F7}"/>
              </a:ext>
            </a:extLst>
          </p:cNvPr>
          <p:cNvSpPr>
            <a:spLocks xmlns:a="http://schemas.openxmlformats.org/drawingml/2006/main" noGrp="1"/>
          </p:cNvSpPr>
          <p:nvPr/>
        </p:nvSpPr>
        <p:spPr>
          <a:xfrm xmlns:a="http://schemas.openxmlformats.org/drawingml/2006/main">
            <a:off x="609600" y="15430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Pilot nöqtə: Bakı, Mir Cəlal küçəsi, Zərifə Əliyeva parkının yaxınlığı</a:t>
            </a:r>
          </a:p>
        </p:txBody>
      </p:sp>
      <p:sp>
        <p:nvSpPr>
          <p:cNvPr id="4" name="">
            <a:extLst xmlns:a="http://schemas.openxmlformats.org/drawingml/2006/main">
              <a:ext uri="{FF2B5EF4-FFF2-40B4-BE49-F238E27FC236}">
                <a16:creationId xmlns:a16="http://schemas.microsoft.com/office/drawing/2014/main" id="{ABB5E33A-789E-47D5-954B-41F776C21F5E}"/>
              </a:ext>
            </a:extLst>
          </p:cNvPr>
          <p:cNvSpPr>
            <a:spLocks xmlns:a="http://schemas.openxmlformats.org/drawingml/2006/main" noGrp="1"/>
          </p:cNvSpPr>
          <p:nvPr/>
        </p:nvSpPr>
        <p:spPr>
          <a:xfrm xmlns:a="http://schemas.openxmlformats.org/drawingml/2006/main">
            <a:off x="609600" y="26098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87F83"/>
                </a:solidFill>
                <a:latin typeface="Arial"/>
                <a:ea typeface="Arial"/>
                <a:cs typeface="Arial"/>
              </a:defRPr>
            </a:defPPr>
          </a:lstStyle>
          <a:p xmlns:a="http://schemas.openxmlformats.org/drawingml/2006/main">
            <a:pPr>
              <a:defRPr sz="5700" b="1">
                <a:solidFill>
                  <a:srgbClr val="087F83"/>
                </a:solidFill>
                <a:latin typeface="Arial"/>
                <a:ea typeface="Arial"/>
                <a:cs typeface="Arial"/>
              </a:defRPr>
            </a:pPr>
            <a:r>
              <a:rPr sz="5700" b="1">
                <a:solidFill>
                  <a:srgbClr val="087F83"/>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FDA3991F-F59C-47FA-AACB-497715DAC76B}"/>
              </a:ext>
            </a:extLst>
          </p:cNvPr>
          <p:cNvSpPr>
            <a:spLocks xmlns:a="http://schemas.openxmlformats.org/drawingml/2006/main" noGrp="1"/>
          </p:cNvSpPr>
          <p:nvPr/>
        </p:nvSpPr>
        <p:spPr>
          <a:xfrm xmlns:a="http://schemas.openxmlformats.org/drawingml/2006/main">
            <a:off x="609600" y="3705225"/>
            <a:ext cx="590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latin typeface="Arial"/>
                <a:ea typeface="Arial"/>
                <a:cs typeface="Arial"/>
              </a:defRPr>
            </a:def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T11-də dB(A) olan ölçmə pəncərələri</a:t>
            </a:r>
          </a:p>
        </p:txBody>
      </p:sp>
      <p:sp>
        <p:nvSpPr>
          <p:cNvPr id="6" name="">
            <a:extLst xmlns:a="http://schemas.openxmlformats.org/drawingml/2006/main">
              <a:ext uri="{FF2B5EF4-FFF2-40B4-BE49-F238E27FC236}">
                <a16:creationId xmlns:a16="http://schemas.microsoft.com/office/drawing/2014/main" id="{DA8BA6AF-E610-461D-BBED-22EF8EB02EC4}"/>
              </a:ext>
            </a:extLst>
          </p:cNvPr>
          <p:cNvSpPr>
            <a:spLocks xmlns:a="http://schemas.openxmlformats.org/drawingml/2006/main" noGrp="1"/>
          </p:cNvSpPr>
          <p:nvPr/>
        </p:nvSpPr>
        <p:spPr>
          <a:xfrm xmlns:a="http://schemas.openxmlformats.org/drawingml/2006/main">
            <a:off x="6905625" y="26098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latin typeface="Arial"/>
                <a:ea typeface="Arial"/>
                <a:cs typeface="Arial"/>
              </a:defRPr>
            </a:def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Etibarlı audio: 99–100%</a:t>
            </a:r>
          </a:p>
        </p:txBody>
      </p:sp>
      <p:sp>
        <p:nvSpPr>
          <p:cNvPr id="7" name="">
            <a:extLst xmlns:a="http://schemas.openxmlformats.org/drawingml/2006/main">
              <a:ext uri="{FF2B5EF4-FFF2-40B4-BE49-F238E27FC236}">
                <a16:creationId xmlns:a16="http://schemas.microsoft.com/office/drawing/2014/main" id="{6EFCBAC5-6E08-40F3-A05A-B20D35D9C260}"/>
              </a:ext>
            </a:extLst>
          </p:cNvPr>
          <p:cNvSpPr>
            <a:spLocks xmlns:a="http://schemas.openxmlformats.org/drawingml/2006/main" noGrp="1"/>
          </p:cNvSpPr>
          <p:nvPr/>
        </p:nvSpPr>
        <p:spPr>
          <a:xfrm xmlns:a="http://schemas.openxmlformats.org/drawingml/2006/main">
            <a:off x="6905625" y="34861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latin typeface="Arial"/>
                <a:ea typeface="Arial"/>
                <a:cs typeface="Arial"/>
              </a:defRPr>
            </a:def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Mikrofon klipləri: 0</a:t>
            </a:r>
          </a:p>
        </p:txBody>
      </p:sp>
      <p:sp>
        <p:nvSpPr>
          <p:cNvPr id="8" name="">
            <a:extLst xmlns:a="http://schemas.openxmlformats.org/drawingml/2006/main">
              <a:ext uri="{FF2B5EF4-FFF2-40B4-BE49-F238E27FC236}">
                <a16:creationId xmlns:a16="http://schemas.microsoft.com/office/drawing/2014/main" id="{F7D6A99F-7E79-4084-99AC-E4A3550FAB8F}"/>
              </a:ext>
            </a:extLst>
          </p:cNvPr>
          <p:cNvSpPr>
            <a:spLocks xmlns:a="http://schemas.openxmlformats.org/drawingml/2006/main" noGrp="1"/>
          </p:cNvSpPr>
          <p:nvPr/>
        </p:nvSpPr>
        <p:spPr>
          <a:xfrm xmlns:a="http://schemas.openxmlformats.org/drawingml/2006/main">
            <a:off x="6905625" y="43624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latin typeface="Arial"/>
                <a:ea typeface="Arial"/>
                <a:cs typeface="Arial"/>
              </a:defRPr>
            </a:def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Yerli CSV və Sheets nəticələri eynidir</a:t>
            </a:r>
          </a:p>
        </p:txBody>
      </p:sp>
      <p:sp>
        <p:nvSpPr>
          <p:cNvPr id="9" name="">
            <a:extLst xmlns:a="http://schemas.openxmlformats.org/drawingml/2006/main">
              <a:ext uri="{FF2B5EF4-FFF2-40B4-BE49-F238E27FC236}">
                <a16:creationId xmlns:a16="http://schemas.microsoft.com/office/drawing/2014/main" id="{77C059ED-C176-4139-B4E3-70420E2734E4}"/>
              </a:ext>
            </a:extLst>
          </p:cNvPr>
          <p:cNvSpPr>
            <a:spLocks xmlns:a="http://schemas.openxmlformats.org/drawingml/2006/main" noGrp="1"/>
          </p:cNvSpPr>
          <p:nvPr/>
        </p:nvSpPr>
        <p:spPr>
          <a:xfrm xmlns:a="http://schemas.openxmlformats.org/drawingml/2006/main">
            <a:off x="609600" y="5543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4"/>
                </a:solidFill>
                <a:latin typeface="Arial"/>
                <a:ea typeface="Arial"/>
                <a:cs typeface="Arial"/>
              </a:defRPr>
            </a:defPPr>
          </a:lstStyle>
          <a:p xmlns:a="http://schemas.openxmlformats.org/drawingml/2006/main">
            <a:pPr>
              <a:defRPr sz="2025" b="0">
                <a:solidFill>
                  <a:srgbClr val="526674"/>
                </a:solidFill>
                <a:latin typeface="Arial"/>
                <a:ea typeface="Arial"/>
                <a:cs typeface="Arial"/>
              </a:defRPr>
            </a:pPr>
            <a:r>
              <a:rPr sz="2025" b="0">
                <a:solidFill>
                  <a:srgbClr val="526674"/>
                </a:solidFill>
                <a:latin typeface="Arial"/>
                <a:ea typeface="Arial"/>
                <a:cs typeface="Arial"/>
              </a:rPr>
              <a:t>Enerji kəsintiləri, boşluqlar və natamam dövrlər nəticədə ayrıca göstərilir.</a:t>
            </a:r>
          </a:p>
        </p:txBody>
      </p:sp>
    </p:spTree>
    <p:extLst>
      <p:ext uri="{BB962C8B-B14F-4D97-AF65-F5344CB8AC3E}">
        <p14:creationId xmlns:p14="http://schemas.microsoft.com/office/powerpoint/2010/main" val="1619241464"/>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A6962A-2124-4EB6-867C-ABB25BC46115}"/>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Bir günlük müqayisə: 6 oktyabr 2026</a:t>
            </a:r>
          </a:p>
        </p:txBody>
      </p:sp>
      <p:sp>
        <p:nvSpPr>
          <p:cNvPr id="2" name="">
            <a:extLst xmlns:a="http://schemas.openxmlformats.org/drawingml/2006/main">
              <a:ext uri="{FF2B5EF4-FFF2-40B4-BE49-F238E27FC236}">
                <a16:creationId xmlns:a16="http://schemas.microsoft.com/office/drawing/2014/main" id="{F7C801C7-72AF-4C9D-A44E-09D1EDC0153E}"/>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09 / 13</a:t>
            </a:r>
          </a:p>
        </p:txBody>
      </p:sp>
      <p:graphicFrame>
        <p:nvGraphicFramePr>
          <p:cNvPr id="3" name="Chart">
            <a:extLst xmlns:a="http://schemas.openxmlformats.org/drawingml/2006/main">
              <a:ext uri="{FF2B5EF4-FFF2-40B4-BE49-F238E27FC236}">
                <a16:creationId xmlns:a16="http://schemas.microsoft.com/office/drawing/2014/main" id="{997B41F4-69EF-4CC1-A29A-E0184074C72D}"/>
              </a:ext>
            </a:extLst>
          </p:cNvPr>
          <p:cNvGraphicFramePr/>
          <p:nvPr/>
        </p:nvGraphicFramePr>
        <p:xfrm>
          <a:off xmlns:a="http://schemas.openxmlformats.org/drawingml/2006/main" x="609600" y="1809750"/>
          <a:ext xmlns:a="http://schemas.openxmlformats.org/drawingml/2006/main" cx="7572375" cy="3733800"/>
        </p:xfrm>
        <a:graphic xmlns:a="http://schemas.openxmlformats.org/drawingml/2006/main">
          <a:graphicData uri="http://schemas.openxmlformats.org/drawingml/2006/chart">
            <c:chart xmlns:r="http://schemas.openxmlformats.org/officeDocument/2006/relationships" xmlns:c="http://schemas.openxmlformats.org/drawingml/2006/chart" r:id="Rfcb9a096d65945f6"/>
          </a:graphicData>
        </a:graphic>
      </p:graphicFrame>
      <p:sp>
        <p:nvSpPr>
          <p:cNvPr id="4" name="">
            <a:extLst xmlns:a="http://schemas.openxmlformats.org/drawingml/2006/main">
              <a:ext uri="{FF2B5EF4-FFF2-40B4-BE49-F238E27FC236}">
                <a16:creationId xmlns:a16="http://schemas.microsoft.com/office/drawing/2014/main" id="{DF84D8C3-3353-4B46-80EB-4726F17F7AFE}"/>
              </a:ext>
            </a:extLst>
          </p:cNvPr>
          <p:cNvSpPr>
            <a:spLocks xmlns:a="http://schemas.openxmlformats.org/drawingml/2006/main" noGrp="1"/>
          </p:cNvSpPr>
          <p:nvPr/>
        </p:nvSpPr>
        <p:spPr>
          <a:xfrm xmlns:a="http://schemas.openxmlformats.org/drawingml/2006/main">
            <a:off x="8629650" y="18097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latin typeface="Arial"/>
                <a:ea typeface="Arial"/>
                <a:cs typeface="Arial"/>
              </a:defRPr>
            </a:def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DAY</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NORMAL · 99,8% əhatə</a:t>
            </a:r>
          </a:p>
        </p:txBody>
      </p:sp>
      <p:sp>
        <p:nvSpPr>
          <p:cNvPr id="5" name="">
            <a:extLst xmlns:a="http://schemas.openxmlformats.org/drawingml/2006/main">
              <a:ext uri="{FF2B5EF4-FFF2-40B4-BE49-F238E27FC236}">
                <a16:creationId xmlns:a16="http://schemas.microsoft.com/office/drawing/2014/main" id="{C01862BC-9B97-4062-9F60-28D21F9F3CCF}"/>
              </a:ext>
            </a:extLst>
          </p:cNvPr>
          <p:cNvSpPr>
            <a:spLocks xmlns:a="http://schemas.openxmlformats.org/drawingml/2006/main" noGrp="1"/>
          </p:cNvSpPr>
          <p:nvPr/>
        </p:nvSpPr>
        <p:spPr>
          <a:xfrm xmlns:a="http://schemas.openxmlformats.org/drawingml/2006/main">
            <a:off x="8629650" y="300990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latin typeface="Arial"/>
                <a:ea typeface="Arial"/>
                <a:cs typeface="Arial"/>
              </a:defRPr>
            </a:def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EVE</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NORMAL · 99,7% əhatə</a:t>
            </a:r>
          </a:p>
        </p:txBody>
      </p:sp>
      <p:sp>
        <p:nvSpPr>
          <p:cNvPr id="6" name="">
            <a:extLst xmlns:a="http://schemas.openxmlformats.org/drawingml/2006/main">
              <a:ext uri="{FF2B5EF4-FFF2-40B4-BE49-F238E27FC236}">
                <a16:creationId xmlns:a16="http://schemas.microsoft.com/office/drawing/2014/main" id="{6A27A936-3613-4E5A-BB41-2CC22125F2FC}"/>
              </a:ext>
            </a:extLst>
          </p:cNvPr>
          <p:cNvSpPr>
            <a:spLocks xmlns:a="http://schemas.openxmlformats.org/drawingml/2006/main" noGrp="1"/>
          </p:cNvSpPr>
          <p:nvPr/>
        </p:nvSpPr>
        <p:spPr>
          <a:xfrm xmlns:a="http://schemas.openxmlformats.org/drawingml/2006/main">
            <a:off x="8629650" y="42100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latin typeface="Arial"/>
                <a:ea typeface="Arial"/>
                <a:cs typeface="Arial"/>
              </a:defRPr>
            </a:def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NGT</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SILENT · 99,7% əhatə</a:t>
            </a:r>
          </a:p>
        </p:txBody>
      </p:sp>
      <p:sp>
        <p:nvSpPr>
          <p:cNvPr id="7" name="">
            <a:extLst xmlns:a="http://schemas.openxmlformats.org/drawingml/2006/main">
              <a:ext uri="{FF2B5EF4-FFF2-40B4-BE49-F238E27FC236}">
                <a16:creationId xmlns:a16="http://schemas.microsoft.com/office/drawing/2014/main" id="{5D3E3EBD-410E-45F7-91CB-B9BE1F3537C7}"/>
              </a:ext>
            </a:extLst>
          </p:cNvPr>
          <p:cNvSpPr>
            <a:spLocks xmlns:a="http://schemas.openxmlformats.org/drawingml/2006/main" noGrp="1"/>
          </p:cNvSpPr>
          <p:nvPr/>
        </p:nvSpPr>
        <p:spPr>
          <a:xfrm xmlns:a="http://schemas.openxmlformats.org/drawingml/2006/main">
            <a:off x="609600" y="5734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Gündüz–gecə fərqi: 7,9 dB. Nəticə yalnız bu nöqtəyə və bu günə aiddir.</a:t>
            </a:r>
          </a:p>
        </p:txBody>
      </p:sp>
    </p:spTree>
    <p:extLst>
      <p:ext uri="{BB962C8B-B14F-4D97-AF65-F5344CB8AC3E}">
        <p14:creationId xmlns:p14="http://schemas.microsoft.com/office/powerpoint/2010/main" val="1796481256"/>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2E986C-7CB3-455C-8F29-C7BC90AB1422}"/>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Google Sheets-də nəticələrin təqdimatı</a:t>
            </a:r>
          </a:p>
        </p:txBody>
      </p:sp>
      <p:sp>
        <p:nvSpPr>
          <p:cNvPr id="2" name="">
            <a:extLst xmlns:a="http://schemas.openxmlformats.org/drawingml/2006/main">
              <a:ext uri="{FF2B5EF4-FFF2-40B4-BE49-F238E27FC236}">
                <a16:creationId xmlns:a16="http://schemas.microsoft.com/office/drawing/2014/main" id="{63F67343-6DAD-4FF5-9AE3-1F0D595BD43C}"/>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10 / 13</a:t>
            </a:r>
          </a:p>
        </p:txBody>
      </p:sp>
      <p:pic>
        <p:nvPicPr>
          <p:cNvPr id="3" name="">
            <a:extLst xmlns:a="http://schemas.openxmlformats.org/drawingml/2006/main">
              <a:ext uri="{FF2B5EF4-FFF2-40B4-BE49-F238E27FC236}">
                <a16:creationId xmlns:a16="http://schemas.microsoft.com/office/drawing/2014/main" id="{A6210216-C189-41D2-A18C-73786BE2583B}"/>
              </a:ext>
            </a:extLst>
          </p:cNvPr>
          <p:cNvPicPr>
            <a:picLocks xmlns:a="http://schemas.openxmlformats.org/drawingml/2006/main" noChangeAspect="1"/>
          </p:cNvPicPr>
          <p:nvPr/>
        </p:nvPicPr>
        <p:blipFill>
          <a:blip xmlns:r="http://schemas.openxmlformats.org/officeDocument/2006/relationships" xmlns:a="http://schemas.openxmlformats.org/drawingml/2006/main" r:embed="Rd20959e52d0646e2"/>
          <a:stretch xmlns:a="http://schemas.openxmlformats.org/drawingml/2006/main"/>
        </p:blipFill>
        <p:spPr>
          <a:xfrm xmlns:a="http://schemas.openxmlformats.org/drawingml/2006/main">
            <a:off x="609600" y="1899457"/>
            <a:ext cx="10972800" cy="287811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4E04331-88DE-44B5-91B2-78BD7BB71B2B}"/>
              </a:ext>
            </a:extLst>
          </p:cNvPr>
          <p:cNvSpPr>
            <a:spLocks xmlns:a="http://schemas.openxmlformats.org/drawingml/2006/main" noGrp="1"/>
          </p:cNvSpPr>
          <p:nvPr/>
        </p:nvSpPr>
        <p:spPr>
          <a:xfrm xmlns:a="http://schemas.openxmlformats.org/drawingml/2006/main">
            <a:off x="609600" y="5248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3"/>
                </a:solidFill>
                <a:latin typeface="Arial"/>
                <a:ea typeface="Arial"/>
                <a:cs typeface="Arial"/>
              </a:defRPr>
            </a:defPPr>
          </a:lstStyle>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Orta dB(A)     Tipik səviyyə     Səviyyənin payı     Məlumat əhatəsi</a:t>
            </a:r>
          </a:p>
        </p:txBody>
      </p:sp>
      <p:sp>
        <p:nvSpPr>
          <p:cNvPr id="5" name="">
            <a:extLst xmlns:a="http://schemas.openxmlformats.org/drawingml/2006/main">
              <a:ext uri="{FF2B5EF4-FFF2-40B4-BE49-F238E27FC236}">
                <a16:creationId xmlns:a16="http://schemas.microsoft.com/office/drawing/2014/main" id="{D12D6427-57DA-4664-AFD1-C3B348E6A858}"/>
              </a:ext>
            </a:extLst>
          </p:cNvPr>
          <p:cNvSpPr>
            <a:spLocks xmlns:a="http://schemas.openxmlformats.org/drawingml/2006/main" noGrp="1"/>
          </p:cNvSpPr>
          <p:nvPr/>
        </p:nvSpPr>
        <p:spPr>
          <a:xfrm xmlns:a="http://schemas.openxmlformats.org/drawingml/2006/main">
            <a:off x="609600" y="5848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OK / PARTIAL / NO DATA ölçmənin tamlığını göstərir</a:t>
            </a:r>
          </a:p>
        </p:txBody>
      </p:sp>
    </p:spTree>
    <p:extLst>
      <p:ext uri="{BB962C8B-B14F-4D97-AF65-F5344CB8AC3E}">
        <p14:creationId xmlns:p14="http://schemas.microsoft.com/office/powerpoint/2010/main" val="121008921"/>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8FCF76-2CCD-40FD-9016-F228A3A278BC}"/>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Məkan məlumatı və xəritələmə</a:t>
            </a:r>
          </a:p>
        </p:txBody>
      </p:sp>
      <p:sp>
        <p:nvSpPr>
          <p:cNvPr id="2" name="">
            <a:extLst xmlns:a="http://schemas.openxmlformats.org/drawingml/2006/main">
              <a:ext uri="{FF2B5EF4-FFF2-40B4-BE49-F238E27FC236}">
                <a16:creationId xmlns:a16="http://schemas.microsoft.com/office/drawing/2014/main" id="{D93FACA4-33D1-482C-91C3-5C16A1B43CB3}"/>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 13</a:t>
            </a:r>
          </a:p>
        </p:txBody>
      </p:sp>
      <p:pic>
        <p:nvPicPr>
          <p:cNvPr id="3" name="">
            <a:extLst xmlns:a="http://schemas.openxmlformats.org/drawingml/2006/main">
              <a:ext uri="{FF2B5EF4-FFF2-40B4-BE49-F238E27FC236}">
                <a16:creationId xmlns:a16="http://schemas.microsoft.com/office/drawing/2014/main" id="{709E5CCE-6B6A-4F68-8DA0-13E1D37A5175}"/>
              </a:ext>
            </a:extLst>
          </p:cNvPr>
          <p:cNvPicPr>
            <a:picLocks xmlns:a="http://schemas.openxmlformats.org/drawingml/2006/main" noChangeAspect="1"/>
          </p:cNvPicPr>
          <p:nvPr/>
        </p:nvPicPr>
        <p:blipFill>
          <a:blip xmlns:r="http://schemas.openxmlformats.org/officeDocument/2006/relationships" xmlns:a="http://schemas.openxmlformats.org/drawingml/2006/main" r:embed="R7b1225b8e27547e3"/>
          <a:stretch xmlns:a="http://schemas.openxmlformats.org/drawingml/2006/main"/>
        </p:blipFill>
        <p:spPr>
          <a:xfrm xmlns:a="http://schemas.openxmlformats.org/drawingml/2006/main">
            <a:off x="6381750" y="1775952"/>
            <a:ext cx="5200650" cy="348707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EFFEE8-F560-4EEC-87BE-271D32EE1A3C}"/>
              </a:ext>
            </a:extLst>
          </p:cNvPr>
          <p:cNvSpPr>
            <a:spLocks xmlns:a="http://schemas.openxmlformats.org/drawingml/2006/main" noGrp="1"/>
          </p:cNvSpPr>
          <p:nvPr/>
        </p:nvSpPr>
        <p:spPr>
          <a:xfrm xmlns:a="http://schemas.openxmlformats.org/drawingml/2006/main">
            <a:off x="609600" y="1771650"/>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Hazırda: saxlanmış GPS koordinatı</a:t>
            </a:r>
          </a:p>
        </p:txBody>
      </p:sp>
      <p:sp>
        <p:nvSpPr>
          <p:cNvPr id="5" name="">
            <a:extLst xmlns:a="http://schemas.openxmlformats.org/drawingml/2006/main">
              <a:ext uri="{FF2B5EF4-FFF2-40B4-BE49-F238E27FC236}">
                <a16:creationId xmlns:a16="http://schemas.microsoft.com/office/drawing/2014/main" id="{9F753BCA-2391-4B0A-982B-82224B14AFB8}"/>
              </a:ext>
            </a:extLst>
          </p:cNvPr>
          <p:cNvSpPr>
            <a:spLocks xmlns:a="http://schemas.openxmlformats.org/drawingml/2006/main" noGrp="1"/>
          </p:cNvSpPr>
          <p:nvPr/>
        </p:nvSpPr>
        <p:spPr>
          <a:xfrm xmlns:a="http://schemas.openxmlformats.org/drawingml/2006/main">
            <a:off x="609600" y="2962275"/>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Növbəti mərhələ: bir neçə ölçmə nöqtəsi</a:t>
            </a:r>
          </a:p>
        </p:txBody>
      </p:sp>
      <p:sp>
        <p:nvSpPr>
          <p:cNvPr id="6" name="">
            <a:extLst xmlns:a="http://schemas.openxmlformats.org/drawingml/2006/main">
              <a:ext uri="{FF2B5EF4-FFF2-40B4-BE49-F238E27FC236}">
                <a16:creationId xmlns:a16="http://schemas.microsoft.com/office/drawing/2014/main" id="{82FFED3D-C93C-4A72-B282-DDA7BFE2DBAD}"/>
              </a:ext>
            </a:extLst>
          </p:cNvPr>
          <p:cNvSpPr>
            <a:spLocks xmlns:a="http://schemas.openxmlformats.org/drawingml/2006/main" noGrp="1"/>
          </p:cNvSpPr>
          <p:nvPr/>
        </p:nvSpPr>
        <p:spPr>
          <a:xfrm xmlns:a="http://schemas.openxmlformats.org/drawingml/2006/main">
            <a:off x="609600" y="4152900"/>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Xəritə üçün eyni ölçmə qaydası və müqayisə olunan zaman aralıqları</a:t>
            </a:r>
          </a:p>
        </p:txBody>
      </p:sp>
      <p:sp>
        <p:nvSpPr>
          <p:cNvPr id="7" name="">
            <a:extLst xmlns:a="http://schemas.openxmlformats.org/drawingml/2006/main">
              <a:ext uri="{FF2B5EF4-FFF2-40B4-BE49-F238E27FC236}">
                <a16:creationId xmlns:a16="http://schemas.microsoft.com/office/drawing/2014/main" id="{923D1E49-98BD-4852-ABED-E7FD86DF5D88}"/>
              </a:ext>
            </a:extLst>
          </p:cNvPr>
          <p:cNvSpPr>
            <a:spLocks xmlns:a="http://schemas.openxmlformats.org/drawingml/2006/main" noGrp="1"/>
          </p:cNvSpPr>
          <p:nvPr/>
        </p:nvSpPr>
        <p:spPr>
          <a:xfrm xmlns:a="http://schemas.openxmlformats.org/drawingml/2006/main">
            <a:off x="609600" y="56959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latin typeface="Arial"/>
                <a:ea typeface="Arial"/>
                <a:cs typeface="Arial"/>
              </a:defRPr>
            </a:defPPr>
          </a:lstStyle>
          <a:p xmlns:a="http://schemas.openxmlformats.org/drawingml/2006/main">
            <a:pPr>
              <a:defRPr sz="1875" b="0">
                <a:solidFill>
                  <a:srgbClr val="526674"/>
                </a:solidFill>
                <a:latin typeface="Arial"/>
                <a:ea typeface="Arial"/>
                <a:cs typeface="Arial"/>
              </a:defRPr>
            </a:pPr>
            <a:r>
              <a:rPr sz="1875" b="0">
                <a:solidFill>
                  <a:srgbClr val="526674"/>
                </a:solidFill>
                <a:latin typeface="Arial"/>
                <a:ea typeface="Arial"/>
                <a:cs typeface="Arial"/>
              </a:rPr>
              <a:t>Pilot məkanın xəritə təsviri. Şəhər üzrə ölçülmüş səs xəritəsi hələ hazırlanmayıb.</a:t>
            </a:r>
          </a:p>
        </p:txBody>
      </p:sp>
    </p:spTree>
    <p:extLst>
      <p:ext uri="{BB962C8B-B14F-4D97-AF65-F5344CB8AC3E}">
        <p14:creationId xmlns:p14="http://schemas.microsoft.com/office/powerpoint/2010/main" val="191862478"/>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2CE8F0-9B9B-4746-9A10-37DF86AEB47A}"/>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latin typeface="Arial"/>
                <a:ea typeface="Arial"/>
                <a:cs typeface="Arial"/>
              </a:defRPr>
            </a:def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Tamamlama planı</a:t>
            </a:r>
          </a:p>
        </p:txBody>
      </p:sp>
      <p:sp>
        <p:nvSpPr>
          <p:cNvPr id="2" name="">
            <a:extLst xmlns:a="http://schemas.openxmlformats.org/drawingml/2006/main">
              <a:ext uri="{FF2B5EF4-FFF2-40B4-BE49-F238E27FC236}">
                <a16:creationId xmlns:a16="http://schemas.microsoft.com/office/drawing/2014/main" id="{C1376E9A-A08C-4977-91A5-C47EF845592D}"/>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latin typeface="Arial"/>
                <a:ea typeface="Arial"/>
                <a:cs typeface="Arial"/>
              </a:defRPr>
            </a:defPPr>
          </a:lstStyle>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D731674A-8148-4523-941E-296C30F83616}"/>
              </a:ext>
            </a:extLst>
          </p:cNvPr>
          <p:cNvSpPr>
            <a:spLocks xmlns:a="http://schemas.openxmlformats.org/drawingml/2006/main" noGrp="1"/>
          </p:cNvSpPr>
          <p:nvPr/>
        </p:nvSpPr>
        <p:spPr>
          <a:xfrm xmlns:a="http://schemas.openxmlformats.org/drawingml/2006/main">
            <a:off x="609600" y="1638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1. Xarici dB(A) çıxışları və avtomatik AP bərpası</a:t>
            </a:r>
          </a:p>
        </p:txBody>
      </p:sp>
      <p:sp>
        <p:nvSpPr>
          <p:cNvPr id="4" name="">
            <a:extLst xmlns:a="http://schemas.openxmlformats.org/drawingml/2006/main">
              <a:ext uri="{FF2B5EF4-FFF2-40B4-BE49-F238E27FC236}">
                <a16:creationId xmlns:a16="http://schemas.microsoft.com/office/drawing/2014/main" id="{1CF05E29-F4EF-4644-9711-87FB1F441092}"/>
              </a:ext>
            </a:extLst>
          </p:cNvPr>
          <p:cNvSpPr>
            <a:spLocks xmlns:a="http://schemas.openxmlformats.org/drawingml/2006/main" noGrp="1"/>
          </p:cNvSpPr>
          <p:nvPr/>
        </p:nvSpPr>
        <p:spPr>
          <a:xfrm xmlns:a="http://schemas.openxmlformats.org/drawingml/2006/main">
            <a:off x="609600" y="25717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2. Ortaq enerji xəttində 12–24 saatlıq gecə sınağı</a:t>
            </a:r>
          </a:p>
        </p:txBody>
      </p:sp>
      <p:sp>
        <p:nvSpPr>
          <p:cNvPr id="5" name="">
            <a:extLst xmlns:a="http://schemas.openxmlformats.org/drawingml/2006/main">
              <a:ext uri="{FF2B5EF4-FFF2-40B4-BE49-F238E27FC236}">
                <a16:creationId xmlns:a16="http://schemas.microsoft.com/office/drawing/2014/main" id="{CA4F55E2-E121-4139-998C-3134180E0C5B}"/>
              </a:ext>
            </a:extLst>
          </p:cNvPr>
          <p:cNvSpPr>
            <a:spLocks xmlns:a="http://schemas.openxmlformats.org/drawingml/2006/main" noGrp="1"/>
          </p:cNvSpPr>
          <p:nvPr/>
        </p:nvSpPr>
        <p:spPr>
          <a:xfrm xmlns:a="http://schemas.openxmlformats.org/drawingml/2006/main">
            <a:off x="609600" y="35052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3. Yoxlanmış asılılıqlar və ehtiyat nüsxədən sonra təmizləmə</a:t>
            </a:r>
          </a:p>
        </p:txBody>
      </p:sp>
      <p:sp>
        <p:nvSpPr>
          <p:cNvPr id="6" name="">
            <a:extLst xmlns:a="http://schemas.openxmlformats.org/drawingml/2006/main">
              <a:ext uri="{FF2B5EF4-FFF2-40B4-BE49-F238E27FC236}">
                <a16:creationId xmlns:a16="http://schemas.microsoft.com/office/drawing/2014/main" id="{A3EADF5F-B83A-4C79-94D2-592B6624445A}"/>
              </a:ext>
            </a:extLst>
          </p:cNvPr>
          <p:cNvSpPr>
            <a:spLocks xmlns:a="http://schemas.openxmlformats.org/drawingml/2006/main" noGrp="1"/>
          </p:cNvSpPr>
          <p:nvPr/>
        </p:nvSpPr>
        <p:spPr>
          <a:xfrm xmlns:a="http://schemas.openxmlformats.org/drawingml/2006/main">
            <a:off x="609600" y="44386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latin typeface="Arial"/>
                <a:ea typeface="Arial"/>
                <a:cs typeface="Arial"/>
              </a:defRPr>
            </a:def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4. Yeddi günlük səs sınağı və yekun avtonom sistem yoxlaması</a:t>
            </a:r>
          </a:p>
        </p:txBody>
      </p:sp>
      <p:sp>
        <p:nvSpPr>
          <p:cNvPr id="7" name="">
            <a:extLst xmlns:a="http://schemas.openxmlformats.org/drawingml/2006/main">
              <a:ext uri="{FF2B5EF4-FFF2-40B4-BE49-F238E27FC236}">
                <a16:creationId xmlns:a16="http://schemas.microsoft.com/office/drawing/2014/main" id="{47BCB1B7-A643-461A-8957-2B0524498F93}"/>
              </a:ext>
            </a:extLst>
          </p:cNvPr>
          <p:cNvSpPr>
            <a:spLocks xmlns:a="http://schemas.openxmlformats.org/drawingml/2006/main" noGrp="1"/>
          </p:cNvSpPr>
          <p:nvPr/>
        </p:nvSpPr>
        <p:spPr>
          <a:xfrm xmlns:a="http://schemas.openxmlformats.org/drawingml/2006/main">
            <a:off x="609600" y="57245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3"/>
                </a:solidFill>
                <a:latin typeface="Arial"/>
                <a:ea typeface="Arial"/>
                <a:cs typeface="Arial"/>
              </a:defRPr>
            </a:defPPr>
          </a:lstStyle>
          <a:p xmlns:a="http://schemas.openxmlformats.org/drawingml/2006/main">
            <a:pPr>
              <a:defRPr sz="2100" b="1">
                <a:solidFill>
                  <a:srgbClr val="087F83"/>
                </a:solidFill>
                <a:latin typeface="Arial"/>
                <a:ea typeface="Arial"/>
                <a:cs typeface="Arial"/>
              </a:defRPr>
            </a:pPr>
            <a:r>
              <a:rPr sz="2100" b="1">
                <a:solidFill>
                  <a:srgbClr val="087F83"/>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1496236970"/>
      </p:ext>
    </p:extLst>
  </p:cSld>
</p:sld>
</file>

<file path=ppt/slides/slide13.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C3AA3E-D85A-499E-8564-F0DC6F8405AD}"/>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Nəticə</a:t>
            </a:r>
          </a:p>
        </p:txBody>
      </p:sp>
      <p:sp>
        <p:nvSpPr>
          <p:cNvPr id="2" name="">
            <a:extLst xmlns:a="http://schemas.openxmlformats.org/drawingml/2006/main">
              <a:ext uri="{FF2B5EF4-FFF2-40B4-BE49-F238E27FC236}">
                <a16:creationId xmlns:a16="http://schemas.microsoft.com/office/drawing/2014/main" id="{EC35B42E-D290-474B-84C8-82E9492C8BA7}"/>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7CFD8"/>
                </a:solidFill>
                <a:latin typeface="Arial"/>
                <a:ea typeface="Arial"/>
                <a:cs typeface="Arial"/>
              </a:defRPr>
            </a:defPPr>
          </a:lstStyle>
          <a:p xmlns:a="http://schemas.openxmlformats.org/drawingml/2006/main">
            <a:pPr>
              <a:defRPr sz="1200" b="0">
                <a:solidFill>
                  <a:srgbClr val="B7CFD8"/>
                </a:solidFill>
                <a:latin typeface="Arial"/>
                <a:ea typeface="Arial"/>
                <a:cs typeface="Arial"/>
              </a:defRPr>
            </a:pPr>
            <a:r>
              <a:rPr sz="1200" b="0">
                <a:solidFill>
                  <a:srgbClr val="B7CFD8"/>
                </a:solidFill>
                <a:latin typeface="Arial"/>
                <a:ea typeface="Arial"/>
                <a:cs typeface="Arial"/>
              </a:rPr>
              <a:t>13 / 13</a:t>
            </a:r>
          </a:p>
        </p:txBody>
      </p:sp>
      <p:pic>
        <p:nvPicPr>
          <p:cNvPr id="3" name="">
            <a:extLst xmlns:a="http://schemas.openxmlformats.org/drawingml/2006/main">
              <a:ext uri="{FF2B5EF4-FFF2-40B4-BE49-F238E27FC236}">
                <a16:creationId xmlns:a16="http://schemas.microsoft.com/office/drawing/2014/main" id="{6004C19D-F68A-4ED5-A2CC-B7AA116B0D13}"/>
              </a:ext>
            </a:extLst>
          </p:cNvPr>
          <p:cNvPicPr>
            <a:picLocks xmlns:a="http://schemas.openxmlformats.org/drawingml/2006/main" noChangeAspect="1"/>
          </p:cNvPicPr>
          <p:nvPr/>
        </p:nvPicPr>
        <p:blipFill>
          <a:blip xmlns:r="http://schemas.openxmlformats.org/officeDocument/2006/relationships" xmlns:a="http://schemas.openxmlformats.org/drawingml/2006/main" r:embed="R8f6eedc6631f494a"/>
          <a:srcRect xmlns:a="http://schemas.openxmlformats.org/drawingml/2006/main" l="4743" t="0" r="4743" b="0"/>
          <a:stretch xmlns:a="http://schemas.openxmlformats.org/drawingml/2006/main">
            <a:fillRect l="0" t="0" r="0" b="0"/>
          </a:stretch>
        </p:blipFill>
        <p:spPr>
          <a:xfrm xmlns:a="http://schemas.openxmlformats.org/drawingml/2006/main">
            <a:off x="7048500" y="1704975"/>
            <a:ext cx="4533900"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3BF542-40E7-4BC7-B088-E8EE1DEF5335}"/>
              </a:ext>
            </a:extLst>
          </p:cNvPr>
          <p:cNvSpPr>
            <a:spLocks xmlns:a="http://schemas.openxmlformats.org/drawingml/2006/main" noGrp="1"/>
          </p:cNvSpPr>
          <p:nvPr/>
        </p:nvSpPr>
        <p:spPr>
          <a:xfrm xmlns:a="http://schemas.openxmlformats.org/drawingml/2006/main">
            <a:off x="609600" y="1809750"/>
            <a:ext cx="60007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latin typeface="Arial"/>
                <a:ea typeface="Arial"/>
                <a:cs typeface="Arial"/>
              </a:defRPr>
            </a:defPPr>
          </a:lstStyle>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İşləyən prototip</a:t>
            </a:r>
          </a:p>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Kalibrasiya edilmiş dB(A)</a:t>
            </a:r>
          </a:p>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DAY / EVE / NGT nəticələri</a:t>
            </a:r>
          </a:p>
        </p:txBody>
      </p:sp>
      <p:sp>
        <p:nvSpPr>
          <p:cNvPr id="5" name="">
            <a:extLst xmlns:a="http://schemas.openxmlformats.org/drawingml/2006/main">
              <a:ext uri="{FF2B5EF4-FFF2-40B4-BE49-F238E27FC236}">
                <a16:creationId xmlns:a16="http://schemas.microsoft.com/office/drawing/2014/main" id="{433CF2E8-E29C-4BF9-9E1B-DCE7A4238414}"/>
              </a:ext>
            </a:extLst>
          </p:cNvPr>
          <p:cNvSpPr>
            <a:spLocks xmlns:a="http://schemas.openxmlformats.org/drawingml/2006/main" noGrp="1"/>
          </p:cNvSpPr>
          <p:nvPr/>
        </p:nvSpPr>
        <p:spPr>
          <a:xfrm xmlns:a="http://schemas.openxmlformats.org/drawingml/2006/main">
            <a:off x="609600" y="4705350"/>
            <a:ext cx="615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8E3E6"/>
                </a:solidFill>
                <a:latin typeface="Arial"/>
                <a:ea typeface="Arial"/>
                <a:cs typeface="Arial"/>
              </a:defRPr>
            </a:defPPr>
          </a:lstStyle>
          <a:p xmlns:a="http://schemas.openxmlformats.org/drawingml/2006/main">
            <a:pPr>
              <a:defRPr sz="2100" b="0">
                <a:solidFill>
                  <a:srgbClr val="C8E3E6"/>
                </a:solidFill>
                <a:latin typeface="Arial"/>
                <a:ea typeface="Arial"/>
                <a:cs typeface="Arial"/>
              </a:defRPr>
            </a:pPr>
            <a:r>
              <a:rPr sz="2100" b="0">
                <a:solidFill>
                  <a:srgbClr val="C8E3E6"/>
                </a:solidFill>
                <a:latin typeface="Arial"/>
                <a:ea typeface="Arial"/>
                <a:cs typeface="Arial"/>
              </a:rPr>
              <a:t>Növbəti əsas yoxlama: enerji davamlılığı</a:t>
            </a:r>
          </a:p>
        </p:txBody>
      </p:sp>
      <p:sp>
        <p:nvSpPr>
          <p:cNvPr id="6" name="">
            <a:extLst xmlns:a="http://schemas.openxmlformats.org/drawingml/2006/main">
              <a:ext uri="{FF2B5EF4-FFF2-40B4-BE49-F238E27FC236}">
                <a16:creationId xmlns:a16="http://schemas.microsoft.com/office/drawing/2014/main" id="{8DC1D995-900E-439E-8EE4-0DBE5F1164CB}"/>
              </a:ext>
            </a:extLst>
          </p:cNvPr>
          <p:cNvSpPr>
            <a:spLocks xmlns:a="http://schemas.openxmlformats.org/drawingml/2006/main" noGrp="1"/>
          </p:cNvSpPr>
          <p:nvPr/>
        </p:nvSpPr>
        <p:spPr>
          <a:xfrm xmlns:a="http://schemas.openxmlformats.org/drawingml/2006/main">
            <a:off x="609600" y="58674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794133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2026-10-11T13:10:06.5850000Z</dcterms:created>
  <dcterms:modified xsi:type="dcterms:W3CDTF">2026-10-11T13:10:06.5850000Z</dcterms:modified>
</coreProperties>
</file>