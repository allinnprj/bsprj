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968457cbfe492a" /><Relationship Type="http://schemas.openxmlformats.org/officeDocument/2006/relationships/extended-properties" Target="/docProps/app.xml" Id="R9174205616284074" /><Relationship Type="http://schemas.openxmlformats.org/officeDocument/2006/relationships/officeDocument" Target="/ppt/presentation.xml" Id="Rd3be3ff9ea814cf5" /></Relationships>
</file>

<file path=ppt/presentation.xml><?xml version="1.0" encoding="utf-8"?>
<p:presentation xmlns:p="http://schemas.openxmlformats.org/presentationml/2006/main">
  <p:sldMasterIdLst>
    <p:sldMasterId xmlns:r="http://schemas.openxmlformats.org/officeDocument/2006/relationships" id="2147483648" r:id="Rde85d12a13214a22"/>
  </p:sldMasterIdLst>
  <p:notesMasterIdLst>
    <p:notesMasterId xmlns:r="http://schemas.openxmlformats.org/officeDocument/2006/relationships" r:id="R470dc83e29e84c01"/>
  </p:notesMasterIdLst>
  <p:sldIdLst>
    <p:sldId xmlns:r="http://schemas.openxmlformats.org/officeDocument/2006/relationships" id="256" r:id="Re4e4c5dfe71245bd"/>
    <p:sldId xmlns:r="http://schemas.openxmlformats.org/officeDocument/2006/relationships" id="257" r:id="R6d77fcab8e87436b"/>
    <p:sldId xmlns:r="http://schemas.openxmlformats.org/officeDocument/2006/relationships" id="258" r:id="Rdfe592385e1d440e"/>
    <p:sldId xmlns:r="http://schemas.openxmlformats.org/officeDocument/2006/relationships" id="259" r:id="R010fab79ed344f70"/>
    <p:sldId xmlns:r="http://schemas.openxmlformats.org/officeDocument/2006/relationships" id="260" r:id="R9a33884095304fc6"/>
    <p:sldId xmlns:r="http://schemas.openxmlformats.org/officeDocument/2006/relationships" id="261" r:id="Re33525a6536e400a"/>
    <p:sldId xmlns:r="http://schemas.openxmlformats.org/officeDocument/2006/relationships" id="262" r:id="R430d89ecc6434ff6"/>
    <p:sldId xmlns:r="http://schemas.openxmlformats.org/officeDocument/2006/relationships" id="263" r:id="R9333aec5cd5342d8"/>
    <p:sldId xmlns:r="http://schemas.openxmlformats.org/officeDocument/2006/relationships" id="264" r:id="R55a910308c0944bb"/>
    <p:sldId xmlns:r="http://schemas.openxmlformats.org/officeDocument/2006/relationships" id="265" r:id="Rfc4237d7a12344f8"/>
    <p:sldId xmlns:r="http://schemas.openxmlformats.org/officeDocument/2006/relationships" id="266" r:id="Rd7cfc58a38d34583"/>
    <p:sldId xmlns:r="http://schemas.openxmlformats.org/officeDocument/2006/relationships" id="267" r:id="Rae52005a1ce449ce"/>
    <p:sldId xmlns:r="http://schemas.openxmlformats.org/officeDocument/2006/relationships" id="268" r:id="Re8c8df72d7714ad6"/>
    <p:sldId xmlns:r="http://schemas.openxmlformats.org/officeDocument/2006/relationships" id="269" r:id="R103a4f93af38452c"/>
    <p:sldId xmlns:r="http://schemas.openxmlformats.org/officeDocument/2006/relationships" id="270" r:id="Rd7ba79472a224e0b"/>
    <p:sldId xmlns:r="http://schemas.openxmlformats.org/officeDocument/2006/relationships" id="271" r:id="R4157c95e367741ef"/>
    <p:sldId xmlns:r="http://schemas.openxmlformats.org/officeDocument/2006/relationships" id="272" r:id="Rdb1cc26d133c49bf"/>
    <p:sldId xmlns:r="http://schemas.openxmlformats.org/officeDocument/2006/relationships" id="273" r:id="R188f6cec59f846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d32d53d2e14191" /><Relationship Type="http://schemas.openxmlformats.org/officeDocument/2006/relationships/slideMaster" Target="/ppt/slideMasters/slideMaster1.xml" Id="Rde85d12a13214a22" /><Relationship Type="http://schemas.openxmlformats.org/officeDocument/2006/relationships/notesMaster" Target="/ppt/notesMasters/notesMaster1.xml" Id="R470dc83e29e84c01" /><Relationship Type="http://schemas.openxmlformats.org/officeDocument/2006/relationships/presProps" Target="/ppt/presProps.xml" Id="R6f21b0991cfd458f" /><Relationship Type="http://schemas.openxmlformats.org/officeDocument/2006/relationships/tableStyles" Target="/ppt/tableStyles.xml" Id="R08d59fb1e95b4613" /><Relationship Type="http://schemas.openxmlformats.org/officeDocument/2006/relationships/slide" Target="/ppt/slides/slide1.xml" Id="Re4e4c5dfe71245bd" /><Relationship Type="http://schemas.openxmlformats.org/officeDocument/2006/relationships/slide" Target="/ppt/slides/slide2.xml" Id="R6d77fcab8e87436b" /><Relationship Type="http://schemas.openxmlformats.org/officeDocument/2006/relationships/slide" Target="/ppt/slides/slide3.xml" Id="Rdfe592385e1d440e" /><Relationship Type="http://schemas.openxmlformats.org/officeDocument/2006/relationships/slide" Target="/ppt/slides/slide4.xml" Id="R010fab79ed344f70" /><Relationship Type="http://schemas.openxmlformats.org/officeDocument/2006/relationships/slide" Target="/ppt/slides/slide5.xml" Id="R9a33884095304fc6" /><Relationship Type="http://schemas.openxmlformats.org/officeDocument/2006/relationships/slide" Target="/ppt/slides/slide6.xml" Id="Re33525a6536e400a" /><Relationship Type="http://schemas.openxmlformats.org/officeDocument/2006/relationships/slide" Target="/ppt/slides/slide7.xml" Id="R430d89ecc6434ff6" /><Relationship Type="http://schemas.openxmlformats.org/officeDocument/2006/relationships/slide" Target="/ppt/slides/slide8.xml" Id="R9333aec5cd5342d8" /><Relationship Type="http://schemas.openxmlformats.org/officeDocument/2006/relationships/slide" Target="/ppt/slides/slide9.xml" Id="R55a910308c0944bb" /><Relationship Type="http://schemas.openxmlformats.org/officeDocument/2006/relationships/slide" Target="/ppt/slides/slide10.xml" Id="Rfc4237d7a12344f8" /><Relationship Type="http://schemas.openxmlformats.org/officeDocument/2006/relationships/slide" Target="/ppt/slides/slide11.xml" Id="Rd7cfc58a38d34583" /><Relationship Type="http://schemas.openxmlformats.org/officeDocument/2006/relationships/slide" Target="/ppt/slides/slide12.xml" Id="Rae52005a1ce449ce" /><Relationship Type="http://schemas.openxmlformats.org/officeDocument/2006/relationships/slide" Target="/ppt/slides/slide13.xml" Id="Re8c8df72d7714ad6" /><Relationship Type="http://schemas.openxmlformats.org/officeDocument/2006/relationships/slide" Target="/ppt/slides/slide14.xml" Id="R103a4f93af38452c" /><Relationship Type="http://schemas.openxmlformats.org/officeDocument/2006/relationships/slide" Target="/ppt/slides/slide15.xml" Id="Rd7ba79472a224e0b" /><Relationship Type="http://schemas.openxmlformats.org/officeDocument/2006/relationships/slide" Target="/ppt/slides/slide16.xml" Id="R4157c95e367741ef" /><Relationship Type="http://schemas.openxmlformats.org/officeDocument/2006/relationships/slide" Target="/ppt/slides/slide17.xml" Id="Rdb1cc26d133c49bf" /><Relationship Type="http://schemas.openxmlformats.org/officeDocument/2006/relationships/slide" Target="/ppt/slides/slide18.xml" Id="R188f6cec59f846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0438efe4014a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e20e3fc3ea499e" /><Relationship Type="http://schemas.openxmlformats.org/officeDocument/2006/relationships/notesMaster" Target="/ppt/notesMasters/notesMaster1.xml" Id="R32ffd80764d948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fd5f4316264370" /><Relationship Type="http://schemas.openxmlformats.org/officeDocument/2006/relationships/notesMaster" Target="/ppt/notesMasters/notesMaster1.xml" Id="Re63fec43d96f4c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d5554c72c443cd" /><Relationship Type="http://schemas.openxmlformats.org/officeDocument/2006/relationships/notesMaster" Target="/ppt/notesMasters/notesMaster1.xml" Id="Rb7afd9c40ef24b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312b8cc30d408b" /><Relationship Type="http://schemas.openxmlformats.org/officeDocument/2006/relationships/notesMaster" Target="/ppt/notesMasters/notesMaster1.xml" Id="R2155f6b3219149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387b750c0547ad" /><Relationship Type="http://schemas.openxmlformats.org/officeDocument/2006/relationships/notesMaster" Target="/ppt/notesMasters/notesMaster1.xml" Id="R40f73f317f4044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d18649d7874e78" /><Relationship Type="http://schemas.openxmlformats.org/officeDocument/2006/relationships/notesMaster" Target="/ppt/notesMasters/notesMaster1.xml" Id="R49e51728051541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0c25245ba54f3d" /><Relationship Type="http://schemas.openxmlformats.org/officeDocument/2006/relationships/notesMaster" Target="/ppt/notesMasters/notesMaster1.xml" Id="Rcc81c97423a248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2fb7bf863d44d1" /><Relationship Type="http://schemas.openxmlformats.org/officeDocument/2006/relationships/notesMaster" Target="/ppt/notesMasters/notesMaster1.xml" Id="Re302e61f683d40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c9dbf743cb44d2" /><Relationship Type="http://schemas.openxmlformats.org/officeDocument/2006/relationships/notesMaster" Target="/ppt/notesMasters/notesMaster1.xml" Id="Ra071bfa1c4ab47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62b19fa69140d4" /><Relationship Type="http://schemas.openxmlformats.org/officeDocument/2006/relationships/notesMaster" Target="/ppt/notesMasters/notesMaster1.xml" Id="Ra4969c4194a440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72106c458e4095" /><Relationship Type="http://schemas.openxmlformats.org/officeDocument/2006/relationships/notesMaster" Target="/ppt/notesMasters/notesMaster1.xml" Id="Rbcfc184a06ea4d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644f3779d34ad4" /><Relationship Type="http://schemas.openxmlformats.org/officeDocument/2006/relationships/notesMaster" Target="/ppt/notesMasters/notesMaster1.xml" Id="R2f9540f679094a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b31a6cbf7c4a4d" /><Relationship Type="http://schemas.openxmlformats.org/officeDocument/2006/relationships/notesMaster" Target="/ppt/notesMasters/notesMaster1.xml" Id="R260b9ca41f7247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c5d95781884a0a" /><Relationship Type="http://schemas.openxmlformats.org/officeDocument/2006/relationships/notesMaster" Target="/ppt/notesMasters/notesMaster1.xml" Id="Re26cb0ef43d042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84bdd4ff864ef3" /><Relationship Type="http://schemas.openxmlformats.org/officeDocument/2006/relationships/notesMaster" Target="/ppt/notesMasters/notesMaster1.xml" Id="R3ce08efa9b8742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14006244634455" /><Relationship Type="http://schemas.openxmlformats.org/officeDocument/2006/relationships/notesMaster" Target="/ppt/notesMasters/notesMaster1.xml" Id="R51eafb5add4441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5589804fdc4dc2" /><Relationship Type="http://schemas.openxmlformats.org/officeDocument/2006/relationships/notesMaster" Target="/ppt/notesMasters/notesMaster1.xml" Id="R6263d35a765142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22f6cfc772449a" /><Relationship Type="http://schemas.openxmlformats.org/officeDocument/2006/relationships/notesMaster" Target="/ppt/notesMasters/notesMaster1.xml" Id="R38b8ee01dc6d4d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Cihazın faydası səsin bir anlıq səviyyəsini göstərməkdən daha genişdir. Məktəb və ya yaşayış ərazisi yanında günün hansı hissəsində və hansı müddətdə daha çox səs-küy olduğunu görmək mümkündür. Bu məlumat təkrar ölçmənin vaxtını seçməyə kömək edir. Sonrakı mərhələdə məsələn, yol hərəkətində və ya səs maneəsində dəyişiklikdən əvvəl və sonra eyni qaydada müşahidə aparmaq olar. Bunlar tətbiq ssenariləridir. Məktəbdə və müdaxilədən sonra faktiki sınaq hələ keçirilməyib. Mənbə: layihənin məqsədi və istifadəçinin təsdiqlədiyi gələcək tətbiq planı.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Mikrofonun xam siqnalına A-vəznləmə və qəbul edilmiş kalibrasiya ofseti tətbiq olunur. Sistem etibarlı nümunələr üzrə enerjini toplayır və on dəqiqəlik Leq hesablayır. DAY, EVE və NGT üçün nəticələr etibarlı ölçmə müddəti ilə çəkilən enerji ortasıdır. dB qiymətlərinin sadə ədədi ortası istifadə olunmur. Orta səviyyə ilə yanaşı, ən çox müşahidə olunan sinif və məlumat əhatəsi göstərilir. Mənbə: BSPRJ DB_CALIBRATION.md, DATA_DICTIONARY_RU.md və Google Sheets hesablamaları.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 Əsas modulun modeli layihənin UART sxemində ESP32-WROOM-32U kimi göstərilir. C3 modeli HARDWARE.md ilə təsdiqlənir.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Bu sxem bizim elektrik sxemləri qovluğundan götürülüb. ESP32-WROOM-32U və ESP32-C3 SuperMini arasında UART 3,3 V siqnalları və ümumi GND var. MAIN GPIO17 C3 GPIO20-yə, C3 GPIO21 isə MAIN GPIO16-ya qoşulur. Sxemdə hər siqnal xəttində 2,2 kΩ rezistor göstərilir. Hazırkı sistemdə ayrıca oyanma xətti də var: BS GPIO23 open-drain, C3 GPIO5 və 10 kΩ pull-up. Bu slayddakı tarixi sxem yalnız UART hissəsini göstərir. Mənbə: D:/ALLINNPRGDRV/PRJ/AI/electrical circuits/CONTROLLER_UART_TECHNICAL_V2.png; D:/DEV/INA3221-C3/HARDWARE.md. Sxem şərti elektrik təsviridir, yeni montaj göstərişi deyil.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İkinci sxem real enerji modullarının layihə netlistinə əsaslanır. Panelin enerjisi GPIO3 ilə idarə olunan açardan və INA3221-in Solar kanalından keçir. SS56 əks cərəyan yolunu məhdudlaşdıran hissədir. Battery və Load ayrıca kanallarda ölçülür. Batareya 12 V AGM kimi göstərilir, yük yolunda 12 V-dan 7 V-a DC-DC və MB102 modulu var. Elektrik sxeminin üzərində dəyişiklik aparılmayıb, yalnız təqdimat nüsxəsində bəzi rusca yazılar azərbaycancaya çevrilib. Mənbə: electrical circuits/INA3221_ACTUAL_WIRING_RESTORED.svg; D:/DEV/INA3221-C3/INA3221_ACTUAL_WIRING.net; HARDWARE.md. Quruluş ümumi avtonom sistemin yekun qəbulunu əvəz etmir.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Səs qiymətləndirməsini FNIRSI FDM01 ilə müqayisə etmişik. Bunun üçün A-vəznləmə və SLOW rejimində foto cütləri istifadə olunub. FNB58 isə enerji yolunda gərginlik, cərəyan və gücün müşahidəsi üçün istifadə olunan USB testerdir. Müxtəlif qoşulma nöqtələri nəticəyə təsir edə bildiyinə görə FNB58-i INA3221-in tam kalibrasiyası kimi təqdim etmirik. Tam gecə-gündüz müqayisə jurnalı ayrıca optional yoxlamadır. Günəş nəzarətçisi INA3221 göstəricilərindən istifadə edir, əsas səs kontrolleri isə fasiləsiz I2S ölçməsini davam etdirir. Mənbə: BSPRJ DB_CALIBRATION.md; D:/DEV/INA3221-C3/HARDWARE.md, FNB58 Load Test Wiring; həmin layihənin memory.md, FNB58 müqayisəsinin açıq sərhədləri.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Yuxarıda ilkin təqdimatdakı real Summary ekranıdır. Orta dB(A) ilə birlikdə tipik səviyyə, onun payı və məlumat əhatəsi görünür. PARTIAL tam müşahidə olunmamış dövrü ayırır. Aşağıdakı rəqəmlər ayrıca T11 sınağına aiddir: 312 pəncərənin hamısında dB(A), 99–100 faiz etibarlı audio və sıfır klip. T11 lokal CSV və Sheets qiymətlərinin uyğunluğunu təsdiqləyir. Bunu fasiləsiz avtonom iş sübutu kimi təqdim etmirik. Mənbə: ilkin PPTX, image22.jpg; BSPRJ memory.md,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slayd real quraşdırmanın fotosu deyil, məktəb yanında gələcək yerləşdirmənin süni intellektlə hazırlanmış konseptidir. Kiçik günəş paneli, qorunan korpus və yol tərəfə yönəlmiş mikrofon göstərilir. Bu quruluş məktəb ətrafındakı səsin zaman üzrə müşahidəsini izah edir. Panelin ölçüsü və enerji balansı görüntüdə yalnız konseptualdır. Daimi montaj, hava şəraitindən qorunma və batareya dövrü ayrıca mühəndislik yoxlaması tələb edir. Mənbə: istifadəçinin təsdiqlədiyi yerləşdirmə ideyası; imagegen ilə yaradılmış illüstrasiya. Prompt: məktəb və yol yanında dirəkdə kompakt səs monitoru, üstündə kiçik günəş paneli, realistik qorunan korpus, kamera və mətn yoxdur.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Vokzal yaxınlığında nəqliyyat və sərnişin hərəkəti gün ərzində dəyişir. Bu konsept həmin ərazidə səs səviyyəsinin zaman üzrə müşahidəsini göstərir. Məqsəd səsli aralıqları görmək və əlavə ölçmənin vaxtını seçməkdir. Sistem bu mərhələdə səs mənbəyini avtomatik tanımır. Vokzalda real quraşdırma və sınaq keçirilməyib.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Xəstəxana ətrafında ölçmə aparmaq yol tərəfdəki səsin gündüz və gecə necə dəyişdiyini göstərmək üçün mümkün tətbiqdir. Nəticələr ərazinin səs mənzərəsini təsvir edir. Bu slayd tibbi nəticə və ya sağlamlığa təsir sınağı təqdim etmir. Xəstəxana yanında real ölçmə hələ aparılmayıb.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Yaşlılar evi yaxınlığında davamlı müşahidə axşam və gecə səviyyələrini ayrıca göstərmək üçün faydalı tətbiq ssenarisidir. Gələcəkdə eyni qayda ilə məsələn, yolun təşkili dəyişməzdən əvvəl və sonra müqayisə aparmaq olar. Bu məkanlarda nəticə hələ toplanmayıb. Şəkil kompakt cihazın gələcək yerləşdirmə ideyasıdır.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0ea22346ad46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eba52fdee34c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be676c739e43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e9bc94391e4b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c04b3745ce48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bd2bc1e7d041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55257D-F611-4F6D-9BF0-6BDD262E28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74339E-D4DF-49F9-868E-62A52273D1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84241C-0576-4EA2-859F-3E92C3ABF1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13038B-261B-407F-9478-643B85C958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1E3F40-8926-411B-A2D0-E06B904F07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1D7525-BAE0-4670-8DCA-8B27E544F4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D6D362-EFCA-45E6-994D-BAA8FA6197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BD8484-FBAB-4FFE-A46B-3277AEA909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8C0DD9-DB9D-4099-B85B-94B0B868C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C62215-3811-431F-B4E9-4303D525B6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86e9d11baf4a20" /><Relationship Type="http://schemas.openxmlformats.org/officeDocument/2006/relationships/slideLayout" Target="/ppt/slideLayouts/slideLayout1.xml" Id="Rb3ec52d1bd0c4607" /><Relationship Type="http://schemas.openxmlformats.org/officeDocument/2006/relationships/slideLayout" Target="/ppt/slideLayouts/slideLayout2.xml" Id="R176bc5e6fbd14034" /><Relationship Type="http://schemas.openxmlformats.org/officeDocument/2006/relationships/slideLayout" Target="/ppt/slideLayouts/slideLayout3.xml" Id="Rdf51cf673e434996" /><Relationship Type="http://schemas.openxmlformats.org/officeDocument/2006/relationships/slideLayout" Target="/ppt/slideLayouts/slideLayout4.xml" Id="Ra555d17603ae4112" /><Relationship Type="http://schemas.openxmlformats.org/officeDocument/2006/relationships/slideLayout" Target="/ppt/slideLayouts/slideLayout5.xml" Id="R9009bc02e0dd4a2b" /><Relationship Type="http://schemas.openxmlformats.org/officeDocument/2006/relationships/slideLayout" Target="/ppt/slideLayouts/slideLayout6.xml" Id="R45e60616cb554c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ec52d1bd0c4607"/>
    <p:sldLayoutId xmlns:r="http://schemas.openxmlformats.org/officeDocument/2006/relationships" id="2147483650" r:id="R176bc5e6fbd14034"/>
    <p:sldLayoutId xmlns:r="http://schemas.openxmlformats.org/officeDocument/2006/relationships" id="2147483651" r:id="Rdf51cf673e434996"/>
    <p:sldLayoutId xmlns:r="http://schemas.openxmlformats.org/officeDocument/2006/relationships" id="2147483652" r:id="Ra555d17603ae4112"/>
    <p:sldLayoutId xmlns:r="http://schemas.openxmlformats.org/officeDocument/2006/relationships" id="2147483653" r:id="R9009bc02e0dd4a2b"/>
    <p:sldLayoutId xmlns:r="http://schemas.openxmlformats.org/officeDocument/2006/relationships" id="2147483654" r:id="R45e60616cb554c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9401de20084b50" /><Relationship Type="http://schemas.openxmlformats.org/officeDocument/2006/relationships/image" Target="/ppt/media/image.jpeg" Id="R69dbb31b71194d5c" /><Relationship Type="http://schemas.openxmlformats.org/officeDocument/2006/relationships/image" Target="/ppt/media/image.png" Id="R6cc37f57ce6c43e3" /><Relationship Type="http://schemas.openxmlformats.org/officeDocument/2006/relationships/notesSlide" Target="/ppt/notesSlides/notesSlide1.xml" Id="R609ea388b6bb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bcdf8dd6c2485b" /><Relationship Type="http://schemas.openxmlformats.org/officeDocument/2006/relationships/image" Target="/ppt/media/image2.jpeg" Id="R98ea7319b50f46ce" /><Relationship Type="http://schemas.openxmlformats.org/officeDocument/2006/relationships/notesSlide" Target="/ppt/notesSlides/notesSlide2.xml" Id="R13b685a9d37d48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fc389124454c91" /><Relationship Type="http://schemas.openxmlformats.org/officeDocument/2006/relationships/notesSlide" Target="/ppt/notesSlides/notesSlide3.xml" Id="R598580a322d94d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989902ae0e4487" /><Relationship Type="http://schemas.openxmlformats.org/officeDocument/2006/relationships/notesSlide" Target="/ppt/notesSlides/notesSlide4.xml" Id="R4b9b8778c4b4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75f6cacf8e46f8" /><Relationship Type="http://schemas.openxmlformats.org/officeDocument/2006/relationships/image" Target="/ppt/media/image2.png" Id="R003b6e72317740a0" /><Relationship Type="http://schemas.openxmlformats.org/officeDocument/2006/relationships/notesSlide" Target="/ppt/notesSlides/notesSlide5.xml" Id="Rc6cac176e3fe46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6220c624a34440" /><Relationship Type="http://schemas.openxmlformats.org/officeDocument/2006/relationships/image" Target="/ppt/media/image3.png" Id="R73f9cd6b6177457f" /><Relationship Type="http://schemas.openxmlformats.org/officeDocument/2006/relationships/notesSlide" Target="/ppt/notesSlides/notesSlide6.xml" Id="Rf367be954b1a48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d747fcd4bc4512" /><Relationship Type="http://schemas.openxmlformats.org/officeDocument/2006/relationships/image" Target="/ppt/media/image4.png" Id="R788b0478cded47b9" /><Relationship Type="http://schemas.openxmlformats.org/officeDocument/2006/relationships/notesSlide" Target="/ppt/notesSlides/notesSlide7.xml" Id="Ref79fa3697654f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0b8f7967d54fd6" /><Relationship Type="http://schemas.openxmlformats.org/officeDocument/2006/relationships/notesSlide" Target="/ppt/notesSlides/notesSlide8.xml" Id="Racda04f159d14c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ac21f1632f4679" /><Relationship Type="http://schemas.openxmlformats.org/officeDocument/2006/relationships/notesSlide" Target="/ppt/notesSlides/notesSlide9.xml" Id="R1a0a01c40c3048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266d3847454c19" /><Relationship Type="http://schemas.openxmlformats.org/officeDocument/2006/relationships/chart" Target="/ppt/slides/charts/chart1.xml" Id="R6d61d6ac0a664557" /><Relationship Type="http://schemas.openxmlformats.org/officeDocument/2006/relationships/notesSlide" Target="/ppt/notesSlides/notesSlide10.xml" Id="R5555867411dc44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7f591d4cef455d" /><Relationship Type="http://schemas.openxmlformats.org/officeDocument/2006/relationships/image" Target="/ppt/media/image5.png" Id="R91864d4af5c347fa" /><Relationship Type="http://schemas.openxmlformats.org/officeDocument/2006/relationships/notesSlide" Target="/ppt/notesSlides/notesSlide11.xml" Id="R854e82e8aec640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46db2f91564a42" /><Relationship Type="http://schemas.openxmlformats.org/officeDocument/2006/relationships/image" Target="/ppt/media/image3.jpeg" Id="Rac853e67728e42a9" /><Relationship Type="http://schemas.openxmlformats.org/officeDocument/2006/relationships/notesSlide" Target="/ppt/notesSlides/notesSlide12.xml" Id="R279918e24a9747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0ab9127bf874ebd" /><Relationship Type="http://schemas.openxmlformats.org/officeDocument/2006/relationships/image" Target="/ppt/media/image6.png" Id="R4618cfde9dee4baf" /><Relationship Type="http://schemas.openxmlformats.org/officeDocument/2006/relationships/notesSlide" Target="/ppt/notesSlides/notesSlide13.xml" Id="R3a312d6ded1246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4aa6b2dd1a40ac" /><Relationship Type="http://schemas.openxmlformats.org/officeDocument/2006/relationships/image" Target="/ppt/media/image7.png" Id="R99304b545c4a401a" /><Relationship Type="http://schemas.openxmlformats.org/officeDocument/2006/relationships/notesSlide" Target="/ppt/notesSlides/notesSlide14.xml" Id="R44644f22e62049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bb08b2587f54df6" /><Relationship Type="http://schemas.openxmlformats.org/officeDocument/2006/relationships/image" Target="/ppt/media/image8.png" Id="R784bb16c08814ae8" /><Relationship Type="http://schemas.openxmlformats.org/officeDocument/2006/relationships/notesSlide" Target="/ppt/notesSlides/notesSlide15.xml" Id="R55df83930ffa42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0565c07e4014657" /><Relationship Type="http://schemas.openxmlformats.org/officeDocument/2006/relationships/image" Target="/ppt/media/image9.png" Id="R84387250ff384ff3" /><Relationship Type="http://schemas.openxmlformats.org/officeDocument/2006/relationships/notesSlide" Target="/ppt/notesSlides/notesSlide16.xml" Id="R68f29f71ca3a43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f8ac1ccf4c04fb4" /><Relationship Type="http://schemas.openxmlformats.org/officeDocument/2006/relationships/notesSlide" Target="/ppt/notesSlides/notesSlide17.xml" Id="Ra61d627935dc41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a50dfed55994b1d" /><Relationship Type="http://schemas.openxmlformats.org/officeDocument/2006/relationships/notesSlide" Target="/ppt/notesSlides/notesSlide18.xml" Id="Rfd4ee245e48f42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Leq, dB(A)</c:v>
          </c:tx>
          <c:spPr>
            <a:solidFill xmlns:a="http://schemas.openxmlformats.org/drawingml/2006/main">
              <a:srgbClr val="008F95"/>
            </a:solidFill>
          </c:spPr>
          <c:invertIfNegative val="0"/>
          <c:dPt>
            <c:idx val="0"/>
            <c:invertIfNegative val="0"/>
            <c:spPr>
              <a:solidFill xmlns:a="http://schemas.openxmlformats.org/drawingml/2006/main">
                <a:srgbClr val="EE785C"/>
              </a:solidFill>
            </c:spPr>
          </c:dPt>
          <c:dPt>
            <c:idx val="1"/>
            <c:invertIfNegative val="0"/>
            <c:spPr>
              <a:solidFill xmlns:a="http://schemas.openxmlformats.org/drawingml/2006/main">
                <a:srgbClr val="EAB13F"/>
              </a:solidFill>
            </c:spPr>
          </c:dPt>
          <c:dPt>
            <c:idx val="2"/>
            <c:invertIfNegative val="0"/>
            <c:spPr>
              <a:solidFill xmlns:a="http://schemas.openxmlformats.org/drawingml/2006/main">
                <a:srgbClr val="008F95"/>
              </a:solidFill>
            </c:spPr>
          </c:dPt>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4334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334A"/>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DB"/>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6575"/>
                </a:solidFill>
                <a:latin typeface="Arial"/>
                <a:ea typeface="Arial"/>
                <a:cs typeface="Arial"/>
              </a:defRPr>
            </a:pPr>
          </a:p>
        </c:txPr>
        <c:crossAx val="48650112"/>
        <c:crossBetween val="between"/>
        <c:majorUnit val="10"/>
      </c:valAx>
      <c:spPr>
        <a:solidFill xmlns:a="http://schemas.openxmlformats.org/drawingml/2006/main">
          <a:srgbClr val="FFF8EA"/>
        </a:solidFill>
      </c:spPr>
    </c:plotArea>
    <c:plotVisOnly val="1"/>
  </c:chart>
  <c:spPr>
    <a:solidFill xmlns:a="http://schemas.openxmlformats.org/drawingml/2006/main">
      <a:srgbClr val="FFF8E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8F5866-E66C-404A-8192-3F342A3DD5D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01 / 18</a:t>
            </a:r>
          </a:p>
        </p:txBody>
      </p:sp>
      <p:pic>
        <p:nvPicPr>
          <p:cNvPr id="2" name="">
            <a:extLst xmlns:a="http://schemas.openxmlformats.org/drawingml/2006/main">
              <a:ext uri="{FF2B5EF4-FFF2-40B4-BE49-F238E27FC236}">
                <a16:creationId xmlns:a16="http://schemas.microsoft.com/office/drawing/2014/main" id="{93CD5D5C-2447-4A86-9C07-51ED7A8D1371}"/>
              </a:ext>
            </a:extLst>
          </p:cNvPr>
          <p:cNvPicPr>
            <a:picLocks xmlns:a="http://schemas.openxmlformats.org/drawingml/2006/main" noChangeAspect="1"/>
          </p:cNvPicPr>
          <p:nvPr/>
        </p:nvPicPr>
        <p:blipFill>
          <a:blip xmlns:r="http://schemas.openxmlformats.org/officeDocument/2006/relationships" xmlns:a="http://schemas.openxmlformats.org/drawingml/2006/main" r:embed="R69dbb31b71194d5c"/>
          <a:srcRect xmlns:a="http://schemas.openxmlformats.org/drawingml/2006/main" l="27442" t="0" r="27442"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5F9E10-2702-457D-8D5B-C494F27F73B6}"/>
              </a:ext>
            </a:extLst>
          </p:cNvPr>
          <p:cNvSpPr>
            <a:spLocks xmlns:a="http://schemas.openxmlformats.org/drawingml/2006/main" noGrp="1"/>
          </p:cNvSpPr>
          <p:nvPr/>
        </p:nvSpPr>
        <p:spPr>
          <a:xfrm xmlns:a="http://schemas.openxmlformats.org/drawingml/2006/main">
            <a:off x="609600" y="581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C857"/>
                </a:solidFill>
                <a:latin typeface="Arial"/>
                <a:ea typeface="Arial"/>
                <a:cs typeface="Arial"/>
              </a:defRPr>
            </a:defPPr>
          </a:lstStyle>
          <a:p xmlns:a="http://schemas.openxmlformats.org/drawingml/2006/main">
            <a:pPr>
              <a:defRPr sz="2250" b="1">
                <a:solidFill>
                  <a:srgbClr val="FFC857"/>
                </a:solidFill>
                <a:latin typeface="Arial"/>
                <a:ea typeface="Arial"/>
                <a:cs typeface="Arial"/>
              </a:defRPr>
            </a:pPr>
            <a:r>
              <a:rPr sz="2250" b="1">
                <a:solidFill>
                  <a:srgbClr val="FFC857"/>
                </a:solidFill>
                <a:latin typeface="Arial"/>
                <a:ea typeface="Arial"/>
                <a:cs typeface="Arial"/>
              </a:rPr>
              <a:t>BSPRJ</a:t>
            </a:r>
          </a:p>
        </p:txBody>
      </p:sp>
      <p:sp>
        <p:nvSpPr>
          <p:cNvPr id="4" name="">
            <a:extLst xmlns:a="http://schemas.openxmlformats.org/drawingml/2006/main">
              <a:ext uri="{FF2B5EF4-FFF2-40B4-BE49-F238E27FC236}">
                <a16:creationId xmlns:a16="http://schemas.microsoft.com/office/drawing/2014/main" id="{561BE54E-3AB2-4A73-994F-44495FF152B6}"/>
              </a:ext>
            </a:extLst>
          </p:cNvPr>
          <p:cNvSpPr>
            <a:spLocks xmlns:a="http://schemas.openxmlformats.org/drawingml/2006/main" noGrp="1"/>
          </p:cNvSpPr>
          <p:nvPr/>
        </p:nvSpPr>
        <p:spPr>
          <a:xfrm xmlns:a="http://schemas.openxmlformats.org/drawingml/2006/main">
            <a:off x="609600" y="1552575"/>
            <a:ext cx="5429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Şəhər mühitində</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səs monitorinqi</a:t>
            </a:r>
          </a:p>
        </p:txBody>
      </p:sp>
      <p:sp>
        <p:nvSpPr>
          <p:cNvPr id="5" name="">
            <a:extLst xmlns:a="http://schemas.openxmlformats.org/drawingml/2006/main">
              <a:ext uri="{FF2B5EF4-FFF2-40B4-BE49-F238E27FC236}">
                <a16:creationId xmlns:a16="http://schemas.microsoft.com/office/drawing/2014/main" id="{DA800F98-09DA-4366-BA87-E02441F8FC8D}"/>
              </a:ext>
            </a:extLst>
          </p:cNvPr>
          <p:cNvSpPr>
            <a:spLocks xmlns:a="http://schemas.openxmlformats.org/drawingml/2006/main" noGrp="1"/>
          </p:cNvSpPr>
          <p:nvPr/>
        </p:nvSpPr>
        <p:spPr>
          <a:xfrm xmlns:a="http://schemas.openxmlformats.org/drawingml/2006/main">
            <a:off x="609600" y="3676650"/>
            <a:ext cx="530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63DED1"/>
                </a:solidFill>
                <a:latin typeface="Arial"/>
                <a:ea typeface="Arial"/>
                <a:cs typeface="Arial"/>
              </a:defRPr>
            </a:defPPr>
          </a:lstStyle>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Akustik monitorinq və</a:t>
            </a:r>
          </a:p>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zaman üzrə təhlil</a:t>
            </a:r>
          </a:p>
        </p:txBody>
      </p:sp>
      <p:sp>
        <p:nvSpPr>
          <p:cNvPr id="6" name="">
            <a:extLst xmlns:a="http://schemas.openxmlformats.org/drawingml/2006/main">
              <a:ext uri="{FF2B5EF4-FFF2-40B4-BE49-F238E27FC236}">
                <a16:creationId xmlns:a16="http://schemas.microsoft.com/office/drawing/2014/main" id="{9FA325C9-48BE-4A50-AC14-44655FA3894C}"/>
              </a:ext>
            </a:extLst>
          </p:cNvPr>
          <p:cNvSpPr>
            <a:spLocks xmlns:a="http://schemas.openxmlformats.org/drawingml/2006/main" noGrp="1"/>
          </p:cNvSpPr>
          <p:nvPr/>
        </p:nvSpPr>
        <p:spPr>
          <a:xfrm xmlns:a="http://schemas.openxmlformats.org/drawingml/2006/main">
            <a:off x="609600" y="54387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85A3E3BB-0062-4D7C-AE7D-7F06E954F962}"/>
              </a:ext>
            </a:extLst>
          </p:cNvPr>
          <p:cNvPicPr>
            <a:picLocks xmlns:a="http://schemas.openxmlformats.org/drawingml/2006/main" noChangeAspect="1"/>
          </p:cNvPicPr>
          <p:nvPr/>
        </p:nvPicPr>
        <p:blipFill>
          <a:blip xmlns:r="http://schemas.openxmlformats.org/officeDocument/2006/relationships" xmlns:a="http://schemas.openxmlformats.org/drawingml/2006/main" r:embed="R6cc37f57ce6c43e3"/>
          <a:stretch xmlns:a="http://schemas.openxmlformats.org/drawingml/2006/main"/>
        </p:blipFill>
        <p:spPr>
          <a:xfrm xmlns:a="http://schemas.openxmlformats.org/drawingml/2006/main">
            <a:off x="649027" y="5972175"/>
            <a:ext cx="549796" cy="523875"/>
          </a:xfrm>
          <a:prstGeom xmlns:a="http://schemas.openxmlformats.org/drawingml/2006/main" prst="rect">
            <a:avLst/>
          </a:prstGeom>
        </p:spPr>
      </p:pic>
    </p:spTree>
    <p:extLst>
      <p:ext uri="{BB962C8B-B14F-4D97-AF65-F5344CB8AC3E}">
        <p14:creationId xmlns:p14="http://schemas.microsoft.com/office/powerpoint/2010/main" val="1702021502"/>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16530D-3AE4-4222-BF93-99A65533C118}"/>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ölçmə bütün günü təsvir etmir</a:t>
            </a:r>
          </a:p>
        </p:txBody>
      </p:sp>
      <p:sp>
        <p:nvSpPr>
          <p:cNvPr id="2" name="">
            <a:extLst xmlns:a="http://schemas.openxmlformats.org/drawingml/2006/main">
              <a:ext uri="{FF2B5EF4-FFF2-40B4-BE49-F238E27FC236}">
                <a16:creationId xmlns:a16="http://schemas.microsoft.com/office/drawing/2014/main" id="{B8987C51-5919-478C-9846-828D6FB972C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02 / 18</a:t>
            </a:r>
          </a:p>
        </p:txBody>
      </p:sp>
      <p:pic>
        <p:nvPicPr>
          <p:cNvPr id="3" name="">
            <a:extLst xmlns:a="http://schemas.openxmlformats.org/drawingml/2006/main">
              <a:ext uri="{FF2B5EF4-FFF2-40B4-BE49-F238E27FC236}">
                <a16:creationId xmlns:a16="http://schemas.microsoft.com/office/drawing/2014/main" id="{BC1DC1AD-ECDA-409F-9097-A4AB84F74B16}"/>
              </a:ext>
            </a:extLst>
          </p:cNvPr>
          <p:cNvPicPr>
            <a:picLocks xmlns:a="http://schemas.openxmlformats.org/drawingml/2006/main" noChangeAspect="1"/>
          </p:cNvPicPr>
          <p:nvPr/>
        </p:nvPicPr>
        <p:blipFill>
          <a:blip xmlns:r="http://schemas.openxmlformats.org/officeDocument/2006/relationships" xmlns:a="http://schemas.openxmlformats.org/drawingml/2006/main" r:embed="R98ea7319b50f46ce"/>
          <a:srcRect xmlns:a="http://schemas.openxmlformats.org/drawingml/2006/main" l="10076" t="0" r="10076" b="0"/>
          <a:stretch xmlns:a="http://schemas.openxmlformats.org/drawingml/2006/main">
            <a:fillRect l="0" t="0" r="0" b="0"/>
          </a:stretch>
        </p:blipFill>
        <p:spPr>
          <a:xfrm xmlns:a="http://schemas.openxmlformats.org/drawingml/2006/main">
            <a:off x="5857875" y="1524000"/>
            <a:ext cx="5724525"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BAE8EB-C9B4-4330-BD7C-B848E2AA26AD}"/>
              </a:ext>
            </a:extLst>
          </p:cNvPr>
          <p:cNvSpPr>
            <a:spLocks xmlns:a="http://schemas.openxmlformats.org/drawingml/2006/main" noGrp="1"/>
          </p:cNvSpPr>
          <p:nvPr/>
        </p:nvSpPr>
        <p:spPr>
          <a:xfrm xmlns:a="http://schemas.openxmlformats.org/drawingml/2006/main">
            <a:off x="609600" y="1790700"/>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8F95"/>
                </a:solidFill>
                <a:latin typeface="Arial"/>
                <a:ea typeface="Arial"/>
                <a:cs typeface="Arial"/>
              </a:defRPr>
            </a:defPPr>
          </a:lstStyle>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Səs-küy</a:t>
            </a:r>
          </a:p>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zamanla dəyişir</a:t>
            </a:r>
          </a:p>
        </p:txBody>
      </p:sp>
      <p:sp>
        <p:nvSpPr>
          <p:cNvPr id="5" name="">
            <a:extLst xmlns:a="http://schemas.openxmlformats.org/drawingml/2006/main">
              <a:ext uri="{FF2B5EF4-FFF2-40B4-BE49-F238E27FC236}">
                <a16:creationId xmlns:a16="http://schemas.microsoft.com/office/drawing/2014/main" id="{7F3F76E6-57A9-4B3A-AC56-EF668F653628}"/>
              </a:ext>
            </a:extLst>
          </p:cNvPr>
          <p:cNvSpPr>
            <a:spLocks xmlns:a="http://schemas.openxmlformats.org/drawingml/2006/main" noGrp="1"/>
          </p:cNvSpPr>
          <p:nvPr/>
        </p:nvSpPr>
        <p:spPr>
          <a:xfrm xmlns:a="http://schemas.openxmlformats.org/drawingml/2006/main">
            <a:off x="609600" y="337185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Gündüz hərəkət çoxala bilər.</a:t>
            </a:r>
          </a:p>
        </p:txBody>
      </p:sp>
      <p:sp>
        <p:nvSpPr>
          <p:cNvPr id="6" name="">
            <a:extLst xmlns:a="http://schemas.openxmlformats.org/drawingml/2006/main">
              <a:ext uri="{FF2B5EF4-FFF2-40B4-BE49-F238E27FC236}">
                <a16:creationId xmlns:a16="http://schemas.microsoft.com/office/drawing/2014/main" id="{14322313-6244-4DF6-A9AB-2FFF4DFB298B}"/>
              </a:ext>
            </a:extLst>
          </p:cNvPr>
          <p:cNvSpPr>
            <a:spLocks xmlns:a="http://schemas.openxmlformats.org/drawingml/2006/main" noGrp="1"/>
          </p:cNvSpPr>
          <p:nvPr/>
        </p:nvSpPr>
        <p:spPr>
          <a:xfrm xmlns:a="http://schemas.openxmlformats.org/drawingml/2006/main">
            <a:off x="609600" y="4257675"/>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Gecə səviyyə azalır və ya dəyişir.</a:t>
            </a:r>
          </a:p>
        </p:txBody>
      </p:sp>
      <p:sp>
        <p:nvSpPr>
          <p:cNvPr id="7" name="">
            <a:extLst xmlns:a="http://schemas.openxmlformats.org/drawingml/2006/main">
              <a:ext uri="{FF2B5EF4-FFF2-40B4-BE49-F238E27FC236}">
                <a16:creationId xmlns:a16="http://schemas.microsoft.com/office/drawing/2014/main" id="{A29258F0-1D0D-4FB0-9756-577257C1C08B}"/>
              </a:ext>
            </a:extLst>
          </p:cNvPr>
          <p:cNvSpPr>
            <a:spLocks xmlns:a="http://schemas.openxmlformats.org/drawingml/2006/main" noGrp="1"/>
          </p:cNvSpPr>
          <p:nvPr/>
        </p:nvSpPr>
        <p:spPr>
          <a:xfrm xmlns:a="http://schemas.openxmlformats.org/drawingml/2006/main">
            <a:off x="609600" y="514350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Nəticə üçün davamlı müşahidə lazımdır.</a:t>
            </a:r>
          </a:p>
        </p:txBody>
      </p:sp>
    </p:spTree>
    <p:extLst>
      <p:ext uri="{BB962C8B-B14F-4D97-AF65-F5344CB8AC3E}">
        <p14:creationId xmlns:p14="http://schemas.microsoft.com/office/powerpoint/2010/main" val="1638754335"/>
      </p:ext>
    </p:extLst>
  </p:cSld>
</p:sld>
</file>

<file path=ppt/slides/slide3.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5FB50D-4478-401E-BEEC-41FF02BBD3BE}"/>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Cihaz hansı qərarlara kömək edə bilər?</a:t>
            </a:r>
          </a:p>
        </p:txBody>
      </p:sp>
      <p:sp>
        <p:nvSpPr>
          <p:cNvPr id="2" name="">
            <a:extLst xmlns:a="http://schemas.openxmlformats.org/drawingml/2006/main">
              <a:ext uri="{FF2B5EF4-FFF2-40B4-BE49-F238E27FC236}">
                <a16:creationId xmlns:a16="http://schemas.microsoft.com/office/drawing/2014/main" id="{0E8BC1FB-E582-433D-8A89-CC287445539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03 / 18</a:t>
            </a:r>
          </a:p>
        </p:txBody>
      </p:sp>
      <p:sp>
        <p:nvSpPr>
          <p:cNvPr id="3" name="">
            <a:extLst xmlns:a="http://schemas.openxmlformats.org/drawingml/2006/main">
              <a:ext uri="{FF2B5EF4-FFF2-40B4-BE49-F238E27FC236}">
                <a16:creationId xmlns:a16="http://schemas.microsoft.com/office/drawing/2014/main" id="{301B560E-38C4-44F9-AD95-6551C74E60BD}"/>
              </a:ext>
            </a:extLst>
          </p:cNvPr>
          <p:cNvSpPr>
            <a:spLocks xmlns:a="http://schemas.openxmlformats.org/drawingml/2006/main" noGrp="1"/>
          </p:cNvSpPr>
          <p:nvPr/>
        </p:nvSpPr>
        <p:spPr>
          <a:xfrm xmlns:a="http://schemas.openxmlformats.org/drawingml/2006/main">
            <a:off x="609600" y="16287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MƏKTƏB</a:t>
            </a:r>
          </a:p>
        </p:txBody>
      </p:sp>
      <p:sp>
        <p:nvSpPr>
          <p:cNvPr id="4" name="">
            <a:extLst xmlns:a="http://schemas.openxmlformats.org/drawingml/2006/main">
              <a:ext uri="{FF2B5EF4-FFF2-40B4-BE49-F238E27FC236}">
                <a16:creationId xmlns:a16="http://schemas.microsoft.com/office/drawing/2014/main" id="{A1C4E4FC-EBE0-4AE0-B0FA-EA5596FFBEFA}"/>
              </a:ext>
            </a:extLst>
          </p:cNvPr>
          <p:cNvSpPr>
            <a:spLocks xmlns:a="http://schemas.openxmlformats.org/drawingml/2006/main" noGrp="1"/>
          </p:cNvSpPr>
          <p:nvPr/>
        </p:nvSpPr>
        <p:spPr>
          <a:xfrm xmlns:a="http://schemas.openxmlformats.org/drawingml/2006/main">
            <a:off x="609600" y="2495550"/>
            <a:ext cx="5162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Dərs vaxtı və fasilələr üçün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səs-küyün zaman mənzərəsi</a:t>
            </a:r>
          </a:p>
        </p:txBody>
      </p:sp>
      <p:sp>
        <p:nvSpPr>
          <p:cNvPr id="5" name="">
            <a:extLst xmlns:a="http://schemas.openxmlformats.org/drawingml/2006/main">
              <a:ext uri="{FF2B5EF4-FFF2-40B4-BE49-F238E27FC236}">
                <a16:creationId xmlns:a16="http://schemas.microsoft.com/office/drawing/2014/main" id="{60FFCDAB-C4DB-4F00-BABC-0E194B8A6297}"/>
              </a:ext>
            </a:extLst>
          </p:cNvPr>
          <p:cNvSpPr>
            <a:spLocks xmlns:a="http://schemas.openxmlformats.org/drawingml/2006/main" noGrp="1"/>
          </p:cNvSpPr>
          <p:nvPr/>
        </p:nvSpPr>
        <p:spPr>
          <a:xfrm xmlns:a="http://schemas.openxmlformats.org/drawingml/2006/main">
            <a:off x="6629400" y="1628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YAŞAYIŞ ƏRAZİSİ</a:t>
            </a:r>
          </a:p>
        </p:txBody>
      </p:sp>
      <p:sp>
        <p:nvSpPr>
          <p:cNvPr id="6" name="">
            <a:extLst xmlns:a="http://schemas.openxmlformats.org/drawingml/2006/main">
              <a:ext uri="{FF2B5EF4-FFF2-40B4-BE49-F238E27FC236}">
                <a16:creationId xmlns:a16="http://schemas.microsoft.com/office/drawing/2014/main" id="{5CCBB1BF-7AC1-4DB0-B428-D2AA76325272}"/>
              </a:ext>
            </a:extLst>
          </p:cNvPr>
          <p:cNvSpPr>
            <a:spLocks xmlns:a="http://schemas.openxmlformats.org/drawingml/2006/main" noGrp="1"/>
          </p:cNvSpPr>
          <p:nvPr/>
        </p:nvSpPr>
        <p:spPr>
          <a:xfrm xmlns:a="http://schemas.openxmlformats.org/drawingml/2006/main">
            <a:off x="6629400" y="249555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Gündüz, axşam və gecə</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səviyyələrinin müqayisəsi</a:t>
            </a:r>
          </a:p>
        </p:txBody>
      </p:sp>
      <p:sp>
        <p:nvSpPr>
          <p:cNvPr id="7" name="">
            <a:extLst xmlns:a="http://schemas.openxmlformats.org/drawingml/2006/main">
              <a:ext uri="{FF2B5EF4-FFF2-40B4-BE49-F238E27FC236}">
                <a16:creationId xmlns:a16="http://schemas.microsoft.com/office/drawing/2014/main" id="{DE47D60D-A87B-4E0D-B7D6-2C357BE3D834}"/>
              </a:ext>
            </a:extLst>
          </p:cNvPr>
          <p:cNvSpPr>
            <a:spLocks xmlns:a="http://schemas.openxmlformats.org/drawingml/2006/main" noGrp="1"/>
          </p:cNvSpPr>
          <p:nvPr/>
        </p:nvSpPr>
        <p:spPr>
          <a:xfrm xmlns:a="http://schemas.openxmlformats.org/drawingml/2006/main">
            <a:off x="609600" y="4505325"/>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Dəyişiklikdən əvvəl və sonra müşahidə: məsələn, səs maneəsinin quraşdırılması</a:t>
            </a:r>
          </a:p>
        </p:txBody>
      </p:sp>
      <p:sp>
        <p:nvSpPr>
          <p:cNvPr id="8" name="">
            <a:extLst xmlns:a="http://schemas.openxmlformats.org/drawingml/2006/main">
              <a:ext uri="{FF2B5EF4-FFF2-40B4-BE49-F238E27FC236}">
                <a16:creationId xmlns:a16="http://schemas.microsoft.com/office/drawing/2014/main" id="{51774001-DE2B-43AC-AB60-A6EAFB9F8EAB}"/>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7F1ED"/>
                </a:solidFill>
                <a:latin typeface="Arial"/>
                <a:ea typeface="Arial"/>
                <a:cs typeface="Arial"/>
              </a:defRPr>
            </a:defPPr>
          </a:lstStyle>
          <a:p xmlns:a="http://schemas.openxmlformats.org/drawingml/2006/main">
            <a:pPr>
              <a:defRPr sz="1650" b="0">
                <a:solidFill>
                  <a:srgbClr val="C7F1ED"/>
                </a:solidFill>
                <a:latin typeface="Arial"/>
                <a:ea typeface="Arial"/>
                <a:cs typeface="Arial"/>
              </a:defRPr>
            </a:pPr>
            <a:r>
              <a:rPr sz="1650" b="0">
                <a:solidFill>
                  <a:srgbClr val="C7F1ED"/>
                </a:solidFill>
                <a:latin typeface="Arial"/>
                <a:ea typeface="Arial"/>
                <a:cs typeface="Arial"/>
              </a:rPr>
              <a:t>Tətbiq ssenariləri. Bu məkanlarda ayrıca sınaq tələb olunur.</a:t>
            </a:r>
          </a:p>
        </p:txBody>
      </p:sp>
    </p:spTree>
    <p:extLst>
      <p:ext uri="{BB962C8B-B14F-4D97-AF65-F5344CB8AC3E}">
        <p14:creationId xmlns:p14="http://schemas.microsoft.com/office/powerpoint/2010/main" val="514567732"/>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4C20EC-DCF2-4AC6-A7FF-3D62E386E1F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Ölçmədən etibarlı nəticəyə</a:t>
            </a:r>
          </a:p>
        </p:txBody>
      </p:sp>
      <p:sp>
        <p:nvSpPr>
          <p:cNvPr id="2" name="">
            <a:extLst xmlns:a="http://schemas.openxmlformats.org/drawingml/2006/main">
              <a:ext uri="{FF2B5EF4-FFF2-40B4-BE49-F238E27FC236}">
                <a16:creationId xmlns:a16="http://schemas.microsoft.com/office/drawing/2014/main" id="{7C0740B1-6EC6-46F0-B6F9-669443587E2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04 / 18</a:t>
            </a:r>
          </a:p>
        </p:txBody>
      </p:sp>
      <p:sp>
        <p:nvSpPr>
          <p:cNvPr id="3" name="">
            <a:extLst xmlns:a="http://schemas.openxmlformats.org/drawingml/2006/main">
              <a:ext uri="{FF2B5EF4-FFF2-40B4-BE49-F238E27FC236}">
                <a16:creationId xmlns:a16="http://schemas.microsoft.com/office/drawing/2014/main" id="{0C020276-2E01-4F8D-A453-C6FABDC45239}"/>
              </a:ext>
            </a:extLst>
          </p:cNvPr>
          <p:cNvSpPr>
            <a:spLocks xmlns:a="http://schemas.openxmlformats.org/drawingml/2006/main" noGrp="1"/>
          </p:cNvSpPr>
          <p:nvPr/>
        </p:nvSpPr>
        <p:spPr>
          <a:xfrm xmlns:a="http://schemas.openxmlformats.org/drawingml/2006/main">
            <a:off x="60960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8F95"/>
                </a:solidFill>
                <a:latin typeface="Arial"/>
                <a:ea typeface="Arial"/>
                <a:cs typeface="Arial"/>
              </a:defRPr>
            </a:defPPr>
          </a:lstStyle>
          <a:p xmlns:a="http://schemas.openxmlformats.org/drawingml/2006/main">
            <a:pPr>
              <a:defRPr sz="3600" b="1">
                <a:solidFill>
                  <a:srgbClr val="008F95"/>
                </a:solidFill>
                <a:latin typeface="Arial"/>
                <a:ea typeface="Arial"/>
                <a:cs typeface="Arial"/>
              </a:defRPr>
            </a:pPr>
            <a:r>
              <a:rPr sz="3600" b="1">
                <a:solidFill>
                  <a:srgbClr val="008F95"/>
                </a:solidFill>
                <a:latin typeface="Arial"/>
                <a:ea typeface="Arial"/>
                <a:cs typeface="Arial"/>
              </a:rPr>
              <a:t>dB(A)</a:t>
            </a:r>
          </a:p>
        </p:txBody>
      </p:sp>
      <p:sp>
        <p:nvSpPr>
          <p:cNvPr id="4" name="">
            <a:extLst xmlns:a="http://schemas.openxmlformats.org/drawingml/2006/main">
              <a:ext uri="{FF2B5EF4-FFF2-40B4-BE49-F238E27FC236}">
                <a16:creationId xmlns:a16="http://schemas.microsoft.com/office/drawing/2014/main" id="{9A96B14B-BF60-480B-9CC2-62572A938574}"/>
              </a:ext>
            </a:extLst>
          </p:cNvPr>
          <p:cNvSpPr>
            <a:spLocks xmlns:a="http://schemas.openxmlformats.org/drawingml/2006/main" noGrp="1"/>
          </p:cNvSpPr>
          <p:nvPr/>
        </p:nvSpPr>
        <p:spPr>
          <a:xfrm xmlns:a="http://schemas.openxmlformats.org/drawingml/2006/main">
            <a:off x="60960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Kalibrasiya edilmiş</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səs qiymətləndirməsi</a:t>
            </a:r>
          </a:p>
        </p:txBody>
      </p:sp>
      <p:sp>
        <p:nvSpPr>
          <p:cNvPr id="5" name="">
            <a:extLst xmlns:a="http://schemas.openxmlformats.org/drawingml/2006/main">
              <a:ext uri="{FF2B5EF4-FFF2-40B4-BE49-F238E27FC236}">
                <a16:creationId xmlns:a16="http://schemas.microsoft.com/office/drawing/2014/main" id="{348DA782-A87F-4E92-AD6C-72941C231196}"/>
              </a:ext>
            </a:extLst>
          </p:cNvPr>
          <p:cNvSpPr>
            <a:spLocks xmlns:a="http://schemas.openxmlformats.org/drawingml/2006/main" noGrp="1"/>
          </p:cNvSpPr>
          <p:nvPr/>
        </p:nvSpPr>
        <p:spPr>
          <a:xfrm xmlns:a="http://schemas.openxmlformats.org/drawingml/2006/main">
            <a:off x="4314825"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E785C"/>
                </a:solidFill>
                <a:latin typeface="Arial"/>
                <a:ea typeface="Arial"/>
                <a:cs typeface="Arial"/>
              </a:defRPr>
            </a:defPPr>
          </a:lstStyle>
          <a:p xmlns:a="http://schemas.openxmlformats.org/drawingml/2006/main">
            <a:pPr>
              <a:defRPr sz="3600" b="1">
                <a:solidFill>
                  <a:srgbClr val="EE785C"/>
                </a:solidFill>
                <a:latin typeface="Arial"/>
                <a:ea typeface="Arial"/>
                <a:cs typeface="Arial"/>
              </a:defRPr>
            </a:pPr>
            <a:r>
              <a:rPr sz="3600" b="1">
                <a:solidFill>
                  <a:srgbClr val="EE785C"/>
                </a:solidFill>
                <a:latin typeface="Arial"/>
                <a:ea typeface="Arial"/>
                <a:cs typeface="Arial"/>
              </a:rPr>
              <a:t>10 dəqiqə</a:t>
            </a:r>
          </a:p>
        </p:txBody>
      </p:sp>
      <p:sp>
        <p:nvSpPr>
          <p:cNvPr id="6" name="">
            <a:extLst xmlns:a="http://schemas.openxmlformats.org/drawingml/2006/main">
              <a:ext uri="{FF2B5EF4-FFF2-40B4-BE49-F238E27FC236}">
                <a16:creationId xmlns:a16="http://schemas.microsoft.com/office/drawing/2014/main" id="{A11CAC03-33AD-4426-8C9B-D3B2D082538E}"/>
              </a:ext>
            </a:extLst>
          </p:cNvPr>
          <p:cNvSpPr>
            <a:spLocks xmlns:a="http://schemas.openxmlformats.org/drawingml/2006/main" noGrp="1"/>
          </p:cNvSpPr>
          <p:nvPr/>
        </p:nvSpPr>
        <p:spPr>
          <a:xfrm xmlns:a="http://schemas.openxmlformats.org/drawingml/2006/main">
            <a:off x="4314825"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Etibarlı audio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enerji ortası (Leq)</a:t>
            </a:r>
          </a:p>
        </p:txBody>
      </p:sp>
      <p:sp>
        <p:nvSpPr>
          <p:cNvPr id="7" name="">
            <a:extLst xmlns:a="http://schemas.openxmlformats.org/drawingml/2006/main">
              <a:ext uri="{FF2B5EF4-FFF2-40B4-BE49-F238E27FC236}">
                <a16:creationId xmlns:a16="http://schemas.microsoft.com/office/drawing/2014/main" id="{ABA1A39D-622A-4F5E-9610-62A1ACEA8C55}"/>
              </a:ext>
            </a:extLst>
          </p:cNvPr>
          <p:cNvSpPr>
            <a:spLocks xmlns:a="http://schemas.openxmlformats.org/drawingml/2006/main" noGrp="1"/>
          </p:cNvSpPr>
          <p:nvPr/>
        </p:nvSpPr>
        <p:spPr>
          <a:xfrm xmlns:a="http://schemas.openxmlformats.org/drawingml/2006/main">
            <a:off x="802005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8F95"/>
                </a:solidFill>
                <a:latin typeface="Arial"/>
                <a:ea typeface="Arial"/>
                <a:cs typeface="Arial"/>
              </a:defRPr>
            </a:defPPr>
          </a:lstStyle>
          <a:p xmlns:a="http://schemas.openxmlformats.org/drawingml/2006/main">
            <a:pPr>
              <a:defRPr sz="2625" b="1">
                <a:solidFill>
                  <a:srgbClr val="008F95"/>
                </a:solidFill>
                <a:latin typeface="Arial"/>
                <a:ea typeface="Arial"/>
                <a:cs typeface="Arial"/>
              </a:defRPr>
            </a:pPr>
            <a:r>
              <a:rPr sz="2625" b="1">
                <a:solidFill>
                  <a:srgbClr val="008F95"/>
                </a:solidFill>
                <a:latin typeface="Arial"/>
                <a:ea typeface="Arial"/>
                <a:cs typeface="Arial"/>
              </a:rPr>
              <a:t>DAY / EVE / NGT</a:t>
            </a:r>
          </a:p>
        </p:txBody>
      </p:sp>
      <p:sp>
        <p:nvSpPr>
          <p:cNvPr id="8" name="">
            <a:extLst xmlns:a="http://schemas.openxmlformats.org/drawingml/2006/main">
              <a:ext uri="{FF2B5EF4-FFF2-40B4-BE49-F238E27FC236}">
                <a16:creationId xmlns:a16="http://schemas.microsoft.com/office/drawing/2014/main" id="{E5F1D2B2-BE4B-47D6-AF49-065116A4602F}"/>
              </a:ext>
            </a:extLst>
          </p:cNvPr>
          <p:cNvSpPr>
            <a:spLocks xmlns:a="http://schemas.openxmlformats.org/drawingml/2006/main" noGrp="1"/>
          </p:cNvSpPr>
          <p:nvPr/>
        </p:nvSpPr>
        <p:spPr>
          <a:xfrm xmlns:a="http://schemas.openxmlformats.org/drawingml/2006/main">
            <a:off x="802005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Günün hissələri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nəticə və əhatə</a:t>
            </a:r>
          </a:p>
        </p:txBody>
      </p:sp>
      <p:sp>
        <p:nvSpPr>
          <p:cNvPr id="9" name="">
            <a:extLst xmlns:a="http://schemas.openxmlformats.org/drawingml/2006/main">
              <a:ext uri="{FF2B5EF4-FFF2-40B4-BE49-F238E27FC236}">
                <a16:creationId xmlns:a16="http://schemas.microsoft.com/office/drawing/2014/main" id="{3BBCDD43-7C98-4274-952D-AD292238A3A2}"/>
              </a:ext>
            </a:extLst>
          </p:cNvPr>
          <p:cNvSpPr>
            <a:spLocks xmlns:a="http://schemas.openxmlformats.org/drawingml/2006/main" noGrp="1"/>
          </p:cNvSpPr>
          <p:nvPr/>
        </p:nvSpPr>
        <p:spPr>
          <a:xfrm xmlns:a="http://schemas.openxmlformats.org/drawingml/2006/main">
            <a:off x="609600" y="45529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334A"/>
                </a:solidFill>
                <a:latin typeface="Arial"/>
                <a:ea typeface="Arial"/>
                <a:cs typeface="Arial"/>
              </a:defRPr>
            </a:defPPr>
          </a:lstStyle>
          <a:p xmlns:a="http://schemas.openxmlformats.org/drawingml/2006/main">
            <a:pPr>
              <a:defRPr sz="2475" b="1">
                <a:solidFill>
                  <a:srgbClr val="14334A"/>
                </a:solidFill>
                <a:latin typeface="Arial"/>
                <a:ea typeface="Arial"/>
                <a:cs typeface="Arial"/>
              </a:defRPr>
            </a:pPr>
            <a:r>
              <a:rPr sz="2475" b="1">
                <a:solidFill>
                  <a:srgbClr val="14334A"/>
                </a:solidFill>
                <a:latin typeface="Arial"/>
                <a:ea typeface="Arial"/>
                <a:cs typeface="Arial"/>
              </a:rPr>
              <a:t>İki əsas nəticə</a:t>
            </a:r>
          </a:p>
        </p:txBody>
      </p:sp>
      <p:sp>
        <p:nvSpPr>
          <p:cNvPr id="10" name="">
            <a:extLst xmlns:a="http://schemas.openxmlformats.org/drawingml/2006/main">
              <a:ext uri="{FF2B5EF4-FFF2-40B4-BE49-F238E27FC236}">
                <a16:creationId xmlns:a16="http://schemas.microsoft.com/office/drawing/2014/main" id="{DC2225EC-4872-454A-8268-8D131AEF4379}"/>
              </a:ext>
            </a:extLst>
          </p:cNvPr>
          <p:cNvSpPr>
            <a:spLocks xmlns:a="http://schemas.openxmlformats.org/drawingml/2006/main" noGrp="1"/>
          </p:cNvSpPr>
          <p:nvPr/>
        </p:nvSpPr>
        <p:spPr>
          <a:xfrm xmlns:a="http://schemas.openxmlformats.org/drawingml/2006/main">
            <a:off x="609600" y="525780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8F95"/>
                </a:solidFill>
                <a:latin typeface="Arial"/>
                <a:ea typeface="Arial"/>
                <a:cs typeface="Arial"/>
              </a:defRPr>
            </a:defPPr>
          </a:lstStyle>
          <a:p xmlns:a="http://schemas.openxmlformats.org/drawingml/2006/main">
            <a:pPr>
              <a:defRPr sz="2400" b="0">
                <a:solidFill>
                  <a:srgbClr val="008F95"/>
                </a:solidFill>
                <a:latin typeface="Arial"/>
                <a:ea typeface="Arial"/>
                <a:cs typeface="Arial"/>
              </a:defRPr>
            </a:pPr>
            <a:r>
              <a:rPr sz="2400" b="0">
                <a:solidFill>
                  <a:srgbClr val="008F95"/>
                </a:solidFill>
                <a:latin typeface="Arial"/>
                <a:ea typeface="Arial"/>
                <a:cs typeface="Arial"/>
              </a:rPr>
              <a:t>Orta səviyyə nədir?     Hansı sinif daha çox müşahidə olunur?</a:t>
            </a:r>
          </a:p>
        </p:txBody>
      </p:sp>
    </p:spTree>
    <p:extLst>
      <p:ext uri="{BB962C8B-B14F-4D97-AF65-F5344CB8AC3E}">
        <p14:creationId xmlns:p14="http://schemas.microsoft.com/office/powerpoint/2010/main" val="1873776672"/>
      </p:ext>
    </p:extLst>
  </p:cSld>
</p:sld>
</file>

<file path=ppt/slides/slide5.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F12F98-CE1D-4E1A-B4B1-037145A3E85B}"/>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İki kontroller, bir müşahidə sistemi</a:t>
            </a:r>
          </a:p>
        </p:txBody>
      </p:sp>
      <p:sp>
        <p:nvSpPr>
          <p:cNvPr id="2" name="">
            <a:extLst xmlns:a="http://schemas.openxmlformats.org/drawingml/2006/main">
              <a:ext uri="{FF2B5EF4-FFF2-40B4-BE49-F238E27FC236}">
                <a16:creationId xmlns:a16="http://schemas.microsoft.com/office/drawing/2014/main" id="{57192E85-3490-4ADF-A601-6C675F68821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05 / 18</a:t>
            </a:r>
          </a:p>
        </p:txBody>
      </p:sp>
      <p:pic>
        <p:nvPicPr>
          <p:cNvPr id="3" name="">
            <a:extLst xmlns:a="http://schemas.openxmlformats.org/drawingml/2006/main">
              <a:ext uri="{FF2B5EF4-FFF2-40B4-BE49-F238E27FC236}">
                <a16:creationId xmlns:a16="http://schemas.microsoft.com/office/drawing/2014/main" id="{0586A115-AAA1-4756-AA7A-DE60AB9108C5}"/>
              </a:ext>
            </a:extLst>
          </p:cNvPr>
          <p:cNvPicPr>
            <a:picLocks xmlns:a="http://schemas.openxmlformats.org/drawingml/2006/main" noChangeAspect="1"/>
          </p:cNvPicPr>
          <p:nvPr/>
        </p:nvPicPr>
        <p:blipFill>
          <a:blip xmlns:r="http://schemas.openxmlformats.org/officeDocument/2006/relationships" xmlns:a="http://schemas.openxmlformats.org/drawingml/2006/main" r:embed="R003b6e72317740a0"/>
          <a:stretch xmlns:a="http://schemas.openxmlformats.org/drawingml/2006/main"/>
        </p:blipFill>
        <p:spPr>
          <a:xfrm xmlns:a="http://schemas.openxmlformats.org/drawingml/2006/main">
            <a:off x="8001000" y="1492046"/>
            <a:ext cx="3314700" cy="4740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8E2F85-7F4F-42DB-9EF5-3211316579B2}"/>
              </a:ext>
            </a:extLst>
          </p:cNvPr>
          <p:cNvSpPr>
            <a:spLocks xmlns:a="http://schemas.openxmlformats.org/drawingml/2006/main" noGrp="1"/>
          </p:cNvSpPr>
          <p:nvPr/>
        </p:nvSpPr>
        <p:spPr>
          <a:xfrm xmlns:a="http://schemas.openxmlformats.org/drawingml/2006/main">
            <a:off x="609600" y="1724025"/>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ESP32-WROOM-32U</a:t>
            </a:r>
          </a:p>
        </p:txBody>
      </p:sp>
      <p:sp>
        <p:nvSpPr>
          <p:cNvPr id="5" name="">
            <a:extLst xmlns:a="http://schemas.openxmlformats.org/drawingml/2006/main">
              <a:ext uri="{FF2B5EF4-FFF2-40B4-BE49-F238E27FC236}">
                <a16:creationId xmlns:a16="http://schemas.microsoft.com/office/drawing/2014/main" id="{E74D00E8-7C6F-4ADE-8195-FECC85E55A21}"/>
              </a:ext>
            </a:extLst>
          </p:cNvPr>
          <p:cNvSpPr>
            <a:spLocks xmlns:a="http://schemas.openxmlformats.org/drawingml/2006/main" noGrp="1"/>
          </p:cNvSpPr>
          <p:nvPr/>
        </p:nvSpPr>
        <p:spPr>
          <a:xfrm xmlns:a="http://schemas.openxmlformats.org/drawingml/2006/main">
            <a:off x="609600" y="2466975"/>
            <a:ext cx="6838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334A"/>
                </a:solidFill>
                <a:latin typeface="Arial"/>
                <a:ea typeface="Arial"/>
                <a:cs typeface="Arial"/>
              </a:defRPr>
            </a:defPPr>
          </a:lstStyle>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INMP441 mikrofonu · I2S</a:t>
            </a:r>
          </a:p>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OLED 128×64 · Wi-Fi</a:t>
            </a:r>
          </a:p>
        </p:txBody>
      </p:sp>
      <p:sp>
        <p:nvSpPr>
          <p:cNvPr id="6" name="">
            <a:extLst xmlns:a="http://schemas.openxmlformats.org/drawingml/2006/main">
              <a:ext uri="{FF2B5EF4-FFF2-40B4-BE49-F238E27FC236}">
                <a16:creationId xmlns:a16="http://schemas.microsoft.com/office/drawing/2014/main" id="{77AD10CA-5D69-4841-A540-DE3E094B08EE}"/>
              </a:ext>
            </a:extLst>
          </p:cNvPr>
          <p:cNvSpPr>
            <a:spLocks xmlns:a="http://schemas.openxmlformats.org/drawingml/2006/main" noGrp="1"/>
          </p:cNvSpPr>
          <p:nvPr/>
        </p:nvSpPr>
        <p:spPr>
          <a:xfrm xmlns:a="http://schemas.openxmlformats.org/drawingml/2006/main">
            <a:off x="609600" y="3829050"/>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ESP32-C3 SuperMini</a:t>
            </a:r>
          </a:p>
        </p:txBody>
      </p:sp>
      <p:sp>
        <p:nvSpPr>
          <p:cNvPr id="7" name="">
            <a:extLst xmlns:a="http://schemas.openxmlformats.org/drawingml/2006/main">
              <a:ext uri="{FF2B5EF4-FFF2-40B4-BE49-F238E27FC236}">
                <a16:creationId xmlns:a16="http://schemas.microsoft.com/office/drawing/2014/main" id="{C5CF8993-E1E5-41BF-A369-D2B735D93648}"/>
              </a:ext>
            </a:extLst>
          </p:cNvPr>
          <p:cNvSpPr>
            <a:spLocks xmlns:a="http://schemas.openxmlformats.org/drawingml/2006/main" noGrp="1"/>
          </p:cNvSpPr>
          <p:nvPr/>
        </p:nvSpPr>
        <p:spPr>
          <a:xfrm xmlns:a="http://schemas.openxmlformats.org/drawingml/2006/main">
            <a:off x="609600" y="4572000"/>
            <a:ext cx="702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34A"/>
                </a:solidFill>
                <a:latin typeface="Arial"/>
                <a:ea typeface="Arial"/>
                <a:cs typeface="Arial"/>
              </a:defRPr>
            </a:defPPr>
          </a:lstStyle>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INA3221: Solar / Battery / Load</a:t>
            </a:r>
          </a:p>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u-blox NEO-M8 / HW-542: saxlanmış GPS FIX</a:t>
            </a:r>
          </a:p>
        </p:txBody>
      </p:sp>
    </p:spTree>
    <p:extLst>
      <p:ext uri="{BB962C8B-B14F-4D97-AF65-F5344CB8AC3E}">
        <p14:creationId xmlns:p14="http://schemas.microsoft.com/office/powerpoint/2010/main" val="1772868400"/>
      </p:ext>
    </p:extLst>
  </p:cSld>
</p:sld>
</file>

<file path=ppt/slides/slide6.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BCF281-DC17-414C-BE18-326F062443D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kontrollerlər arasında UART</a:t>
            </a:r>
          </a:p>
        </p:txBody>
      </p:sp>
      <p:sp>
        <p:nvSpPr>
          <p:cNvPr id="2" name="">
            <a:extLst xmlns:a="http://schemas.openxmlformats.org/drawingml/2006/main">
              <a:ext uri="{FF2B5EF4-FFF2-40B4-BE49-F238E27FC236}">
                <a16:creationId xmlns:a16="http://schemas.microsoft.com/office/drawing/2014/main" id="{98FD5943-3DDC-4AC6-8F5B-F10988805BE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06 / 18</a:t>
            </a:r>
          </a:p>
        </p:txBody>
      </p:sp>
      <p:pic>
        <p:nvPicPr>
          <p:cNvPr id="3" name="">
            <a:extLst xmlns:a="http://schemas.openxmlformats.org/drawingml/2006/main">
              <a:ext uri="{FF2B5EF4-FFF2-40B4-BE49-F238E27FC236}">
                <a16:creationId xmlns:a16="http://schemas.microsoft.com/office/drawing/2014/main" id="{89C7F574-1D02-4C5A-94E1-DABD884E7AE2}"/>
              </a:ext>
            </a:extLst>
          </p:cNvPr>
          <p:cNvPicPr>
            <a:picLocks xmlns:a="http://schemas.openxmlformats.org/drawingml/2006/main" noChangeAspect="1"/>
          </p:cNvPicPr>
          <p:nvPr/>
        </p:nvPicPr>
        <p:blipFill>
          <a:blip xmlns:r="http://schemas.openxmlformats.org/officeDocument/2006/relationships" xmlns:a="http://schemas.openxmlformats.org/drawingml/2006/main" r:embed="R73f9cd6b6177457f"/>
          <a:stretch xmlns:a="http://schemas.openxmlformats.org/drawingml/2006/main"/>
        </p:blipFill>
        <p:spPr>
          <a:xfrm xmlns:a="http://schemas.openxmlformats.org/drawingml/2006/main">
            <a:off x="786644" y="1657350"/>
            <a:ext cx="7589762"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64009A-EF8F-400A-BC54-FC1B5DFC62F0}"/>
              </a:ext>
            </a:extLst>
          </p:cNvPr>
          <p:cNvSpPr>
            <a:spLocks xmlns:a="http://schemas.openxmlformats.org/drawingml/2006/main" noGrp="1"/>
          </p:cNvSpPr>
          <p:nvPr/>
        </p:nvSpPr>
        <p:spPr>
          <a:xfrm xmlns:a="http://schemas.openxmlformats.org/drawingml/2006/main">
            <a:off x="9010650" y="1952625"/>
            <a:ext cx="257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95"/>
                </a:solidFill>
                <a:latin typeface="Arial"/>
                <a:ea typeface="Arial"/>
                <a:cs typeface="Arial"/>
              </a:defRPr>
            </a:defPPr>
          </a:lstStyle>
          <a:p xmlns:a="http://schemas.openxmlformats.org/drawingml/2006/main">
            <a:pPr>
              <a:defRPr sz="2550" b="1">
                <a:solidFill>
                  <a:srgbClr val="008F95"/>
                </a:solidFill>
                <a:latin typeface="Arial"/>
                <a:ea typeface="Arial"/>
                <a:cs typeface="Arial"/>
              </a:defRPr>
            </a:pPr>
            <a:r>
              <a:rPr sz="2550" b="1">
                <a:solidFill>
                  <a:srgbClr val="008F95"/>
                </a:solidFill>
                <a:latin typeface="Arial"/>
                <a:ea typeface="Arial"/>
                <a:cs typeface="Arial"/>
              </a:rPr>
              <a:t>UART 3,3 V</a:t>
            </a:r>
          </a:p>
        </p:txBody>
      </p:sp>
      <p:sp>
        <p:nvSpPr>
          <p:cNvPr id="5" name="">
            <a:extLst xmlns:a="http://schemas.openxmlformats.org/drawingml/2006/main">
              <a:ext uri="{FF2B5EF4-FFF2-40B4-BE49-F238E27FC236}">
                <a16:creationId xmlns:a16="http://schemas.microsoft.com/office/drawing/2014/main" id="{B00DA6A8-1846-4B78-A7D3-1E0619F77098}"/>
              </a:ext>
            </a:extLst>
          </p:cNvPr>
          <p:cNvSpPr>
            <a:spLocks xmlns:a="http://schemas.openxmlformats.org/drawingml/2006/main" noGrp="1"/>
          </p:cNvSpPr>
          <p:nvPr/>
        </p:nvSpPr>
        <p:spPr>
          <a:xfrm xmlns:a="http://schemas.openxmlformats.org/drawingml/2006/main">
            <a:off x="9010650" y="273367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Səs və enerji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məlumatı</a:t>
            </a:r>
          </a:p>
        </p:txBody>
      </p:sp>
      <p:sp>
        <p:nvSpPr>
          <p:cNvPr id="6" name="">
            <a:extLst xmlns:a="http://schemas.openxmlformats.org/drawingml/2006/main">
              <a:ext uri="{FF2B5EF4-FFF2-40B4-BE49-F238E27FC236}">
                <a16:creationId xmlns:a16="http://schemas.microsoft.com/office/drawing/2014/main" id="{86BB4610-4F83-4851-B5F0-43FD1BC2C4D2}"/>
              </a:ext>
            </a:extLst>
          </p:cNvPr>
          <p:cNvSpPr>
            <a:spLocks xmlns:a="http://schemas.openxmlformats.org/drawingml/2006/main" noGrp="1"/>
          </p:cNvSpPr>
          <p:nvPr/>
        </p:nvSpPr>
        <p:spPr>
          <a:xfrm xmlns:a="http://schemas.openxmlformats.org/drawingml/2006/main">
            <a:off x="9010650" y="3829050"/>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TX / RX</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Ümumi GND</a:t>
            </a:r>
          </a:p>
        </p:txBody>
      </p:sp>
      <p:sp>
        <p:nvSpPr>
          <p:cNvPr id="7" name="">
            <a:extLst xmlns:a="http://schemas.openxmlformats.org/drawingml/2006/main">
              <a:ext uri="{FF2B5EF4-FFF2-40B4-BE49-F238E27FC236}">
                <a16:creationId xmlns:a16="http://schemas.microsoft.com/office/drawing/2014/main" id="{BCF1556A-8415-4422-96B5-FEC335887658}"/>
              </a:ext>
            </a:extLst>
          </p:cNvPr>
          <p:cNvSpPr>
            <a:spLocks xmlns:a="http://schemas.openxmlformats.org/drawingml/2006/main" noGrp="1"/>
          </p:cNvSpPr>
          <p:nvPr/>
        </p:nvSpPr>
        <p:spPr>
          <a:xfrm xmlns:a="http://schemas.openxmlformats.org/drawingml/2006/main">
            <a:off x="9010650" y="492442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Ayrıca wake xətti: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BS GPIO23 → C3 GPIO5</a:t>
            </a:r>
          </a:p>
        </p:txBody>
      </p:sp>
    </p:spTree>
    <p:extLst>
      <p:ext uri="{BB962C8B-B14F-4D97-AF65-F5344CB8AC3E}">
        <p14:creationId xmlns:p14="http://schemas.microsoft.com/office/powerpoint/2010/main" val="1067615346"/>
      </p:ext>
    </p:extLst>
  </p:cSld>
</p:sld>
</file>

<file path=ppt/slides/slide7.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B861DF-7815-4246-A4C8-9682785EB08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günəş enerjisi və batareya</a:t>
            </a:r>
          </a:p>
        </p:txBody>
      </p:sp>
      <p:sp>
        <p:nvSpPr>
          <p:cNvPr id="2" name="">
            <a:extLst xmlns:a="http://schemas.openxmlformats.org/drawingml/2006/main">
              <a:ext uri="{FF2B5EF4-FFF2-40B4-BE49-F238E27FC236}">
                <a16:creationId xmlns:a16="http://schemas.microsoft.com/office/drawing/2014/main" id="{7958986A-C6C0-408B-A844-D8A23B12F821}"/>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07 / 18</a:t>
            </a:r>
          </a:p>
        </p:txBody>
      </p:sp>
      <p:pic>
        <p:nvPicPr>
          <p:cNvPr id="3" name="">
            <a:extLst xmlns:a="http://schemas.openxmlformats.org/drawingml/2006/main">
              <a:ext uri="{FF2B5EF4-FFF2-40B4-BE49-F238E27FC236}">
                <a16:creationId xmlns:a16="http://schemas.microsoft.com/office/drawing/2014/main" id="{C70C8051-8DE5-4C5C-8102-0311AC77FC93}"/>
              </a:ext>
            </a:extLst>
          </p:cNvPr>
          <p:cNvPicPr>
            <a:picLocks xmlns:a="http://schemas.openxmlformats.org/drawingml/2006/main" noChangeAspect="1"/>
          </p:cNvPicPr>
          <p:nvPr/>
        </p:nvPicPr>
        <p:blipFill>
          <a:blip xmlns:r="http://schemas.openxmlformats.org/officeDocument/2006/relationships" xmlns:a="http://schemas.openxmlformats.org/drawingml/2006/main" r:embed="R788b0478cded47b9"/>
          <a:stretch xmlns:a="http://schemas.openxmlformats.org/drawingml/2006/main"/>
        </p:blipFill>
        <p:spPr>
          <a:xfrm xmlns:a="http://schemas.openxmlformats.org/drawingml/2006/main">
            <a:off x="2126192" y="1400175"/>
            <a:ext cx="795866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2313E3-4ADE-4BA4-BACF-B908061B72A3}"/>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F95"/>
                </a:solidFill>
                <a:latin typeface="Arial"/>
                <a:ea typeface="Arial"/>
                <a:cs typeface="Arial"/>
              </a:defRPr>
            </a:defPPr>
          </a:lstStyle>
          <a:p xmlns:a="http://schemas.openxmlformats.org/drawingml/2006/main">
            <a:pPr>
              <a:defRPr sz="1725" b="1">
                <a:solidFill>
                  <a:srgbClr val="008F95"/>
                </a:solidFill>
                <a:latin typeface="Arial"/>
                <a:ea typeface="Arial"/>
                <a:cs typeface="Arial"/>
              </a:defRPr>
            </a:pPr>
            <a:r>
              <a:rPr sz="1725" b="1">
                <a:solidFill>
                  <a:srgbClr val="008F95"/>
                </a:solidFill>
                <a:latin typeface="Arial"/>
                <a:ea typeface="Arial"/>
                <a:cs typeface="Arial"/>
              </a:rPr>
              <a:t>Panel, batareya və yük ayrıca izlənir. Şarj tənzimlənməsi ayrıca yoxlanmalıdır.</a:t>
            </a:r>
          </a:p>
        </p:txBody>
      </p:sp>
    </p:spTree>
    <p:extLst>
      <p:ext uri="{BB962C8B-B14F-4D97-AF65-F5344CB8AC3E}">
        <p14:creationId xmlns:p14="http://schemas.microsoft.com/office/powerpoint/2010/main" val="2114506575"/>
      </p:ext>
    </p:extLst>
  </p:cSld>
</p:sld>
</file>

<file path=ppt/slides/slide8.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466B9B-A975-4919-931D-C4E4A867C90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Yoxlama üçün istifadə etdiyimiz cihazlar</a:t>
            </a:r>
          </a:p>
        </p:txBody>
      </p:sp>
      <p:sp>
        <p:nvSpPr>
          <p:cNvPr id="2" name="">
            <a:extLst xmlns:a="http://schemas.openxmlformats.org/drawingml/2006/main">
              <a:ext uri="{FF2B5EF4-FFF2-40B4-BE49-F238E27FC236}">
                <a16:creationId xmlns:a16="http://schemas.microsoft.com/office/drawing/2014/main" id="{BA500114-8F20-4DAD-9D25-1CC0FF00BB1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08 / 18</a:t>
            </a:r>
          </a:p>
        </p:txBody>
      </p:sp>
      <p:sp>
        <p:nvSpPr>
          <p:cNvPr id="3" name="">
            <a:extLst xmlns:a="http://schemas.openxmlformats.org/drawingml/2006/main">
              <a:ext uri="{FF2B5EF4-FFF2-40B4-BE49-F238E27FC236}">
                <a16:creationId xmlns:a16="http://schemas.microsoft.com/office/drawing/2014/main" id="{3A3E2EC0-D26E-4126-A72A-E4BD7B808C37}"/>
              </a:ext>
            </a:extLst>
          </p:cNvPr>
          <p:cNvSpPr>
            <a:spLocks xmlns:a="http://schemas.openxmlformats.org/drawingml/2006/main" noGrp="1"/>
          </p:cNvSpPr>
          <p:nvPr/>
        </p:nvSpPr>
        <p:spPr>
          <a:xfrm xmlns:a="http://schemas.openxmlformats.org/drawingml/2006/main">
            <a:off x="609600" y="1752600"/>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63DED1"/>
                </a:solidFill>
                <a:latin typeface="Arial"/>
                <a:ea typeface="Arial"/>
                <a:cs typeface="Arial"/>
              </a:defRPr>
            </a:defPPr>
          </a:lstStyle>
          <a:p xmlns:a="http://schemas.openxmlformats.org/drawingml/2006/main">
            <a:pPr>
              <a:defRPr sz="3450" b="1">
                <a:solidFill>
                  <a:srgbClr val="63DED1"/>
                </a:solidFill>
                <a:latin typeface="Arial"/>
                <a:ea typeface="Arial"/>
                <a:cs typeface="Arial"/>
              </a:defRPr>
            </a:pPr>
            <a:r>
              <a:rPr sz="3450" b="1">
                <a:solidFill>
                  <a:srgbClr val="63DED1"/>
                </a:solidFill>
                <a:latin typeface="Arial"/>
                <a:ea typeface="Arial"/>
                <a:cs typeface="Arial"/>
              </a:rPr>
              <a:t>FNIRSI FDM01</a:t>
            </a:r>
          </a:p>
        </p:txBody>
      </p:sp>
      <p:sp>
        <p:nvSpPr>
          <p:cNvPr id="4" name="">
            <a:extLst xmlns:a="http://schemas.openxmlformats.org/drawingml/2006/main">
              <a:ext uri="{FF2B5EF4-FFF2-40B4-BE49-F238E27FC236}">
                <a16:creationId xmlns:a16="http://schemas.microsoft.com/office/drawing/2014/main" id="{5F116C6D-8FC1-405B-88B3-1FCEFE491A7C}"/>
              </a:ext>
            </a:extLst>
          </p:cNvPr>
          <p:cNvSpPr>
            <a:spLocks xmlns:a="http://schemas.openxmlformats.org/drawingml/2006/main" noGrp="1"/>
          </p:cNvSpPr>
          <p:nvPr/>
        </p:nvSpPr>
        <p:spPr>
          <a:xfrm xmlns:a="http://schemas.openxmlformats.org/drawingml/2006/main">
            <a:off x="609600" y="2600325"/>
            <a:ext cx="5314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Səs səviyyəsi ölçən</a:t>
            </a:r>
          </a:p>
        </p:txBody>
      </p:sp>
      <p:sp>
        <p:nvSpPr>
          <p:cNvPr id="5" name="">
            <a:extLst xmlns:a="http://schemas.openxmlformats.org/drawingml/2006/main">
              <a:ext uri="{FF2B5EF4-FFF2-40B4-BE49-F238E27FC236}">
                <a16:creationId xmlns:a16="http://schemas.microsoft.com/office/drawing/2014/main" id="{0BA13EEF-F892-4F40-82ED-88182E1AD193}"/>
              </a:ext>
            </a:extLst>
          </p:cNvPr>
          <p:cNvSpPr>
            <a:spLocks xmlns:a="http://schemas.openxmlformats.org/drawingml/2006/main" noGrp="1"/>
          </p:cNvSpPr>
          <p:nvPr/>
        </p:nvSpPr>
        <p:spPr>
          <a:xfrm xmlns:a="http://schemas.openxmlformats.org/drawingml/2006/main">
            <a:off x="609600" y="347662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A-vəznləmə və SLOW rejimi</a:t>
            </a:r>
          </a:p>
        </p:txBody>
      </p:sp>
      <p:sp>
        <p:nvSpPr>
          <p:cNvPr id="6" name="">
            <a:extLst xmlns:a="http://schemas.openxmlformats.org/drawingml/2006/main">
              <a:ext uri="{FF2B5EF4-FFF2-40B4-BE49-F238E27FC236}">
                <a16:creationId xmlns:a16="http://schemas.microsoft.com/office/drawing/2014/main" id="{9653241B-453C-4ADC-8785-027123EF6551}"/>
              </a:ext>
            </a:extLst>
          </p:cNvPr>
          <p:cNvSpPr>
            <a:spLocks xmlns:a="http://schemas.openxmlformats.org/drawingml/2006/main" noGrp="1"/>
          </p:cNvSpPr>
          <p:nvPr/>
        </p:nvSpPr>
        <p:spPr>
          <a:xfrm xmlns:a="http://schemas.openxmlformats.org/drawingml/2006/main">
            <a:off x="609600" y="419100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Foto cütləri ilə müqayisə</a:t>
            </a:r>
          </a:p>
        </p:txBody>
      </p:sp>
      <p:sp>
        <p:nvSpPr>
          <p:cNvPr id="7" name="">
            <a:extLst xmlns:a="http://schemas.openxmlformats.org/drawingml/2006/main">
              <a:ext uri="{FF2B5EF4-FFF2-40B4-BE49-F238E27FC236}">
                <a16:creationId xmlns:a16="http://schemas.microsoft.com/office/drawing/2014/main" id="{B4D74DE6-BDD3-48F3-A800-AB207C001C6B}"/>
              </a:ext>
            </a:extLst>
          </p:cNvPr>
          <p:cNvSpPr>
            <a:spLocks xmlns:a="http://schemas.openxmlformats.org/drawingml/2006/main" noGrp="1"/>
          </p:cNvSpPr>
          <p:nvPr/>
        </p:nvSpPr>
        <p:spPr>
          <a:xfrm xmlns:a="http://schemas.openxmlformats.org/drawingml/2006/main">
            <a:off x="609600" y="490537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dB(A) ofsetinin yoxlanması</a:t>
            </a:r>
          </a:p>
        </p:txBody>
      </p:sp>
      <p:sp>
        <p:nvSpPr>
          <p:cNvPr id="8" name="">
            <a:extLst xmlns:a="http://schemas.openxmlformats.org/drawingml/2006/main">
              <a:ext uri="{FF2B5EF4-FFF2-40B4-BE49-F238E27FC236}">
                <a16:creationId xmlns:a16="http://schemas.microsoft.com/office/drawing/2014/main" id="{50BC44A5-BB18-46CD-AFBE-B21E0DC90DDB}"/>
              </a:ext>
            </a:extLst>
          </p:cNvPr>
          <p:cNvSpPr>
            <a:spLocks xmlns:a="http://schemas.openxmlformats.org/drawingml/2006/main" noGrp="1"/>
          </p:cNvSpPr>
          <p:nvPr/>
        </p:nvSpPr>
        <p:spPr>
          <a:xfrm xmlns:a="http://schemas.openxmlformats.org/drawingml/2006/main">
            <a:off x="7010400" y="17526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C857"/>
                </a:solidFill>
                <a:latin typeface="Arial"/>
                <a:ea typeface="Arial"/>
                <a:cs typeface="Arial"/>
              </a:defRPr>
            </a:defPPr>
          </a:lstStyle>
          <a:p xmlns:a="http://schemas.openxmlformats.org/drawingml/2006/main">
            <a:pPr>
              <a:defRPr sz="3450" b="1">
                <a:solidFill>
                  <a:srgbClr val="FFC857"/>
                </a:solidFill>
                <a:latin typeface="Arial"/>
                <a:ea typeface="Arial"/>
                <a:cs typeface="Arial"/>
              </a:defRPr>
            </a:pPr>
            <a:r>
              <a:rPr sz="3450" b="1">
                <a:solidFill>
                  <a:srgbClr val="FFC857"/>
                </a:solidFill>
                <a:latin typeface="Arial"/>
                <a:ea typeface="Arial"/>
                <a:cs typeface="Arial"/>
              </a:rPr>
              <a:t>FNB58</a:t>
            </a:r>
          </a:p>
        </p:txBody>
      </p:sp>
      <p:sp>
        <p:nvSpPr>
          <p:cNvPr id="9" name="">
            <a:extLst xmlns:a="http://schemas.openxmlformats.org/drawingml/2006/main">
              <a:ext uri="{FF2B5EF4-FFF2-40B4-BE49-F238E27FC236}">
                <a16:creationId xmlns:a16="http://schemas.microsoft.com/office/drawing/2014/main" id="{30442AFA-9336-416C-8ABE-816ADD3C5BE2}"/>
              </a:ext>
            </a:extLst>
          </p:cNvPr>
          <p:cNvSpPr>
            <a:spLocks xmlns:a="http://schemas.openxmlformats.org/drawingml/2006/main" noGrp="1"/>
          </p:cNvSpPr>
          <p:nvPr/>
        </p:nvSpPr>
        <p:spPr>
          <a:xfrm xmlns:a="http://schemas.openxmlformats.org/drawingml/2006/main">
            <a:off x="7010400" y="26003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USB enerji testeri</a:t>
            </a:r>
          </a:p>
        </p:txBody>
      </p:sp>
      <p:sp>
        <p:nvSpPr>
          <p:cNvPr id="10" name="">
            <a:extLst xmlns:a="http://schemas.openxmlformats.org/drawingml/2006/main">
              <a:ext uri="{FF2B5EF4-FFF2-40B4-BE49-F238E27FC236}">
                <a16:creationId xmlns:a16="http://schemas.microsoft.com/office/drawing/2014/main" id="{CC6167AC-08EB-4B35-B097-D9C7BCF21347}"/>
              </a:ext>
            </a:extLst>
          </p:cNvPr>
          <p:cNvSpPr>
            <a:spLocks xmlns:a="http://schemas.openxmlformats.org/drawingml/2006/main" noGrp="1"/>
          </p:cNvSpPr>
          <p:nvPr/>
        </p:nvSpPr>
        <p:spPr>
          <a:xfrm xmlns:a="http://schemas.openxmlformats.org/drawingml/2006/main">
            <a:off x="7010400" y="34766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Gərginlik, cərəyan, güc</a:t>
            </a:r>
          </a:p>
        </p:txBody>
      </p:sp>
      <p:sp>
        <p:nvSpPr>
          <p:cNvPr id="11" name="">
            <a:extLst xmlns:a="http://schemas.openxmlformats.org/drawingml/2006/main">
              <a:ext uri="{FF2B5EF4-FFF2-40B4-BE49-F238E27FC236}">
                <a16:creationId xmlns:a16="http://schemas.microsoft.com/office/drawing/2014/main" id="{CD24B30B-BF57-4F94-9F09-1E28B9E3BDB1}"/>
              </a:ext>
            </a:extLst>
          </p:cNvPr>
          <p:cNvSpPr>
            <a:spLocks xmlns:a="http://schemas.openxmlformats.org/drawingml/2006/main" noGrp="1"/>
          </p:cNvSpPr>
          <p:nvPr/>
        </p:nvSpPr>
        <p:spPr>
          <a:xfrm xmlns:a="http://schemas.openxmlformats.org/drawingml/2006/main">
            <a:off x="7010400" y="41910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Yük xəttinin müşahidəsi</a:t>
            </a:r>
          </a:p>
        </p:txBody>
      </p:sp>
      <p:sp>
        <p:nvSpPr>
          <p:cNvPr id="12" name="">
            <a:extLst xmlns:a="http://schemas.openxmlformats.org/drawingml/2006/main">
              <a:ext uri="{FF2B5EF4-FFF2-40B4-BE49-F238E27FC236}">
                <a16:creationId xmlns:a16="http://schemas.microsoft.com/office/drawing/2014/main" id="{2A6568CD-279C-447E-AB70-E189C0B8AB0D}"/>
              </a:ext>
            </a:extLst>
          </p:cNvPr>
          <p:cNvSpPr>
            <a:spLocks xmlns:a="http://schemas.openxmlformats.org/drawingml/2006/main" noGrp="1"/>
          </p:cNvSpPr>
          <p:nvPr/>
        </p:nvSpPr>
        <p:spPr>
          <a:xfrm xmlns:a="http://schemas.openxmlformats.org/drawingml/2006/main">
            <a:off x="7010400" y="49053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Tam müqayisə ayrıca mərhələdir</a:t>
            </a:r>
          </a:p>
        </p:txBody>
      </p:sp>
      <p:sp>
        <p:nvSpPr>
          <p:cNvPr id="13" name="">
            <a:extLst xmlns:a="http://schemas.openxmlformats.org/drawingml/2006/main">
              <a:ext uri="{FF2B5EF4-FFF2-40B4-BE49-F238E27FC236}">
                <a16:creationId xmlns:a16="http://schemas.microsoft.com/office/drawing/2014/main" id="{ED7228B3-0B7A-4532-9621-AA23ADA416BD}"/>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CDAE2"/>
                </a:solidFill>
                <a:latin typeface="Arial"/>
                <a:ea typeface="Arial"/>
                <a:cs typeface="Arial"/>
              </a:defRPr>
            </a:defPPr>
          </a:lstStyle>
          <a:p xmlns:a="http://schemas.openxmlformats.org/drawingml/2006/main">
            <a:pPr>
              <a:defRPr sz="1650" b="0">
                <a:solidFill>
                  <a:srgbClr val="BCDAE2"/>
                </a:solidFill>
                <a:latin typeface="Arial"/>
                <a:ea typeface="Arial"/>
                <a:cs typeface="Arial"/>
              </a:defRPr>
            </a:pPr>
            <a:r>
              <a:rPr sz="1650" b="0">
                <a:solidFill>
                  <a:srgbClr val="BCDAE2"/>
                </a:solidFill>
                <a:latin typeface="Arial"/>
                <a:ea typeface="Arial"/>
                <a:cs typeface="Arial"/>
              </a:rPr>
              <a:t>Əsas nəzarətçi: ESP32-WROOM-32U. Enerji nəzarətçisi: ESP32-C3 SuperMini.</a:t>
            </a:r>
          </a:p>
        </p:txBody>
      </p:sp>
    </p:spTree>
    <p:extLst>
      <p:ext uri="{BB962C8B-B14F-4D97-AF65-F5344CB8AC3E}">
        <p14:creationId xmlns:p14="http://schemas.microsoft.com/office/powerpoint/2010/main" val="1314201375"/>
      </p:ext>
    </p:extLst>
  </p:cSld>
</p:sld>
</file>

<file path=ppt/slides/slide9.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C72DE9-11BB-4254-A9A4-7C439C6A6F62}"/>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Kalibrasiya nəticəsi: 1,13 dB orta xəta</a:t>
            </a:r>
          </a:p>
        </p:txBody>
      </p:sp>
      <p:sp>
        <p:nvSpPr>
          <p:cNvPr id="2" name="">
            <a:extLst xmlns:a="http://schemas.openxmlformats.org/drawingml/2006/main">
              <a:ext uri="{FF2B5EF4-FFF2-40B4-BE49-F238E27FC236}">
                <a16:creationId xmlns:a16="http://schemas.microsoft.com/office/drawing/2014/main" id="{2F6B7114-1A33-4E3E-94BB-39DF998E0C2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09 / 18</a:t>
            </a:r>
          </a:p>
        </p:txBody>
      </p:sp>
      <p:sp>
        <p:nvSpPr>
          <p:cNvPr id="3" name="">
            <a:extLst xmlns:a="http://schemas.openxmlformats.org/drawingml/2006/main">
              <a:ext uri="{FF2B5EF4-FFF2-40B4-BE49-F238E27FC236}">
                <a16:creationId xmlns:a16="http://schemas.microsoft.com/office/drawing/2014/main" id="{BE6C18BB-CACA-4482-A3FB-80D7169D835D}"/>
              </a:ext>
            </a:extLst>
          </p:cNvPr>
          <p:cNvSpPr>
            <a:spLocks xmlns:a="http://schemas.openxmlformats.org/drawingml/2006/main" noGrp="1"/>
          </p:cNvSpPr>
          <p:nvPr/>
        </p:nvSpPr>
        <p:spPr>
          <a:xfrm xmlns:a="http://schemas.openxmlformats.org/drawingml/2006/main">
            <a:off x="609600" y="1657350"/>
            <a:ext cx="590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825" b="1">
                <a:solidFill>
                  <a:srgbClr val="FFFFFF"/>
                </a:solidFill>
                <a:latin typeface="Arial"/>
                <a:ea typeface="Arial"/>
                <a:cs typeface="Arial"/>
              </a:defRPr>
            </a:defPPr>
          </a:lstStyle>
          <a:p xmlns:a="http://schemas.openxmlformats.org/drawingml/2006/main">
            <a:pPr>
              <a:defRPr sz="6825" b="1">
                <a:solidFill>
                  <a:srgbClr val="FFFFFF"/>
                </a:solidFill>
                <a:latin typeface="Arial"/>
                <a:ea typeface="Arial"/>
                <a:cs typeface="Arial"/>
              </a:defRPr>
            </a:pPr>
            <a:r>
              <a:rPr sz="6825" b="1">
                <a:solidFill>
                  <a:srgbClr val="FFFFFF"/>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2E5B98A7-9D58-41DC-AD2C-E6BCF65A118D}"/>
              </a:ext>
            </a:extLst>
          </p:cNvPr>
          <p:cNvSpPr>
            <a:spLocks xmlns:a="http://schemas.openxmlformats.org/drawingml/2006/main" noGrp="1"/>
          </p:cNvSpPr>
          <p:nvPr/>
        </p:nvSpPr>
        <p:spPr>
          <a:xfrm xmlns:a="http://schemas.openxmlformats.org/drawingml/2006/main">
            <a:off x="609600" y="3133725"/>
            <a:ext cx="601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75D0254A-DBBB-477B-ADF2-FEA4A541A59D}"/>
              </a:ext>
            </a:extLst>
          </p:cNvPr>
          <p:cNvSpPr>
            <a:spLocks xmlns:a="http://schemas.openxmlformats.org/drawingml/2006/main" noGrp="1"/>
          </p:cNvSpPr>
          <p:nvPr/>
        </p:nvSpPr>
        <p:spPr>
          <a:xfrm xmlns:a="http://schemas.openxmlformats.org/drawingml/2006/main">
            <a:off x="8048625" y="17907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C857"/>
                </a:solidFill>
                <a:latin typeface="Arial"/>
                <a:ea typeface="Arial"/>
                <a:cs typeface="Arial"/>
              </a:defRPr>
            </a:defPPr>
          </a:lstStyle>
          <a:p xmlns:a="http://schemas.openxmlformats.org/drawingml/2006/main">
            <a:pPr>
              <a:defRPr sz="5700" b="1">
                <a:solidFill>
                  <a:srgbClr val="FFC857"/>
                </a:solidFill>
                <a:latin typeface="Arial"/>
                <a:ea typeface="Arial"/>
                <a:cs typeface="Arial"/>
              </a:defRPr>
            </a:pPr>
            <a:r>
              <a:rPr sz="5700" b="1">
                <a:solidFill>
                  <a:srgbClr val="FFC857"/>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7261E6F2-D249-46B5-9C71-4312E7FC9B85}"/>
              </a:ext>
            </a:extLst>
          </p:cNvPr>
          <p:cNvSpPr>
            <a:spLocks xmlns:a="http://schemas.openxmlformats.org/drawingml/2006/main" noGrp="1"/>
          </p:cNvSpPr>
          <p:nvPr/>
        </p:nvSpPr>
        <p:spPr>
          <a:xfrm xmlns:a="http://schemas.openxmlformats.org/drawingml/2006/main">
            <a:off x="8048625" y="2971800"/>
            <a:ext cx="3286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sabit istinad cütü</a:t>
            </a:r>
          </a:p>
        </p:txBody>
      </p:sp>
      <p:sp>
        <p:nvSpPr>
          <p:cNvPr id="7" name="">
            <a:extLst xmlns:a="http://schemas.openxmlformats.org/drawingml/2006/main">
              <a:ext uri="{FF2B5EF4-FFF2-40B4-BE49-F238E27FC236}">
                <a16:creationId xmlns:a16="http://schemas.microsoft.com/office/drawing/2014/main" id="{A567E3C6-2D43-45E0-9DE0-EA3385824DBE}"/>
              </a:ext>
            </a:extLst>
          </p:cNvPr>
          <p:cNvSpPr>
            <a:spLocks xmlns:a="http://schemas.openxmlformats.org/drawingml/2006/main" noGrp="1"/>
          </p:cNvSpPr>
          <p:nvPr/>
        </p:nvSpPr>
        <p:spPr>
          <a:xfrm xmlns:a="http://schemas.openxmlformats.org/drawingml/2006/main">
            <a:off x="609600" y="4229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rial"/>
                <a:ea typeface="Arial"/>
                <a:cs typeface="Arial"/>
              </a:defRPr>
            </a:def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84,4% ölçmə ±2 dB daxilində</a:t>
            </a:r>
          </a:p>
        </p:txBody>
      </p:sp>
      <p:sp>
        <p:nvSpPr>
          <p:cNvPr id="8" name="">
            <a:extLst xmlns:a="http://schemas.openxmlformats.org/drawingml/2006/main">
              <a:ext uri="{FF2B5EF4-FFF2-40B4-BE49-F238E27FC236}">
                <a16:creationId xmlns:a16="http://schemas.microsoft.com/office/drawing/2014/main" id="{3DAA4A84-2517-4B2E-8A83-92924B772C88}"/>
              </a:ext>
            </a:extLst>
          </p:cNvPr>
          <p:cNvSpPr>
            <a:spLocks xmlns:a="http://schemas.openxmlformats.org/drawingml/2006/main" noGrp="1"/>
          </p:cNvSpPr>
          <p:nvPr/>
        </p:nvSpPr>
        <p:spPr>
          <a:xfrm xmlns:a="http://schemas.openxmlformats.org/drawingml/2006/main">
            <a:off x="609600" y="49434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Yoxlanmış diapazon: 53,2–65,9 dB(A)</a:t>
            </a:r>
          </a:p>
        </p:txBody>
      </p:sp>
      <p:sp>
        <p:nvSpPr>
          <p:cNvPr id="9" name="">
            <a:extLst xmlns:a="http://schemas.openxmlformats.org/drawingml/2006/main">
              <a:ext uri="{FF2B5EF4-FFF2-40B4-BE49-F238E27FC236}">
                <a16:creationId xmlns:a16="http://schemas.microsoft.com/office/drawing/2014/main" id="{D6BF7AD1-E2EF-4C91-9B3E-DE43FBDFB008}"/>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EF4EE"/>
                </a:solidFill>
                <a:latin typeface="Arial"/>
                <a:ea typeface="Arial"/>
                <a:cs typeface="Arial"/>
              </a:defRPr>
            </a:defPPr>
          </a:lstStyle>
          <a:p xmlns:a="http://schemas.openxmlformats.org/drawingml/2006/main">
            <a:pPr>
              <a:defRPr sz="1650" b="0">
                <a:solidFill>
                  <a:srgbClr val="CEF4EE"/>
                </a:solidFill>
                <a:latin typeface="Arial"/>
                <a:ea typeface="Arial"/>
                <a:cs typeface="Arial"/>
              </a:defRPr>
            </a:pPr>
            <a:r>
              <a:rPr sz="1650" b="0">
                <a:solidFill>
                  <a:srgbClr val="CEF4EE"/>
                </a:solidFill>
                <a:latin typeface="Arial"/>
                <a:ea typeface="Arial"/>
                <a:cs typeface="Arial"/>
              </a:rPr>
              <a:t>Praktik qiymətləndirmə. Sertifikatlaşdırılmış ölçmə dəqiqliyi iddiası yoxdur.</a:t>
            </a:r>
          </a:p>
        </p:txBody>
      </p:sp>
    </p:spTree>
    <p:extLst>
      <p:ext uri="{BB962C8B-B14F-4D97-AF65-F5344CB8AC3E}">
        <p14:creationId xmlns:p14="http://schemas.microsoft.com/office/powerpoint/2010/main" val="1591374044"/>
      </p:ext>
    </p:extLst>
  </p:cSld>
</p:sld>
</file>

<file path=ppt/slides/slide10.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DF2661-3F51-45AF-9544-AEAA1F7B631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Pilot gündə gecə daha sakit olub</a:t>
            </a:r>
          </a:p>
        </p:txBody>
      </p:sp>
      <p:sp>
        <p:nvSpPr>
          <p:cNvPr id="2" name="">
            <a:extLst xmlns:a="http://schemas.openxmlformats.org/drawingml/2006/main">
              <a:ext uri="{FF2B5EF4-FFF2-40B4-BE49-F238E27FC236}">
                <a16:creationId xmlns:a16="http://schemas.microsoft.com/office/drawing/2014/main" id="{F65C22D2-1A12-43AA-9AAF-6FE7A7A5B17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10 / 18</a:t>
            </a:r>
          </a:p>
        </p:txBody>
      </p:sp>
      <p:sp>
        <p:nvSpPr>
          <p:cNvPr id="3" name="">
            <a:extLst xmlns:a="http://schemas.openxmlformats.org/drawingml/2006/main">
              <a:ext uri="{FF2B5EF4-FFF2-40B4-BE49-F238E27FC236}">
                <a16:creationId xmlns:a16="http://schemas.microsoft.com/office/drawing/2014/main" id="{2B35CF59-9A38-4C0F-892F-CE6251E19975}"/>
              </a:ext>
            </a:extLst>
          </p:cNvPr>
          <p:cNvSpPr>
            <a:spLocks xmlns:a="http://schemas.openxmlformats.org/drawingml/2006/main" noGrp="1"/>
          </p:cNvSpPr>
          <p:nvPr/>
        </p:nvSpPr>
        <p:spPr>
          <a:xfrm xmlns:a="http://schemas.openxmlformats.org/drawingml/2006/main">
            <a:off x="609600" y="147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D6575"/>
                </a:solidFill>
                <a:latin typeface="Arial"/>
                <a:ea typeface="Arial"/>
                <a:cs typeface="Arial"/>
              </a:defRPr>
            </a:defPPr>
          </a:lstStyle>
          <a:p xmlns:a="http://schemas.openxmlformats.org/drawingml/2006/main">
            <a:pPr>
              <a:defRPr sz="1950" b="0">
                <a:solidFill>
                  <a:srgbClr val="4D6575"/>
                </a:solidFill>
                <a:latin typeface="Arial"/>
                <a:ea typeface="Arial"/>
                <a:cs typeface="Arial"/>
              </a:defRPr>
            </a:pPr>
            <a:r>
              <a:rPr sz="1950" b="0">
                <a:solidFill>
                  <a:srgbClr val="4D6575"/>
                </a:solidFill>
                <a:latin typeface="Arial"/>
                <a:ea typeface="Arial"/>
                <a:cs typeface="Arial"/>
              </a:rPr>
              <a:t>6 oktyabr 2026 · eyni müşahidə nöqtəsi</a:t>
            </a:r>
          </a:p>
        </p:txBody>
      </p:sp>
      <p:graphicFrame>
        <p:nvGraphicFramePr>
          <p:cNvPr id="4" name="Chart">
            <a:extLst xmlns:a="http://schemas.openxmlformats.org/drawingml/2006/main">
              <a:ext uri="{FF2B5EF4-FFF2-40B4-BE49-F238E27FC236}">
                <a16:creationId xmlns:a16="http://schemas.microsoft.com/office/drawing/2014/main" id="{2531C578-E071-4DBD-A10B-F3424A1EF29C}"/>
              </a:ext>
            </a:extLst>
          </p:cNvPr>
          <p:cNvGraphicFramePr/>
          <p:nvPr/>
        </p:nvGraphicFramePr>
        <p:xfrm>
          <a:off xmlns:a="http://schemas.openxmlformats.org/drawingml/2006/main" x="609600" y="2238375"/>
          <a:ext xmlns:a="http://schemas.openxmlformats.org/drawingml/2006/main" cx="7381875" cy="3419475"/>
        </p:xfrm>
        <a:graphic xmlns:a="http://schemas.openxmlformats.org/drawingml/2006/main">
          <a:graphicData uri="http://schemas.openxmlformats.org/drawingml/2006/chart">
            <c:chart xmlns:r="http://schemas.openxmlformats.org/officeDocument/2006/relationships" xmlns:c="http://schemas.openxmlformats.org/drawingml/2006/chart" r:id="R6d61d6ac0a664557"/>
          </a:graphicData>
        </a:graphic>
      </p:graphicFrame>
      <p:sp>
        <p:nvSpPr>
          <p:cNvPr id="5" name="">
            <a:extLst xmlns:a="http://schemas.openxmlformats.org/drawingml/2006/main">
              <a:ext uri="{FF2B5EF4-FFF2-40B4-BE49-F238E27FC236}">
                <a16:creationId xmlns:a16="http://schemas.microsoft.com/office/drawing/2014/main" id="{EE9BE3D2-6005-470A-8298-C16A6226E996}"/>
              </a:ext>
            </a:extLst>
          </p:cNvPr>
          <p:cNvSpPr>
            <a:spLocks xmlns:a="http://schemas.openxmlformats.org/drawingml/2006/main" noGrp="1"/>
          </p:cNvSpPr>
          <p:nvPr/>
        </p:nvSpPr>
        <p:spPr>
          <a:xfrm xmlns:a="http://schemas.openxmlformats.org/drawingml/2006/main">
            <a:off x="8639175" y="2400300"/>
            <a:ext cx="2943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8F95"/>
                </a:solidFill>
                <a:latin typeface="Arial"/>
                <a:ea typeface="Arial"/>
                <a:cs typeface="Arial"/>
              </a:defRPr>
            </a:defPPr>
          </a:lstStyle>
          <a:p xmlns:a="http://schemas.openxmlformats.org/drawingml/2006/main">
            <a:pPr>
              <a:defRPr sz="4425" b="1">
                <a:solidFill>
                  <a:srgbClr val="008F95"/>
                </a:solidFill>
                <a:latin typeface="Arial"/>
                <a:ea typeface="Arial"/>
                <a:cs typeface="Arial"/>
              </a:defRPr>
            </a:pPr>
            <a:r>
              <a:rPr sz="4425" b="1">
                <a:solidFill>
                  <a:srgbClr val="008F95"/>
                </a:solidFill>
                <a:latin typeface="Arial"/>
                <a:ea typeface="Arial"/>
                <a:cs typeface="Arial"/>
              </a:rPr>
              <a:t>7,9 dB</a:t>
            </a:r>
          </a:p>
        </p:txBody>
      </p:sp>
      <p:sp>
        <p:nvSpPr>
          <p:cNvPr id="6" name="">
            <a:extLst xmlns:a="http://schemas.openxmlformats.org/drawingml/2006/main">
              <a:ext uri="{FF2B5EF4-FFF2-40B4-BE49-F238E27FC236}">
                <a16:creationId xmlns:a16="http://schemas.microsoft.com/office/drawing/2014/main" id="{B4ADE3FD-9DF7-412D-9725-D0C91538D9CD}"/>
              </a:ext>
            </a:extLst>
          </p:cNvPr>
          <p:cNvSpPr>
            <a:spLocks xmlns:a="http://schemas.openxmlformats.org/drawingml/2006/main" noGrp="1"/>
          </p:cNvSpPr>
          <p:nvPr/>
        </p:nvSpPr>
        <p:spPr>
          <a:xfrm xmlns:a="http://schemas.openxmlformats.org/drawingml/2006/main">
            <a:off x="8639175" y="34194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34A"/>
                </a:solidFill>
                <a:latin typeface="Arial"/>
                <a:ea typeface="Arial"/>
                <a:cs typeface="Arial"/>
              </a:defRPr>
            </a:defPPr>
          </a:lstStyle>
          <a:p xmlns:a="http://schemas.openxmlformats.org/drawingml/2006/main">
            <a:pPr>
              <a:defRPr sz="2025" b="0">
                <a:solidFill>
                  <a:srgbClr val="14334A"/>
                </a:solidFill>
                <a:latin typeface="Arial"/>
                <a:ea typeface="Arial"/>
                <a:cs typeface="Arial"/>
              </a:defRPr>
            </a:pPr>
            <a:r>
              <a:rPr sz="2025" b="0">
                <a:solidFill>
                  <a:srgbClr val="14334A"/>
                </a:solidFill>
                <a:latin typeface="Arial"/>
                <a:ea typeface="Arial"/>
                <a:cs typeface="Arial"/>
              </a:rPr>
              <a:t>Gündüz–gecə fərqi</a:t>
            </a:r>
          </a:p>
        </p:txBody>
      </p:sp>
      <p:sp>
        <p:nvSpPr>
          <p:cNvPr id="7" name="">
            <a:extLst xmlns:a="http://schemas.openxmlformats.org/drawingml/2006/main">
              <a:ext uri="{FF2B5EF4-FFF2-40B4-BE49-F238E27FC236}">
                <a16:creationId xmlns:a16="http://schemas.microsoft.com/office/drawing/2014/main" id="{3B3E729E-C9A3-4C91-A728-A8E5C6874BC3}"/>
              </a:ext>
            </a:extLst>
          </p:cNvPr>
          <p:cNvSpPr>
            <a:spLocks xmlns:a="http://schemas.openxmlformats.org/drawingml/2006/main" noGrp="1"/>
          </p:cNvSpPr>
          <p:nvPr/>
        </p:nvSpPr>
        <p:spPr>
          <a:xfrm xmlns:a="http://schemas.openxmlformats.org/drawingml/2006/main">
            <a:off x="8639175" y="4371975"/>
            <a:ext cx="2943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D6575"/>
                </a:solidFill>
                <a:latin typeface="Arial"/>
                <a:ea typeface="Arial"/>
                <a:cs typeface="Arial"/>
              </a:defRPr>
            </a:defPPr>
          </a:lstStyle>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Əhatə:</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DAY 99,8%</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EVE 99,7%</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NGT 99,7%</a:t>
            </a:r>
          </a:p>
        </p:txBody>
      </p:sp>
      <p:sp>
        <p:nvSpPr>
          <p:cNvPr id="8" name="">
            <a:extLst xmlns:a="http://schemas.openxmlformats.org/drawingml/2006/main">
              <a:ext uri="{FF2B5EF4-FFF2-40B4-BE49-F238E27FC236}">
                <a16:creationId xmlns:a16="http://schemas.microsoft.com/office/drawing/2014/main" id="{59C987EC-EB11-49FC-9C15-F711C1C80BC2}"/>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D6575"/>
                </a:solidFill>
                <a:latin typeface="Arial"/>
                <a:ea typeface="Arial"/>
                <a:cs typeface="Arial"/>
              </a:defRPr>
            </a:defPPr>
          </a:lstStyle>
          <a:p xmlns:a="http://schemas.openxmlformats.org/drawingml/2006/main">
            <a:pPr>
              <a:defRPr sz="1725" b="0">
                <a:solidFill>
                  <a:srgbClr val="4D6575"/>
                </a:solidFill>
                <a:latin typeface="Arial"/>
                <a:ea typeface="Arial"/>
                <a:cs typeface="Arial"/>
              </a:defRPr>
            </a:pPr>
            <a:r>
              <a:rPr sz="1725" b="0">
                <a:solidFill>
                  <a:srgbClr val="4D6575"/>
                </a:solidFill>
                <a:latin typeface="Arial"/>
                <a:ea typeface="Arial"/>
                <a:cs typeface="Arial"/>
              </a:rPr>
              <a:t>Bu bir günlük nəticədir. Bütün şəhər üzrə ümumiləşdirmə aparılmır.</a:t>
            </a:r>
          </a:p>
        </p:txBody>
      </p:sp>
    </p:spTree>
    <p:extLst>
      <p:ext uri="{BB962C8B-B14F-4D97-AF65-F5344CB8AC3E}">
        <p14:creationId xmlns:p14="http://schemas.microsoft.com/office/powerpoint/2010/main" val="645816685"/>
      </p:ext>
    </p:extLst>
  </p:cSld>
</p:sld>
</file>

<file path=ppt/slides/slide1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65D3E7-9937-4193-B3C6-5B4525B29F25}"/>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Nəticə ilə birlikdə məlumatın keyfiyyəti</a:t>
            </a:r>
          </a:p>
        </p:txBody>
      </p:sp>
      <p:sp>
        <p:nvSpPr>
          <p:cNvPr id="2" name="">
            <a:extLst xmlns:a="http://schemas.openxmlformats.org/drawingml/2006/main">
              <a:ext uri="{FF2B5EF4-FFF2-40B4-BE49-F238E27FC236}">
                <a16:creationId xmlns:a16="http://schemas.microsoft.com/office/drawing/2014/main" id="{991EDF2B-97D4-478F-A049-2E647C7806E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11 / 18</a:t>
            </a:r>
          </a:p>
        </p:txBody>
      </p:sp>
      <p:pic>
        <p:nvPicPr>
          <p:cNvPr id="3" name="">
            <a:extLst xmlns:a="http://schemas.openxmlformats.org/drawingml/2006/main">
              <a:ext uri="{FF2B5EF4-FFF2-40B4-BE49-F238E27FC236}">
                <a16:creationId xmlns:a16="http://schemas.microsoft.com/office/drawing/2014/main" id="{FCCBE782-27FC-4A89-99D3-B2B8AD81D3ED}"/>
              </a:ext>
            </a:extLst>
          </p:cNvPr>
          <p:cNvPicPr>
            <a:picLocks xmlns:a="http://schemas.openxmlformats.org/drawingml/2006/main" noChangeAspect="1"/>
          </p:cNvPicPr>
          <p:nvPr/>
        </p:nvPicPr>
        <p:blipFill>
          <a:blip xmlns:r="http://schemas.openxmlformats.org/officeDocument/2006/relationships" xmlns:a="http://schemas.openxmlformats.org/drawingml/2006/main" r:embed="R91864d4af5c347fa"/>
          <a:stretch xmlns:a="http://schemas.openxmlformats.org/drawingml/2006/main"/>
        </p:blipFill>
        <p:spPr>
          <a:xfrm xmlns:a="http://schemas.openxmlformats.org/drawingml/2006/main">
            <a:off x="609600" y="1496703"/>
            <a:ext cx="10972800" cy="31406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D9C869-8DE1-43CD-AEB7-3CAA1541590D}"/>
              </a:ext>
            </a:extLst>
          </p:cNvPr>
          <p:cNvSpPr>
            <a:spLocks xmlns:a="http://schemas.openxmlformats.org/drawingml/2006/main" noGrp="1"/>
          </p:cNvSpPr>
          <p:nvPr/>
        </p:nvSpPr>
        <p:spPr>
          <a:xfrm xmlns:a="http://schemas.openxmlformats.org/drawingml/2006/main">
            <a:off x="609600" y="4953000"/>
            <a:ext cx="5257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008F95"/>
                </a:solidFill>
                <a:latin typeface="Arial"/>
                <a:ea typeface="Arial"/>
                <a:cs typeface="Arial"/>
              </a:defRPr>
            </a:defPPr>
          </a:lstStyle>
          <a:p xmlns:a="http://schemas.openxmlformats.org/drawingml/2006/main">
            <a:pPr>
              <a:defRPr sz="4275" b="1">
                <a:solidFill>
                  <a:srgbClr val="008F95"/>
                </a:solidFill>
                <a:latin typeface="Arial"/>
                <a:ea typeface="Arial"/>
                <a:cs typeface="Arial"/>
              </a:defRPr>
            </a:pPr>
            <a:r>
              <a:rPr sz="4275" b="1">
                <a:solidFill>
                  <a:srgbClr val="008F95"/>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82207D4B-239C-43D5-803B-479DF8804527}"/>
              </a:ext>
            </a:extLst>
          </p:cNvPr>
          <p:cNvSpPr>
            <a:spLocks xmlns:a="http://schemas.openxmlformats.org/drawingml/2006/main" noGrp="1"/>
          </p:cNvSpPr>
          <p:nvPr/>
        </p:nvSpPr>
        <p:spPr>
          <a:xfrm xmlns:a="http://schemas.openxmlformats.org/drawingml/2006/main">
            <a:off x="609600" y="58769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dB(A) olan pəncərə</a:t>
            </a:r>
          </a:p>
        </p:txBody>
      </p:sp>
      <p:sp>
        <p:nvSpPr>
          <p:cNvPr id="6" name="">
            <a:extLst xmlns:a="http://schemas.openxmlformats.org/drawingml/2006/main">
              <a:ext uri="{FF2B5EF4-FFF2-40B4-BE49-F238E27FC236}">
                <a16:creationId xmlns:a16="http://schemas.microsoft.com/office/drawing/2014/main" id="{98F974A2-DA12-44EE-ADD2-9EE1B530C8F7}"/>
              </a:ext>
            </a:extLst>
          </p:cNvPr>
          <p:cNvSpPr>
            <a:spLocks xmlns:a="http://schemas.openxmlformats.org/drawingml/2006/main" noGrp="1"/>
          </p:cNvSpPr>
          <p:nvPr/>
        </p:nvSpPr>
        <p:spPr>
          <a:xfrm xmlns:a="http://schemas.openxmlformats.org/drawingml/2006/main">
            <a:off x="6972300" y="4953000"/>
            <a:ext cx="4581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EE785C"/>
                </a:solidFill>
                <a:latin typeface="Arial"/>
                <a:ea typeface="Arial"/>
                <a:cs typeface="Arial"/>
              </a:defRPr>
            </a:defPPr>
          </a:lstStyle>
          <a:p xmlns:a="http://schemas.openxmlformats.org/drawingml/2006/main">
            <a:pPr>
              <a:defRPr sz="4275" b="1">
                <a:solidFill>
                  <a:srgbClr val="EE785C"/>
                </a:solidFill>
                <a:latin typeface="Arial"/>
                <a:ea typeface="Arial"/>
                <a:cs typeface="Arial"/>
              </a:defRPr>
            </a:pPr>
            <a:r>
              <a:rPr sz="4275" b="1">
                <a:solidFill>
                  <a:srgbClr val="EE785C"/>
                </a:solidFill>
                <a:latin typeface="Arial"/>
                <a:ea typeface="Arial"/>
                <a:cs typeface="Arial"/>
              </a:rPr>
              <a:t>99–100%</a:t>
            </a:r>
          </a:p>
        </p:txBody>
      </p:sp>
      <p:sp>
        <p:nvSpPr>
          <p:cNvPr id="7" name="">
            <a:extLst xmlns:a="http://schemas.openxmlformats.org/drawingml/2006/main">
              <a:ext uri="{FF2B5EF4-FFF2-40B4-BE49-F238E27FC236}">
                <a16:creationId xmlns:a16="http://schemas.microsoft.com/office/drawing/2014/main" id="{2BED689D-6F18-428F-A5B8-6C6D1D9EA24E}"/>
              </a:ext>
            </a:extLst>
          </p:cNvPr>
          <p:cNvSpPr>
            <a:spLocks xmlns:a="http://schemas.openxmlformats.org/drawingml/2006/main" noGrp="1"/>
          </p:cNvSpPr>
          <p:nvPr/>
        </p:nvSpPr>
        <p:spPr>
          <a:xfrm xmlns:a="http://schemas.openxmlformats.org/drawingml/2006/main">
            <a:off x="6972300" y="587692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etibarlı audio · kliplər: 0</a:t>
            </a:r>
          </a:p>
        </p:txBody>
      </p:sp>
    </p:spTree>
    <p:extLst>
      <p:ext uri="{BB962C8B-B14F-4D97-AF65-F5344CB8AC3E}">
        <p14:creationId xmlns:p14="http://schemas.microsoft.com/office/powerpoint/2010/main" val="1593869646"/>
      </p:ext>
    </p:extLst>
  </p:cSld>
</p:sld>
</file>

<file path=ppt/slides/slide1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4003CD-BBCD-4BD6-8D36-FD5F25832AC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nöqtədən müşahidə şəbəkəsinə</a:t>
            </a:r>
          </a:p>
        </p:txBody>
      </p:sp>
      <p:sp>
        <p:nvSpPr>
          <p:cNvPr id="2" name="">
            <a:extLst xmlns:a="http://schemas.openxmlformats.org/drawingml/2006/main">
              <a:ext uri="{FF2B5EF4-FFF2-40B4-BE49-F238E27FC236}">
                <a16:creationId xmlns:a16="http://schemas.microsoft.com/office/drawing/2014/main" id="{2DB67733-72AF-4E3C-B444-D2F23BB17AF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12 / 18</a:t>
            </a:r>
          </a:p>
        </p:txBody>
      </p:sp>
      <p:pic>
        <p:nvPicPr>
          <p:cNvPr id="3" name="">
            <a:extLst xmlns:a="http://schemas.openxmlformats.org/drawingml/2006/main">
              <a:ext uri="{FF2B5EF4-FFF2-40B4-BE49-F238E27FC236}">
                <a16:creationId xmlns:a16="http://schemas.microsoft.com/office/drawing/2014/main" id="{2E88C58B-B4BE-44C5-8016-4531D407FA1A}"/>
              </a:ext>
            </a:extLst>
          </p:cNvPr>
          <p:cNvPicPr>
            <a:picLocks xmlns:a="http://schemas.openxmlformats.org/drawingml/2006/main" noChangeAspect="1"/>
          </p:cNvPicPr>
          <p:nvPr/>
        </p:nvPicPr>
        <p:blipFill>
          <a:blip xmlns:r="http://schemas.openxmlformats.org/officeDocument/2006/relationships" xmlns:a="http://schemas.openxmlformats.org/drawingml/2006/main" r:embed="Rac853e67728e42a9"/>
          <a:stretch xmlns:a="http://schemas.openxmlformats.org/drawingml/2006/main"/>
        </p:blipFill>
        <p:spPr>
          <a:xfrm xmlns:a="http://schemas.openxmlformats.org/drawingml/2006/main">
            <a:off x="6467475" y="1804691"/>
            <a:ext cx="5114925" cy="34295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16043D-CFCD-4F89-ADF8-C262C24E1690}"/>
              </a:ext>
            </a:extLst>
          </p:cNvPr>
          <p:cNvSpPr>
            <a:spLocks xmlns:a="http://schemas.openxmlformats.org/drawingml/2006/main" noGrp="1"/>
          </p:cNvSpPr>
          <p:nvPr/>
        </p:nvSpPr>
        <p:spPr>
          <a:xfrm xmlns:a="http://schemas.openxmlformats.org/drawingml/2006/main">
            <a:off x="609600" y="170497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Hazırda</a:t>
            </a:r>
          </a:p>
        </p:txBody>
      </p:sp>
      <p:sp>
        <p:nvSpPr>
          <p:cNvPr id="5" name="">
            <a:extLst xmlns:a="http://schemas.openxmlformats.org/drawingml/2006/main">
              <a:ext uri="{FF2B5EF4-FFF2-40B4-BE49-F238E27FC236}">
                <a16:creationId xmlns:a16="http://schemas.microsoft.com/office/drawing/2014/main" id="{4E3ABD8F-59BD-41CE-9F0A-710B1218BFD6}"/>
              </a:ext>
            </a:extLst>
          </p:cNvPr>
          <p:cNvSpPr>
            <a:spLocks xmlns:a="http://schemas.openxmlformats.org/drawingml/2006/main" noGrp="1"/>
          </p:cNvSpPr>
          <p:nvPr/>
        </p:nvSpPr>
        <p:spPr>
          <a:xfrm xmlns:a="http://schemas.openxmlformats.org/drawingml/2006/main">
            <a:off x="609600" y="2428875"/>
            <a:ext cx="5353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Saxlanmış GPS koordinatı</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Zaman üzrə DAY / EVE / NGT</a:t>
            </a:r>
          </a:p>
        </p:txBody>
      </p:sp>
      <p:sp>
        <p:nvSpPr>
          <p:cNvPr id="6" name="">
            <a:extLst xmlns:a="http://schemas.openxmlformats.org/drawingml/2006/main">
              <a:ext uri="{FF2B5EF4-FFF2-40B4-BE49-F238E27FC236}">
                <a16:creationId xmlns:a16="http://schemas.microsoft.com/office/drawing/2014/main" id="{4FA4058A-E4DD-4B63-8334-DB3EF74481A5}"/>
              </a:ext>
            </a:extLst>
          </p:cNvPr>
          <p:cNvSpPr>
            <a:spLocks xmlns:a="http://schemas.openxmlformats.org/drawingml/2006/main" noGrp="1"/>
          </p:cNvSpPr>
          <p:nvPr/>
        </p:nvSpPr>
        <p:spPr>
          <a:xfrm xmlns:a="http://schemas.openxmlformats.org/drawingml/2006/main">
            <a:off x="609600" y="374332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Gələcəkdə</a:t>
            </a:r>
          </a:p>
        </p:txBody>
      </p:sp>
      <p:sp>
        <p:nvSpPr>
          <p:cNvPr id="7" name="">
            <a:extLst xmlns:a="http://schemas.openxmlformats.org/drawingml/2006/main">
              <a:ext uri="{FF2B5EF4-FFF2-40B4-BE49-F238E27FC236}">
                <a16:creationId xmlns:a16="http://schemas.microsoft.com/office/drawing/2014/main" id="{8FD76093-9C1D-419C-A50A-11260A19A13F}"/>
              </a:ext>
            </a:extLst>
          </p:cNvPr>
          <p:cNvSpPr>
            <a:spLocks xmlns:a="http://schemas.openxmlformats.org/drawingml/2006/main" noGrp="1"/>
          </p:cNvSpPr>
          <p:nvPr/>
        </p:nvSpPr>
        <p:spPr>
          <a:xfrm xmlns:a="http://schemas.openxmlformats.org/drawingml/2006/main">
            <a:off x="609600" y="4467225"/>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Bir neçə kalibrasiya edilmiş stansiya</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Müqayisə olunan ölçmələr və xəritə</a:t>
            </a:r>
          </a:p>
        </p:txBody>
      </p:sp>
      <p:sp>
        <p:nvSpPr>
          <p:cNvPr id="8" name="">
            <a:extLst xmlns:a="http://schemas.openxmlformats.org/drawingml/2006/main">
              <a:ext uri="{FF2B5EF4-FFF2-40B4-BE49-F238E27FC236}">
                <a16:creationId xmlns:a16="http://schemas.microsoft.com/office/drawing/2014/main" id="{FDA9AA18-29E0-4B88-801E-09ECF18C0E9F}"/>
              </a:ext>
            </a:extLst>
          </p:cNvPr>
          <p:cNvSpPr>
            <a:spLocks xmlns:a="http://schemas.openxmlformats.org/drawingml/2006/main" noGrp="1"/>
          </p:cNvSpPr>
          <p:nvPr/>
        </p:nvSpPr>
        <p:spPr>
          <a:xfrm xmlns:a="http://schemas.openxmlformats.org/drawingml/2006/main">
            <a:off x="609600" y="6000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D6575"/>
                </a:solidFill>
                <a:latin typeface="Arial"/>
                <a:ea typeface="Arial"/>
                <a:cs typeface="Arial"/>
              </a:defRPr>
            </a:defPPr>
          </a:lstStyle>
          <a:p xmlns:a="http://schemas.openxmlformats.org/drawingml/2006/main">
            <a:pPr>
              <a:defRPr sz="1800" b="0">
                <a:solidFill>
                  <a:srgbClr val="4D6575"/>
                </a:solidFill>
                <a:latin typeface="Arial"/>
                <a:ea typeface="Arial"/>
                <a:cs typeface="Arial"/>
              </a:defRPr>
            </a:pPr>
            <a:r>
              <a:rPr sz="1800" b="0">
                <a:solidFill>
                  <a:srgbClr val="4D6575"/>
                </a:solidFill>
                <a:latin typeface="Arial"/>
                <a:ea typeface="Arial"/>
                <a:cs typeface="Arial"/>
              </a:rPr>
              <a:t>Xəritə pilot məkanı göstərir. Şəhər səs xəritəsi gələcək mərhələdir.</a:t>
            </a:r>
          </a:p>
        </p:txBody>
      </p:sp>
    </p:spTree>
    <p:extLst>
      <p:ext uri="{BB962C8B-B14F-4D97-AF65-F5344CB8AC3E}">
        <p14:creationId xmlns:p14="http://schemas.microsoft.com/office/powerpoint/2010/main" val="99812601"/>
      </p:ext>
    </p:extLst>
  </p:cSld>
</p:sld>
</file>

<file path=ppt/slides/slide13.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C645F5-AB87-4EE5-BA0D-2C6C8043A29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13 / 18</a:t>
            </a:r>
          </a:p>
        </p:txBody>
      </p:sp>
      <p:pic>
        <p:nvPicPr>
          <p:cNvPr id="2" name="">
            <a:extLst xmlns:a="http://schemas.openxmlformats.org/drawingml/2006/main">
              <a:ext uri="{FF2B5EF4-FFF2-40B4-BE49-F238E27FC236}">
                <a16:creationId xmlns:a16="http://schemas.microsoft.com/office/drawing/2014/main" id="{4F33D445-7613-4FEC-A7D6-A9A968BF42BC}"/>
              </a:ext>
            </a:extLst>
          </p:cNvPr>
          <p:cNvPicPr>
            <a:picLocks xmlns:a="http://schemas.openxmlformats.org/drawingml/2006/main" noChangeAspect="1"/>
          </p:cNvPicPr>
          <p:nvPr/>
        </p:nvPicPr>
        <p:blipFill>
          <a:blip xmlns:r="http://schemas.openxmlformats.org/officeDocument/2006/relationships" xmlns:a="http://schemas.openxmlformats.org/drawingml/2006/main" r:embed="R4618cfde9dee4baf"/>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322808-43EB-41EF-9282-AC416833BFF7}"/>
              </a:ext>
            </a:extLst>
          </p:cNvPr>
          <p:cNvSpPr>
            <a:spLocks xmlns:a="http://schemas.openxmlformats.org/drawingml/2006/main" noGrp="1"/>
          </p:cNvSpPr>
          <p:nvPr/>
        </p:nvSpPr>
        <p:spPr>
          <a:xfrm xmlns:a="http://schemas.openxmlformats.org/drawingml/2006/main">
            <a:off x="609600" y="771525"/>
            <a:ext cx="4429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Məktəb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75C4DEDA-3E2C-4C85-A6A3-7B385EBB4B8A}"/>
              </a:ext>
            </a:extLst>
          </p:cNvPr>
          <p:cNvSpPr>
            <a:spLocks xmlns:a="http://schemas.openxmlformats.org/drawingml/2006/main" noGrp="1"/>
          </p:cNvSpPr>
          <p:nvPr/>
        </p:nvSpPr>
        <p:spPr>
          <a:xfrm xmlns:a="http://schemas.openxmlformats.org/drawingml/2006/main">
            <a:off x="609600" y="2647950"/>
            <a:ext cx="43910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quraşdırma</a:t>
            </a:r>
          </a:p>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konsepti</a:t>
            </a:r>
          </a:p>
        </p:txBody>
      </p:sp>
      <p:sp>
        <p:nvSpPr>
          <p:cNvPr id="5" name="">
            <a:extLst xmlns:a="http://schemas.openxmlformats.org/drawingml/2006/main">
              <a:ext uri="{FF2B5EF4-FFF2-40B4-BE49-F238E27FC236}">
                <a16:creationId xmlns:a16="http://schemas.microsoft.com/office/drawing/2014/main" id="{F806622A-863C-4AA7-ACDE-688A32E2308E}"/>
              </a:ext>
            </a:extLst>
          </p:cNvPr>
          <p:cNvSpPr>
            <a:spLocks xmlns:a="http://schemas.openxmlformats.org/drawingml/2006/main" noGrp="1"/>
          </p:cNvSpPr>
          <p:nvPr/>
        </p:nvSpPr>
        <p:spPr>
          <a:xfrm xmlns:a="http://schemas.openxmlformats.org/drawingml/2006/main">
            <a:off x="609600" y="3943350"/>
            <a:ext cx="4391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Kiçik günəş paneli</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Qorunan korpus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Zaman üzrə ölçmələr</a:t>
            </a:r>
          </a:p>
        </p:txBody>
      </p:sp>
      <p:sp>
        <p:nvSpPr>
          <p:cNvPr id="6" name="">
            <a:extLst xmlns:a="http://schemas.openxmlformats.org/drawingml/2006/main">
              <a:ext uri="{FF2B5EF4-FFF2-40B4-BE49-F238E27FC236}">
                <a16:creationId xmlns:a16="http://schemas.microsoft.com/office/drawing/2014/main" id="{A288D7A2-88CE-4FDA-BDD1-C208096B3BC2}"/>
              </a:ext>
            </a:extLst>
          </p:cNvPr>
          <p:cNvSpPr>
            <a:spLocks xmlns:a="http://schemas.openxmlformats.org/drawingml/2006/main" noGrp="1"/>
          </p:cNvSpPr>
          <p:nvPr/>
        </p:nvSpPr>
        <p:spPr>
          <a:xfrm xmlns:a="http://schemas.openxmlformats.org/drawingml/2006/main">
            <a:off x="609600" y="5857875"/>
            <a:ext cx="4391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183787832"/>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1B013B-A83E-4ED0-9CBA-BDB4AAB6896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14 / 18</a:t>
            </a:r>
          </a:p>
        </p:txBody>
      </p:sp>
      <p:pic>
        <p:nvPicPr>
          <p:cNvPr id="2" name="">
            <a:extLst xmlns:a="http://schemas.openxmlformats.org/drawingml/2006/main">
              <a:ext uri="{FF2B5EF4-FFF2-40B4-BE49-F238E27FC236}">
                <a16:creationId xmlns:a16="http://schemas.microsoft.com/office/drawing/2014/main" id="{BB2C20D0-8C2A-48D6-A862-3630A4E9E1E6}"/>
              </a:ext>
            </a:extLst>
          </p:cNvPr>
          <p:cNvPicPr>
            <a:picLocks xmlns:a="http://schemas.openxmlformats.org/drawingml/2006/main" noChangeAspect="1"/>
          </p:cNvPicPr>
          <p:nvPr/>
        </p:nvPicPr>
        <p:blipFill>
          <a:blip xmlns:r="http://schemas.openxmlformats.org/officeDocument/2006/relationships" xmlns:a="http://schemas.openxmlformats.org/drawingml/2006/main" r:embed="R99304b545c4a401a"/>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1502D9-600E-45AF-BC80-2F844EC2E718}"/>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Vokzal ətrafında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B7206E83-0BC7-46C5-BDD7-C7089F5839CB}"/>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DCFA268A-0410-45D6-954B-45B394268382}"/>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Günün səsli vaxtları</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Pik səviyyələrin izlənməsi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Təkrar ölçmə üçün vaxt seçimi</a:t>
            </a:r>
          </a:p>
        </p:txBody>
      </p:sp>
      <p:sp>
        <p:nvSpPr>
          <p:cNvPr id="6" name="">
            <a:extLst xmlns:a="http://schemas.openxmlformats.org/drawingml/2006/main">
              <a:ext uri="{FF2B5EF4-FFF2-40B4-BE49-F238E27FC236}">
                <a16:creationId xmlns:a16="http://schemas.microsoft.com/office/drawing/2014/main" id="{291E5DB4-9A3A-443E-A04C-6717E738405C}"/>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301744413"/>
      </p:ext>
    </p:extLst>
  </p:cSld>
</p:sld>
</file>

<file path=ppt/slides/slide15.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4F768E-008D-4272-884A-B85D43A50A96}"/>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15 / 18</a:t>
            </a:r>
          </a:p>
        </p:txBody>
      </p:sp>
      <p:pic>
        <p:nvPicPr>
          <p:cNvPr id="2" name="">
            <a:extLst xmlns:a="http://schemas.openxmlformats.org/drawingml/2006/main">
              <a:ext uri="{FF2B5EF4-FFF2-40B4-BE49-F238E27FC236}">
                <a16:creationId xmlns:a16="http://schemas.microsoft.com/office/drawing/2014/main" id="{611A6E5E-359A-47AF-A336-9BF994D55504}"/>
              </a:ext>
            </a:extLst>
          </p:cNvPr>
          <p:cNvPicPr>
            <a:picLocks xmlns:a="http://schemas.openxmlformats.org/drawingml/2006/main" noChangeAspect="1"/>
          </p:cNvPicPr>
          <p:nvPr/>
        </p:nvPicPr>
        <p:blipFill>
          <a:blip xmlns:r="http://schemas.openxmlformats.org/officeDocument/2006/relationships" xmlns:a="http://schemas.openxmlformats.org/drawingml/2006/main" r:embed="R784bb16c08814ae8"/>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A1B5B84-899D-493B-B839-EA1034AA145A}"/>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Xəstəxana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5085B155-931E-4163-A3FB-3D7D0F80A313}"/>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622C7B9D-EB31-4B73-9D24-8C0CD78B8E77}"/>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Yol tərəfinin müşahidəsi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Gündüz–gecə müqayisəsi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Daha sakit aralıqların müəyyən edilməsi</a:t>
            </a:r>
          </a:p>
        </p:txBody>
      </p:sp>
      <p:sp>
        <p:nvSpPr>
          <p:cNvPr id="6" name="">
            <a:extLst xmlns:a="http://schemas.openxmlformats.org/drawingml/2006/main">
              <a:ext uri="{FF2B5EF4-FFF2-40B4-BE49-F238E27FC236}">
                <a16:creationId xmlns:a16="http://schemas.microsoft.com/office/drawing/2014/main" id="{1ACB1016-B951-4A0B-B5AA-0090415D2792}"/>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847757001"/>
      </p:ext>
    </p:extLst>
  </p:cSld>
</p:sld>
</file>

<file path=ppt/slides/slide16.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BCDE9A-A150-4F2B-B53D-21126B377C7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16 / 18</a:t>
            </a:r>
          </a:p>
        </p:txBody>
      </p:sp>
      <p:pic>
        <p:nvPicPr>
          <p:cNvPr id="2" name="">
            <a:extLst xmlns:a="http://schemas.openxmlformats.org/drawingml/2006/main">
              <a:ext uri="{FF2B5EF4-FFF2-40B4-BE49-F238E27FC236}">
                <a16:creationId xmlns:a16="http://schemas.microsoft.com/office/drawing/2014/main" id="{0AF5E2D2-E893-4022-9543-EE36E670FD53}"/>
              </a:ext>
            </a:extLst>
          </p:cNvPr>
          <p:cNvPicPr>
            <a:picLocks xmlns:a="http://schemas.openxmlformats.org/drawingml/2006/main" noChangeAspect="1"/>
          </p:cNvPicPr>
          <p:nvPr/>
        </p:nvPicPr>
        <p:blipFill>
          <a:blip xmlns:r="http://schemas.openxmlformats.org/officeDocument/2006/relationships" xmlns:a="http://schemas.openxmlformats.org/drawingml/2006/main" r:embed="R84387250ff384ff3"/>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C10365-89DC-422F-A867-2C155DAEF589}"/>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Yaşlılar evi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D2A7D3EF-4BBF-4966-B1FB-9498E5E27869}"/>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16F24DCC-E281-467F-88AA-73D23EAEA328}"/>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Yaşayış ərazisinin müşahidəsi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Axşam və gecə səviyyələri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Dəyişiklikdən əvvəl və sonra müqayisə</a:t>
            </a:r>
          </a:p>
        </p:txBody>
      </p:sp>
      <p:sp>
        <p:nvSpPr>
          <p:cNvPr id="6" name="">
            <a:extLst xmlns:a="http://schemas.openxmlformats.org/drawingml/2006/main">
              <a:ext uri="{FF2B5EF4-FFF2-40B4-BE49-F238E27FC236}">
                <a16:creationId xmlns:a16="http://schemas.microsoft.com/office/drawing/2014/main" id="{4E583E34-77C7-4746-ABFC-02FFBED42149}"/>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332772176"/>
      </p:ext>
    </p:extLst>
  </p:cSld>
</p:sld>
</file>

<file path=ppt/slides/slide17.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7435A2-AF1C-49EB-A580-F20BAC10C8E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Növbəti sınaq: real enerji davamlılığı</a:t>
            </a:r>
          </a:p>
        </p:txBody>
      </p:sp>
      <p:sp>
        <p:nvSpPr>
          <p:cNvPr id="2" name="">
            <a:extLst xmlns:a="http://schemas.openxmlformats.org/drawingml/2006/main">
              <a:ext uri="{FF2B5EF4-FFF2-40B4-BE49-F238E27FC236}">
                <a16:creationId xmlns:a16="http://schemas.microsoft.com/office/drawing/2014/main" id="{D5ECAEE3-0540-48DE-AEB7-0FE9F6C981F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17 / 18</a:t>
            </a:r>
          </a:p>
        </p:txBody>
      </p:sp>
      <p:sp>
        <p:nvSpPr>
          <p:cNvPr id="3" name="">
            <a:extLst xmlns:a="http://schemas.openxmlformats.org/drawingml/2006/main">
              <a:ext uri="{FF2B5EF4-FFF2-40B4-BE49-F238E27FC236}">
                <a16:creationId xmlns:a16="http://schemas.microsoft.com/office/drawing/2014/main" id="{FD2C044C-7448-4B9C-B41B-73CE7C035772}"/>
              </a:ext>
            </a:extLst>
          </p:cNvPr>
          <p:cNvSpPr>
            <a:spLocks xmlns:a="http://schemas.openxmlformats.org/drawingml/2006/main" noGrp="1"/>
          </p:cNvSpPr>
          <p:nvPr/>
        </p:nvSpPr>
        <p:spPr>
          <a:xfrm xmlns:a="http://schemas.openxmlformats.org/drawingml/2006/main">
            <a:off x="609600" y="1628775"/>
            <a:ext cx="109156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C857"/>
                </a:solidFill>
                <a:latin typeface="Arial"/>
                <a:ea typeface="Arial"/>
                <a:cs typeface="Arial"/>
              </a:defRPr>
            </a:defPPr>
          </a:lstStyle>
          <a:p xmlns:a="http://schemas.openxmlformats.org/drawingml/2006/main">
            <a:pPr>
              <a:defRPr sz="6300" b="1">
                <a:solidFill>
                  <a:srgbClr val="FFC857"/>
                </a:solidFill>
                <a:latin typeface="Arial"/>
                <a:ea typeface="Arial"/>
                <a:cs typeface="Arial"/>
              </a:defRPr>
            </a:pPr>
            <a:r>
              <a:rPr sz="6300" b="1">
                <a:solidFill>
                  <a:srgbClr val="FFC857"/>
                </a:solidFill>
                <a:latin typeface="Arial"/>
                <a:ea typeface="Arial"/>
                <a:cs typeface="Arial"/>
              </a:rPr>
              <a:t>12–24 saat</a:t>
            </a:r>
          </a:p>
        </p:txBody>
      </p:sp>
      <p:sp>
        <p:nvSpPr>
          <p:cNvPr id="4" name="">
            <a:extLst xmlns:a="http://schemas.openxmlformats.org/drawingml/2006/main">
              <a:ext uri="{FF2B5EF4-FFF2-40B4-BE49-F238E27FC236}">
                <a16:creationId xmlns:a16="http://schemas.microsoft.com/office/drawing/2014/main" id="{06C3462D-F890-4F4D-9CB8-25A0ACD3756F}"/>
              </a:ext>
            </a:extLst>
          </p:cNvPr>
          <p:cNvSpPr>
            <a:spLocks xmlns:a="http://schemas.openxmlformats.org/drawingml/2006/main" noGrp="1"/>
          </p:cNvSpPr>
          <p:nvPr/>
        </p:nvSpPr>
        <p:spPr>
          <a:xfrm xmlns:a="http://schemas.openxmlformats.org/drawingml/2006/main">
            <a:off x="609600" y="3171825"/>
            <a:ext cx="10839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Ortaq batareya və çevirici ilə gecə sınağı</a:t>
            </a:r>
          </a:p>
        </p:txBody>
      </p:sp>
      <p:sp>
        <p:nvSpPr>
          <p:cNvPr id="5" name="">
            <a:extLst xmlns:a="http://schemas.openxmlformats.org/drawingml/2006/main">
              <a:ext uri="{FF2B5EF4-FFF2-40B4-BE49-F238E27FC236}">
                <a16:creationId xmlns:a16="http://schemas.microsoft.com/office/drawing/2014/main" id="{A082A55A-D1B4-439E-8865-225BB256030E}"/>
              </a:ext>
            </a:extLst>
          </p:cNvPr>
          <p:cNvSpPr>
            <a:spLocks xmlns:a="http://schemas.openxmlformats.org/drawingml/2006/main" noGrp="1"/>
          </p:cNvSpPr>
          <p:nvPr/>
        </p:nvSpPr>
        <p:spPr>
          <a:xfrm xmlns:a="http://schemas.openxmlformats.org/drawingml/2006/main">
            <a:off x="609600" y="42195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Xarici dB(A) çıxışlarının və avtomatik AP bərpasının qəbulu</a:t>
            </a:r>
          </a:p>
        </p:txBody>
      </p:sp>
      <p:sp>
        <p:nvSpPr>
          <p:cNvPr id="6" name="">
            <a:extLst xmlns:a="http://schemas.openxmlformats.org/drawingml/2006/main">
              <a:ext uri="{FF2B5EF4-FFF2-40B4-BE49-F238E27FC236}">
                <a16:creationId xmlns:a16="http://schemas.microsoft.com/office/drawing/2014/main" id="{3F99B932-FC5C-4209-B7BC-E37F8F6213C8}"/>
              </a:ext>
            </a:extLst>
          </p:cNvPr>
          <p:cNvSpPr>
            <a:spLocks xmlns:a="http://schemas.openxmlformats.org/drawingml/2006/main" noGrp="1"/>
          </p:cNvSpPr>
          <p:nvPr/>
        </p:nvSpPr>
        <p:spPr>
          <a:xfrm xmlns:a="http://schemas.openxmlformats.org/drawingml/2006/main">
            <a:off x="609600" y="48196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Təhlükəsiz təmizləmədən sonra yeddi günlük səs sınağı</a:t>
            </a:r>
          </a:p>
        </p:txBody>
      </p:sp>
      <p:sp>
        <p:nvSpPr>
          <p:cNvPr id="7" name="">
            <a:extLst xmlns:a="http://schemas.openxmlformats.org/drawingml/2006/main">
              <a:ext uri="{FF2B5EF4-FFF2-40B4-BE49-F238E27FC236}">
                <a16:creationId xmlns:a16="http://schemas.microsoft.com/office/drawing/2014/main" id="{5B7D24ED-5EAB-4AF4-B3B2-2E813D1165E9}"/>
              </a:ext>
            </a:extLst>
          </p:cNvPr>
          <p:cNvSpPr>
            <a:spLocks xmlns:a="http://schemas.openxmlformats.org/drawingml/2006/main" noGrp="1"/>
          </p:cNvSpPr>
          <p:nvPr/>
        </p:nvSpPr>
        <p:spPr>
          <a:xfrm xmlns:a="http://schemas.openxmlformats.org/drawingml/2006/main">
            <a:off x="609600" y="54197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Daimi montaj və yekun inteqrasiya yoxlaması</a:t>
            </a:r>
          </a:p>
        </p:txBody>
      </p:sp>
      <p:sp>
        <p:nvSpPr>
          <p:cNvPr id="8" name="">
            <a:extLst xmlns:a="http://schemas.openxmlformats.org/drawingml/2006/main">
              <a:ext uri="{FF2B5EF4-FFF2-40B4-BE49-F238E27FC236}">
                <a16:creationId xmlns:a16="http://schemas.microsoft.com/office/drawing/2014/main" id="{E6B71271-8C02-4025-BED8-4FA4225932C2}"/>
              </a:ext>
            </a:extLst>
          </p:cNvPr>
          <p:cNvSpPr>
            <a:spLocks xmlns:a="http://schemas.openxmlformats.org/drawingml/2006/main" noGrp="1"/>
          </p:cNvSpPr>
          <p:nvPr/>
        </p:nvSpPr>
        <p:spPr>
          <a:xfrm xmlns:a="http://schemas.openxmlformats.org/drawingml/2006/main">
            <a:off x="609600" y="6067425"/>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DED1"/>
                </a:solidFill>
                <a:latin typeface="Arial"/>
                <a:ea typeface="Arial"/>
                <a:cs typeface="Arial"/>
              </a:defRPr>
            </a:defPPr>
          </a:lstStyle>
          <a:p xmlns:a="http://schemas.openxmlformats.org/drawingml/2006/main">
            <a:pPr>
              <a:defRPr sz="1725" b="0">
                <a:solidFill>
                  <a:srgbClr val="63DED1"/>
                </a:solidFill>
                <a:latin typeface="Arial"/>
                <a:ea typeface="Arial"/>
                <a:cs typeface="Arial"/>
              </a:defRPr>
            </a:pPr>
            <a:r>
              <a:rPr sz="1725" b="0">
                <a:solidFill>
                  <a:srgbClr val="63DED1"/>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1341158402"/>
      </p:ext>
    </p:extLst>
  </p:cSld>
</p:sld>
</file>

<file path=ppt/slides/slide18.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7D6716-990B-48FC-9FEE-73772B74A16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Ölçülə bilən nəticə, aydın inkişaf planı</a:t>
            </a:r>
          </a:p>
        </p:txBody>
      </p:sp>
      <p:sp>
        <p:nvSpPr>
          <p:cNvPr id="2" name="">
            <a:extLst xmlns:a="http://schemas.openxmlformats.org/drawingml/2006/main">
              <a:ext uri="{FF2B5EF4-FFF2-40B4-BE49-F238E27FC236}">
                <a16:creationId xmlns:a16="http://schemas.microsoft.com/office/drawing/2014/main" id="{8249EDFD-9297-4780-BB6F-F1DE03CB8537}"/>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18 / 18</a:t>
            </a:r>
          </a:p>
        </p:txBody>
      </p:sp>
      <p:sp>
        <p:nvSpPr>
          <p:cNvPr id="3" name="">
            <a:extLst xmlns:a="http://schemas.openxmlformats.org/drawingml/2006/main">
              <a:ext uri="{FF2B5EF4-FFF2-40B4-BE49-F238E27FC236}">
                <a16:creationId xmlns:a16="http://schemas.microsoft.com/office/drawing/2014/main" id="{7B20572E-393A-490F-B183-1D92E6C29199}"/>
              </a:ext>
            </a:extLst>
          </p:cNvPr>
          <p:cNvSpPr>
            <a:spLocks xmlns:a="http://schemas.openxmlformats.org/drawingml/2006/main" noGrp="1"/>
          </p:cNvSpPr>
          <p:nvPr/>
        </p:nvSpPr>
        <p:spPr>
          <a:xfrm xmlns:a="http://schemas.openxmlformats.org/drawingml/2006/main">
            <a:off x="609600" y="17526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Real prototip</a:t>
            </a:r>
          </a:p>
        </p:txBody>
      </p:sp>
      <p:sp>
        <p:nvSpPr>
          <p:cNvPr id="4" name="">
            <a:extLst xmlns:a="http://schemas.openxmlformats.org/drawingml/2006/main">
              <a:ext uri="{FF2B5EF4-FFF2-40B4-BE49-F238E27FC236}">
                <a16:creationId xmlns:a16="http://schemas.microsoft.com/office/drawing/2014/main" id="{152D7344-2C78-4744-AC23-21B4F20DFDD4}"/>
              </a:ext>
            </a:extLst>
          </p:cNvPr>
          <p:cNvSpPr>
            <a:spLocks xmlns:a="http://schemas.openxmlformats.org/drawingml/2006/main" noGrp="1"/>
          </p:cNvSpPr>
          <p:nvPr/>
        </p:nvSpPr>
        <p:spPr>
          <a:xfrm xmlns:a="http://schemas.openxmlformats.org/drawingml/2006/main">
            <a:off x="609600" y="264795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Kalibrasiya edilmiş dB(A)</a:t>
            </a:r>
          </a:p>
        </p:txBody>
      </p:sp>
      <p:sp>
        <p:nvSpPr>
          <p:cNvPr id="5" name="">
            <a:extLst xmlns:a="http://schemas.openxmlformats.org/drawingml/2006/main">
              <a:ext uri="{FF2B5EF4-FFF2-40B4-BE49-F238E27FC236}">
                <a16:creationId xmlns:a16="http://schemas.microsoft.com/office/drawing/2014/main" id="{867573A0-F230-4281-8D2C-BE2D1F3C6B96}"/>
              </a:ext>
            </a:extLst>
          </p:cNvPr>
          <p:cNvSpPr>
            <a:spLocks xmlns:a="http://schemas.openxmlformats.org/drawingml/2006/main" noGrp="1"/>
          </p:cNvSpPr>
          <p:nvPr/>
        </p:nvSpPr>
        <p:spPr>
          <a:xfrm xmlns:a="http://schemas.openxmlformats.org/drawingml/2006/main">
            <a:off x="609600" y="35433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Günün hissələri üzrə nəticələr</a:t>
            </a:r>
          </a:p>
        </p:txBody>
      </p:sp>
      <p:sp>
        <p:nvSpPr>
          <p:cNvPr id="6" name="">
            <a:extLst xmlns:a="http://schemas.openxmlformats.org/drawingml/2006/main">
              <a:ext uri="{FF2B5EF4-FFF2-40B4-BE49-F238E27FC236}">
                <a16:creationId xmlns:a16="http://schemas.microsoft.com/office/drawing/2014/main" id="{8F2D328B-DD14-425B-B827-2621FA14412D}"/>
              </a:ext>
            </a:extLst>
          </p:cNvPr>
          <p:cNvSpPr>
            <a:spLocks xmlns:a="http://schemas.openxmlformats.org/drawingml/2006/main" noGrp="1"/>
          </p:cNvSpPr>
          <p:nvPr/>
        </p:nvSpPr>
        <p:spPr>
          <a:xfrm xmlns:a="http://schemas.openxmlformats.org/drawingml/2006/main">
            <a:off x="609600" y="4600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C857"/>
                </a:solidFill>
                <a:latin typeface="Arial"/>
                <a:ea typeface="Arial"/>
                <a:cs typeface="Arial"/>
              </a:defRPr>
            </a:defPPr>
          </a:lstStyle>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Məktəblər və yaşayış əraziləri üçün</a:t>
            </a:r>
          </a:p>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davamlı müşahidə perspektivi</a:t>
            </a:r>
          </a:p>
        </p:txBody>
      </p:sp>
      <p:sp>
        <p:nvSpPr>
          <p:cNvPr id="7" name="">
            <a:extLst xmlns:a="http://schemas.openxmlformats.org/drawingml/2006/main">
              <a:ext uri="{FF2B5EF4-FFF2-40B4-BE49-F238E27FC236}">
                <a16:creationId xmlns:a16="http://schemas.microsoft.com/office/drawing/2014/main" id="{57D8EC8D-C4D9-44D6-BD6C-0595F3E51F82}"/>
              </a:ext>
            </a:extLst>
          </p:cNvPr>
          <p:cNvSpPr>
            <a:spLocks xmlns:a="http://schemas.openxmlformats.org/drawingml/2006/main" noGrp="1"/>
          </p:cNvSpPr>
          <p:nvPr/>
        </p:nvSpPr>
        <p:spPr>
          <a:xfrm xmlns:a="http://schemas.openxmlformats.org/drawingml/2006/main">
            <a:off x="609600"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254010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2026-10-11T13:43:46.4700000Z</dcterms:created>
  <dcterms:modified xsi:type="dcterms:W3CDTF">2026-10-11T13:43:46.4700000Z</dcterms:modified>
</coreProperties>
</file>